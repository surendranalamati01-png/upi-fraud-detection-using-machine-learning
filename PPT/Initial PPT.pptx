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839" r:id="rId1"/>
  </p:sldMasterIdLst>
  <p:sldIdLst>
    <p:sldId id="259" r:id="rId2"/>
    <p:sldId id="260" r:id="rId3"/>
    <p:sldId id="261" r:id="rId4"/>
    <p:sldId id="434" r:id="rId5"/>
    <p:sldId id="275" r:id="rId6"/>
    <p:sldId id="276" r:id="rId7"/>
    <p:sldId id="264" r:id="rId8"/>
    <p:sldId id="377" r:id="rId9"/>
    <p:sldId id="332" r:id="rId10"/>
    <p:sldId id="333" r:id="rId11"/>
    <p:sldId id="334" r:id="rId12"/>
    <p:sldId id="278" r:id="rId13"/>
    <p:sldId id="266" r:id="rId14"/>
    <p:sldId id="438" r:id="rId15"/>
    <p:sldId id="268" r:id="rId16"/>
    <p:sldId id="341" r:id="rId17"/>
    <p:sldId id="282" r:id="rId18"/>
    <p:sldId id="283" r:id="rId19"/>
    <p:sldId id="284" r:id="rId20"/>
    <p:sldId id="346" r:id="rId21"/>
    <p:sldId id="405" r:id="rId22"/>
    <p:sldId id="373" r:id="rId23"/>
    <p:sldId id="374" r:id="rId24"/>
    <p:sldId id="399" r:id="rId25"/>
    <p:sldId id="406" r:id="rId26"/>
    <p:sldId id="304" r:id="rId27"/>
    <p:sldId id="378"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EFC"/>
    <a:srgbClr val="691F19"/>
    <a:srgbClr val="FEFE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5" autoAdjust="0"/>
    <p:restoredTop sz="93957" autoAdjust="0"/>
  </p:normalViewPr>
  <p:slideViewPr>
    <p:cSldViewPr snapToGrid="0">
      <p:cViewPr varScale="1">
        <p:scale>
          <a:sx n="73" d="100"/>
          <a:sy n="73" d="100"/>
        </p:scale>
        <p:origin x="54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624FB319-408F-4B57-95FC-213113A36553}" type="datetimeFigureOut">
              <a:rPr lang="en-US" smtClean="0"/>
              <a:t>10/14/2024</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20303844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24FB319-408F-4B57-95FC-213113A36553}" type="datetimeFigureOut">
              <a:rPr lang="en-US" smtClean="0"/>
              <a:t>10/14/2024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18313278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24FB319-408F-4B57-95FC-213113A36553}" type="datetimeFigureOut">
              <a:rPr lang="en-US" smtClean="0"/>
              <a:t>10/14/2024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16278539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24FB319-408F-4B57-95FC-213113A36553}" type="datetimeFigureOut">
              <a:rPr lang="en-US" smtClean="0"/>
              <a:t>10/14/2024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39536847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24FB319-408F-4B57-95FC-213113A36553}" type="datetimeFigureOut">
              <a:rPr lang="en-US" smtClean="0"/>
              <a:t>10/14/2024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23626544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24FB319-408F-4B57-95FC-213113A36553}" type="datetimeFigureOut">
              <a:rPr lang="en-US" smtClean="0"/>
              <a:t>10/14/2024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9542712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4FB319-408F-4B57-95FC-213113A36553}" type="datetimeFigureOut">
              <a:rPr lang="en-US" smtClean="0"/>
              <a:t>10/14/2024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36719715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624FB319-408F-4B57-95FC-213113A36553}" type="datetimeFigureOut">
              <a:rPr lang="en-US" smtClean="0"/>
              <a:t>10/14/2024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22599340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624FB319-408F-4B57-95FC-213113A36553}" type="datetimeFigureOut">
              <a:rPr lang="en-US" smtClean="0"/>
              <a:t>10/14/2024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30413439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624FB319-408F-4B57-95FC-213113A36553}" type="datetimeFigureOut">
              <a:rPr lang="en-US" smtClean="0"/>
              <a:t>10/14/2024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35615336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24FB319-408F-4B57-95FC-213113A36553}" type="datetimeFigureOut">
              <a:rPr lang="en-US" smtClean="0"/>
              <a:t>10/14/2024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9047689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24FB319-408F-4B57-95FC-213113A36553}" type="datetimeFigureOut">
              <a:rPr lang="en-US" smtClean="0"/>
              <a:t>10/14/2024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36060138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24FB319-408F-4B57-95FC-213113A36553}" type="datetimeFigureOut">
              <a:rPr lang="en-US" smtClean="0"/>
              <a:t>10/14/2024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9586524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24FB319-408F-4B57-95FC-213113A36553}" type="datetimeFigureOut">
              <a:rPr lang="en-US" smtClean="0"/>
              <a:t>10/14/2024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27243088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24FB319-408F-4B57-95FC-213113A36553}" type="datetimeFigureOut">
              <a:rPr lang="en-US" smtClean="0"/>
              <a:t>10/14/2024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30553970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24FB319-408F-4B57-95FC-213113A36553}" type="datetimeFigureOut">
              <a:rPr lang="en-US" smtClean="0"/>
              <a:t>10/14/2024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22483112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24FB319-408F-4B57-95FC-213113A36553}" type="datetimeFigureOut">
              <a:rPr lang="en-US" smtClean="0"/>
              <a:t>10/14/2024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17240020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24FB319-408F-4B57-95FC-213113A36553}" type="datetimeFigureOut">
              <a:rPr lang="en-US" smtClean="0"/>
              <a:t>10/14/2024</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0AE3085-DAF0-4F9D-B196-6B0FE55CC83D}" type="slidenum">
              <a:rPr lang="en-US" smtClean="0"/>
              <a:t>‹#›</a:t>
            </a:fld>
            <a:endParaRPr lang="en-US"/>
          </a:p>
        </p:txBody>
      </p:sp>
    </p:spTree>
    <p:extLst>
      <p:ext uri="{BB962C8B-B14F-4D97-AF65-F5344CB8AC3E}">
        <p14:creationId xmlns:p14="http://schemas.microsoft.com/office/powerpoint/2010/main" val="3731000215"/>
      </p:ext>
    </p:extLst>
  </p:cSld>
  <p:clrMap bg1="lt1" tx1="dk1" bg2="lt2" tx2="dk2" accent1="accent1" accent2="accent2" accent3="accent3" accent4="accent4" accent5="accent5" accent6="accent6" hlink="hlink" folHlink="folHlink"/>
  <p:sldLayoutIdLst>
    <p:sldLayoutId id="2147483840" r:id="rId1"/>
    <p:sldLayoutId id="2147483841" r:id="rId2"/>
    <p:sldLayoutId id="2147483842" r:id="rId3"/>
    <p:sldLayoutId id="2147483843" r:id="rId4"/>
    <p:sldLayoutId id="2147483844" r:id="rId5"/>
    <p:sldLayoutId id="2147483845" r:id="rId6"/>
    <p:sldLayoutId id="2147483846" r:id="rId7"/>
    <p:sldLayoutId id="2147483847" r:id="rId8"/>
    <p:sldLayoutId id="2147483848" r:id="rId9"/>
    <p:sldLayoutId id="2147483849" r:id="rId10"/>
    <p:sldLayoutId id="2147483850" r:id="rId11"/>
    <p:sldLayoutId id="2147483851" r:id="rId12"/>
    <p:sldLayoutId id="2147483852" r:id="rId13"/>
    <p:sldLayoutId id="2147483853" r:id="rId14"/>
    <p:sldLayoutId id="2147483854" r:id="rId15"/>
    <p:sldLayoutId id="2147483855" r:id="rId16"/>
    <p:sldLayoutId id="2147483856"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Rectangle 2"/>
          <p:cNvSpPr/>
          <p:nvPr/>
        </p:nvSpPr>
        <p:spPr>
          <a:xfrm>
            <a:off x="1116804" y="2597872"/>
            <a:ext cx="9888626" cy="1654748"/>
          </a:xfrm>
          <a:prstGeom prst="rect">
            <a:avLst/>
          </a:prstGeom>
          <a:noFill/>
        </p:spPr>
        <p:txBody>
          <a:bodyPr wrap="square">
            <a:spAutoFit/>
          </a:bodyPr>
          <a:lstStyle/>
          <a:p>
            <a:pPr algn="ctr">
              <a:lnSpc>
                <a:spcPct val="150000"/>
              </a:lnSpc>
            </a:pPr>
            <a:r>
              <a:rPr lang="en-US" sz="3600" b="1" dirty="0">
                <a:latin typeface="Times New Roman" panose="02020603050405020304" pitchFamily="18" charset="0"/>
                <a:cs typeface="Times New Roman" panose="02020603050405020304" pitchFamily="18" charset="0"/>
              </a:rPr>
              <a:t>UPI FRAUD DETECTION USING MACHINE LEARNING</a:t>
            </a:r>
          </a:p>
        </p:txBody>
      </p:sp>
      <p:sp>
        <p:nvSpPr>
          <p:cNvPr id="4" name="Rectangle 3"/>
          <p:cNvSpPr/>
          <p:nvPr/>
        </p:nvSpPr>
        <p:spPr>
          <a:xfrm>
            <a:off x="984068" y="832898"/>
            <a:ext cx="6096000" cy="646331"/>
          </a:xfrm>
          <a:prstGeom prst="rect">
            <a:avLst/>
          </a:prstGeom>
        </p:spPr>
        <p:txBody>
          <a:bodyPr>
            <a:spAutoFit/>
          </a:bodyPr>
          <a:lstStyle/>
          <a:p>
            <a:pPr>
              <a:buClr>
                <a:srgbClr val="000000"/>
              </a:buClr>
              <a:buSzPct val="100000"/>
            </a:pPr>
            <a:r>
              <a:rPr lang="en-US" altLang="en-US" b="1" dirty="0">
                <a:latin typeface="Times New Roman" panose="02020603050405020304" pitchFamily="18" charset="0"/>
                <a:cs typeface="Times New Roman" panose="02020603050405020304" pitchFamily="18" charset="0"/>
              </a:rPr>
              <a:t>Domain  ML</a:t>
            </a:r>
          </a:p>
          <a:p>
            <a:pPr>
              <a:buClr>
                <a:srgbClr val="000000"/>
              </a:buClr>
              <a:buSzPct val="100000"/>
            </a:pPr>
            <a:r>
              <a:rPr lang="en-US" altLang="en-US" b="1" dirty="0">
                <a:latin typeface="Times New Roman" panose="02020603050405020304" pitchFamily="18" charset="0"/>
                <a:cs typeface="Times New Roman" panose="02020603050405020304" pitchFamily="18" charset="0"/>
              </a:rPr>
              <a:t>Technology: Python</a:t>
            </a:r>
          </a:p>
        </p:txBody>
      </p:sp>
      <p:pic>
        <p:nvPicPr>
          <p:cNvPr id="5" name="Picture 4" descr="Z:\TAKEOFF LOGO.png"/>
          <p:cNvPicPr/>
          <p:nvPr/>
        </p:nvPicPr>
        <p:blipFill>
          <a:blip r:embed="rId2" cstate="print">
            <a:extLst>
              <a:ext uri="{28A0092B-C50C-407E-A947-70E740481C1C}">
                <a14:useLocalDpi xmlns:a14="http://schemas.microsoft.com/office/drawing/2010/main" val="0"/>
              </a:ext>
            </a:extLst>
          </a:blip>
          <a:srcRect/>
          <a:stretch>
            <a:fillRect/>
          </a:stretch>
        </p:blipFill>
        <p:spPr>
          <a:xfrm>
            <a:off x="9158749" y="396514"/>
            <a:ext cx="2490553" cy="1519097"/>
          </a:xfrm>
          <a:prstGeom prst="rect">
            <a:avLst/>
          </a:prstGeom>
          <a:noFill/>
          <a:ln>
            <a:noFill/>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txBox="1"/>
          <p:nvPr/>
        </p:nvSpPr>
        <p:spPr>
          <a:xfrm>
            <a:off x="1797666" y="63098"/>
            <a:ext cx="8596668" cy="682580"/>
          </a:xfrm>
          <a:prstGeom prst="rect">
            <a:avLst/>
          </a:prstGeom>
        </p:spPr>
        <p:txBody>
          <a:bodyPr vert="horz" lIns="91440" tIns="45720" rIns="91440" bIns="45720" rtlCol="0" anchor="t">
            <a:normAutofit fontScale="975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solidFill>
                  <a:schemeClr val="bg1"/>
                </a:solidFill>
              </a:rPr>
              <a:t>                            </a:t>
            </a:r>
            <a:r>
              <a:rPr lang="en-US" b="1" dirty="0">
                <a:solidFill>
                  <a:schemeClr val="tx1"/>
                </a:solidFill>
              </a:rPr>
              <a:t>INDEX</a:t>
            </a:r>
          </a:p>
        </p:txBody>
      </p:sp>
      <p:sp>
        <p:nvSpPr>
          <p:cNvPr id="3" name="Content Placeholder 2"/>
          <p:cNvSpPr txBox="1"/>
          <p:nvPr/>
        </p:nvSpPr>
        <p:spPr>
          <a:xfrm>
            <a:off x="1584437" y="922658"/>
            <a:ext cx="3957667" cy="5366075"/>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lvl="2">
              <a:lnSpc>
                <a:spcPct val="170000"/>
              </a:lnSpc>
              <a:buFont typeface="Wingdings" panose="05000000000000000000" pitchFamily="2" charset="2"/>
              <a:buChar char="Ø"/>
            </a:pPr>
            <a:r>
              <a:rPr lang="en-US" b="1" dirty="0">
                <a:solidFill>
                  <a:schemeClr val="tx1"/>
                </a:solidFill>
                <a:latin typeface="Times New Roman" panose="02020603050405020304" pitchFamily="18" charset="0"/>
                <a:cs typeface="Times New Roman" panose="02020603050405020304" pitchFamily="18" charset="0"/>
              </a:rPr>
              <a:t>Project Description</a:t>
            </a:r>
          </a:p>
          <a:p>
            <a:pPr lvl="2">
              <a:lnSpc>
                <a:spcPct val="170000"/>
              </a:lnSpc>
              <a:buFont typeface="Wingdings" panose="05000000000000000000" pitchFamily="2" charset="2"/>
              <a:buChar char="Ø"/>
            </a:pPr>
            <a:r>
              <a:rPr lang="en-US" b="1" dirty="0">
                <a:solidFill>
                  <a:schemeClr val="tx1"/>
                </a:solidFill>
                <a:latin typeface="Times New Roman" panose="02020603050405020304" pitchFamily="18" charset="0"/>
                <a:cs typeface="Times New Roman" panose="02020603050405020304" pitchFamily="18" charset="0"/>
              </a:rPr>
              <a:t>Problem Statement</a:t>
            </a:r>
          </a:p>
          <a:p>
            <a:pPr lvl="2">
              <a:lnSpc>
                <a:spcPct val="170000"/>
              </a:lnSpc>
              <a:buFont typeface="Wingdings" panose="05000000000000000000" pitchFamily="2" charset="2"/>
              <a:buChar char="Ø"/>
            </a:pPr>
            <a:r>
              <a:rPr lang="en-US" b="1" dirty="0">
                <a:solidFill>
                  <a:schemeClr val="tx1"/>
                </a:solidFill>
                <a:latin typeface="Times New Roman" panose="02020603050405020304" pitchFamily="18" charset="0"/>
                <a:cs typeface="Times New Roman" panose="02020603050405020304" pitchFamily="18" charset="0"/>
              </a:rPr>
              <a:t>Objective</a:t>
            </a:r>
          </a:p>
          <a:p>
            <a:pPr lvl="2">
              <a:lnSpc>
                <a:spcPct val="170000"/>
              </a:lnSpc>
              <a:buFont typeface="Wingdings" panose="05000000000000000000" pitchFamily="2" charset="2"/>
              <a:buChar char="Ø"/>
            </a:pPr>
            <a:r>
              <a:rPr lang="en-US" b="1" dirty="0">
                <a:solidFill>
                  <a:schemeClr val="tx1"/>
                </a:solidFill>
                <a:latin typeface="Times New Roman" panose="02020603050405020304" pitchFamily="18" charset="0"/>
                <a:cs typeface="Times New Roman" panose="02020603050405020304" pitchFamily="18" charset="0"/>
              </a:rPr>
              <a:t>Scope</a:t>
            </a:r>
          </a:p>
          <a:p>
            <a:pPr lvl="2">
              <a:lnSpc>
                <a:spcPct val="170000"/>
              </a:lnSpc>
              <a:buFont typeface="Wingdings" panose="05000000000000000000" pitchFamily="2" charset="2"/>
              <a:buChar char="Ø"/>
            </a:pPr>
            <a:r>
              <a:rPr lang="en-US" b="1" dirty="0">
                <a:solidFill>
                  <a:schemeClr val="tx1"/>
                </a:solidFill>
                <a:latin typeface="Times New Roman" panose="02020603050405020304" pitchFamily="18" charset="0"/>
                <a:cs typeface="Times New Roman" panose="02020603050405020304" pitchFamily="18" charset="0"/>
              </a:rPr>
              <a:t>Proposed </a:t>
            </a:r>
            <a:r>
              <a:rPr lang="en-US" b="1" dirty="0" smtClean="0">
                <a:solidFill>
                  <a:schemeClr val="tx1"/>
                </a:solidFill>
                <a:latin typeface="Times New Roman" panose="02020603050405020304" pitchFamily="18" charset="0"/>
                <a:cs typeface="Times New Roman" panose="02020603050405020304" pitchFamily="18" charset="0"/>
              </a:rPr>
              <a:t>System</a:t>
            </a:r>
          </a:p>
          <a:p>
            <a:pPr lvl="2">
              <a:lnSpc>
                <a:spcPct val="170000"/>
              </a:lnSpc>
              <a:buFont typeface="Wingdings" panose="05000000000000000000" pitchFamily="2" charset="2"/>
              <a:buChar char="Ø"/>
            </a:pPr>
            <a:r>
              <a:rPr lang="en-US" b="1" dirty="0">
                <a:solidFill>
                  <a:schemeClr val="tx1"/>
                </a:solidFill>
                <a:latin typeface="Times New Roman" panose="02020603050405020304" pitchFamily="18" charset="0"/>
                <a:cs typeface="Times New Roman" panose="02020603050405020304" pitchFamily="18" charset="0"/>
              </a:rPr>
              <a:t>Literature </a:t>
            </a:r>
            <a:r>
              <a:rPr lang="en-US" b="1" dirty="0" smtClean="0">
                <a:solidFill>
                  <a:schemeClr val="tx1"/>
                </a:solidFill>
                <a:latin typeface="Times New Roman" panose="02020603050405020304" pitchFamily="18" charset="0"/>
                <a:cs typeface="Times New Roman" panose="02020603050405020304" pitchFamily="18" charset="0"/>
              </a:rPr>
              <a:t>Survey</a:t>
            </a:r>
          </a:p>
          <a:p>
            <a:pPr lvl="2">
              <a:lnSpc>
                <a:spcPct val="170000"/>
              </a:lnSpc>
              <a:buFont typeface="Wingdings" panose="05000000000000000000" pitchFamily="2" charset="2"/>
              <a:buChar char="Ø"/>
            </a:pPr>
            <a:r>
              <a:rPr lang="en-US" b="1" dirty="0" smtClean="0">
                <a:solidFill>
                  <a:schemeClr val="tx1"/>
                </a:solidFill>
                <a:latin typeface="Times New Roman" panose="02020603050405020304" pitchFamily="18" charset="0"/>
                <a:cs typeface="Times New Roman" panose="02020603050405020304" pitchFamily="18" charset="0"/>
              </a:rPr>
              <a:t>Architecture</a:t>
            </a:r>
            <a:endParaRPr lang="en-US" b="1" dirty="0">
              <a:solidFill>
                <a:schemeClr val="tx1"/>
              </a:solidFill>
              <a:latin typeface="Times New Roman" panose="02020603050405020304" pitchFamily="18" charset="0"/>
              <a:cs typeface="Times New Roman" panose="02020603050405020304" pitchFamily="18" charset="0"/>
            </a:endParaRPr>
          </a:p>
          <a:p>
            <a:pPr lvl="2">
              <a:lnSpc>
                <a:spcPct val="170000"/>
              </a:lnSpc>
              <a:buFont typeface="Wingdings" panose="05000000000000000000" pitchFamily="2" charset="2"/>
              <a:buChar char="Ø"/>
            </a:pPr>
            <a:r>
              <a:rPr lang="en-US" b="1" dirty="0">
                <a:solidFill>
                  <a:schemeClr val="tx1"/>
                </a:solidFill>
                <a:latin typeface="Times New Roman" panose="02020603050405020304" pitchFamily="18" charset="0"/>
                <a:cs typeface="Times New Roman" panose="02020603050405020304" pitchFamily="18" charset="0"/>
              </a:rPr>
              <a:t>Resource </a:t>
            </a:r>
            <a:r>
              <a:rPr lang="en-US" b="1" dirty="0" smtClean="0">
                <a:solidFill>
                  <a:schemeClr val="tx1"/>
                </a:solidFill>
                <a:latin typeface="Times New Roman" panose="02020603050405020304" pitchFamily="18" charset="0"/>
                <a:cs typeface="Times New Roman" panose="02020603050405020304" pitchFamily="18" charset="0"/>
              </a:rPr>
              <a:t>Requirements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4" name="Content Placeholder 2"/>
          <p:cNvSpPr txBox="1"/>
          <p:nvPr/>
        </p:nvSpPr>
        <p:spPr>
          <a:xfrm>
            <a:off x="5755333" y="745678"/>
            <a:ext cx="5561701" cy="6495781"/>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pPr lvl="2">
              <a:lnSpc>
                <a:spcPct val="150000"/>
              </a:lnSpc>
              <a:buFont typeface="Wingdings" panose="05000000000000000000" pitchFamily="2" charset="2"/>
              <a:buChar char="Ø"/>
            </a:pPr>
            <a:r>
              <a:rPr lang="en-US" sz="1800" b="1" dirty="0" smtClean="0">
                <a:solidFill>
                  <a:schemeClr val="tx1"/>
                </a:solidFill>
                <a:latin typeface="Times New Roman" panose="02020603050405020304" pitchFamily="18" charset="0"/>
                <a:cs typeface="Times New Roman" panose="02020603050405020304" pitchFamily="18" charset="0"/>
              </a:rPr>
              <a:t>Implementation</a:t>
            </a:r>
            <a:endParaRPr lang="en-US" sz="1600" b="1" dirty="0" smtClean="0">
              <a:solidFill>
                <a:schemeClr val="tx1"/>
              </a:solidFill>
              <a:latin typeface="Times New Roman" panose="02020603050405020304" pitchFamily="18" charset="0"/>
              <a:cs typeface="Times New Roman" panose="02020603050405020304" pitchFamily="18" charset="0"/>
            </a:endParaRPr>
          </a:p>
          <a:p>
            <a:pPr lvl="2">
              <a:lnSpc>
                <a:spcPct val="150000"/>
              </a:lnSpc>
              <a:buFont typeface="Wingdings" panose="05000000000000000000" pitchFamily="2" charset="2"/>
              <a:buChar char="Ø"/>
            </a:pPr>
            <a:r>
              <a:rPr lang="en-US" sz="1800" b="1" dirty="0" smtClean="0">
                <a:solidFill>
                  <a:schemeClr val="tx1"/>
                </a:solidFill>
                <a:latin typeface="Times New Roman" panose="02020603050405020304" pitchFamily="18" charset="0"/>
                <a:cs typeface="Times New Roman" panose="02020603050405020304" pitchFamily="18" charset="0"/>
              </a:rPr>
              <a:t>Model Implementation</a:t>
            </a:r>
          </a:p>
          <a:p>
            <a:pPr lvl="3">
              <a:lnSpc>
                <a:spcPct val="150000"/>
              </a:lnSpc>
              <a:buFont typeface="Wingdings" panose="05000000000000000000" pitchFamily="2" charset="2"/>
              <a:buChar char="ü"/>
            </a:pPr>
            <a:r>
              <a:rPr lang="en-US" sz="1600" b="1" dirty="0">
                <a:solidFill>
                  <a:schemeClr val="tx1"/>
                </a:solidFill>
                <a:latin typeface="Times New Roman" panose="02020603050405020304" pitchFamily="18" charset="0"/>
                <a:cs typeface="Times New Roman" panose="02020603050405020304" pitchFamily="18" charset="0"/>
              </a:rPr>
              <a:t>	</a:t>
            </a:r>
            <a:r>
              <a:rPr lang="en-US" sz="1600" b="1" dirty="0" smtClean="0">
                <a:solidFill>
                  <a:schemeClr val="tx1"/>
                </a:solidFill>
                <a:latin typeface="Times New Roman" panose="02020603050405020304" pitchFamily="18" charset="0"/>
                <a:cs typeface="Times New Roman" panose="02020603050405020304" pitchFamily="18" charset="0"/>
              </a:rPr>
              <a:t>Algorithm </a:t>
            </a:r>
            <a:r>
              <a:rPr lang="en-US" sz="1600" b="1" dirty="0">
                <a:solidFill>
                  <a:schemeClr val="tx1"/>
                </a:solidFill>
                <a:latin typeface="Times New Roman" panose="02020603050405020304" pitchFamily="18" charset="0"/>
                <a:cs typeface="Times New Roman" panose="02020603050405020304" pitchFamily="18" charset="0"/>
              </a:rPr>
              <a:t>Definition</a:t>
            </a:r>
          </a:p>
          <a:p>
            <a:pPr marL="914400" lvl="2" indent="0">
              <a:lnSpc>
                <a:spcPct val="150000"/>
              </a:lnSpc>
              <a:buNone/>
            </a:pPr>
            <a:endParaRPr lang="en-US" sz="18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txBox="1"/>
          <p:nvPr/>
        </p:nvSpPr>
        <p:spPr>
          <a:xfrm>
            <a:off x="1455581" y="0"/>
            <a:ext cx="8596668" cy="890660"/>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solidFill>
                  <a:schemeClr val="tx1"/>
                </a:solidFill>
                <a:latin typeface="Times New Roman" panose="02020603050405020304" pitchFamily="18" charset="0"/>
                <a:cs typeface="Times New Roman" panose="02020603050405020304" pitchFamily="18" charset="0"/>
              </a:rPr>
              <a:t> ABSTRACT</a:t>
            </a:r>
          </a:p>
        </p:txBody>
      </p:sp>
      <p:sp>
        <p:nvSpPr>
          <p:cNvPr id="3" name="Rectangle 2"/>
          <p:cNvSpPr/>
          <p:nvPr/>
        </p:nvSpPr>
        <p:spPr>
          <a:xfrm>
            <a:off x="450108" y="1137661"/>
            <a:ext cx="10886767" cy="5115311"/>
          </a:xfrm>
          <a:prstGeom prst="rect">
            <a:avLst/>
          </a:prstGeom>
        </p:spPr>
        <p:txBody>
          <a:bodyPr wrap="square">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With the rapid adoption of Unified Payments Interface (UPI) for digital transactions, the risk of fraudulent activities has also increased significantly. To address this challenge, we propose a novel approach to detect UPI fraud by analyzing transaction details such as the bank book name, transaction ID, and transaction amount. Our method employs three machine learning algorithms: Random Forest, K-Nearest Neighbors (KNN), and Decision </a:t>
            </a:r>
            <a:r>
              <a:rPr lang="en-US" sz="2000" dirty="0" err="1">
                <a:latin typeface="Times New Roman" panose="02020603050405020304" pitchFamily="18" charset="0"/>
                <a:cs typeface="Times New Roman" panose="02020603050405020304" pitchFamily="18" charset="0"/>
              </a:rPr>
              <a:t>Tree.The</a:t>
            </a:r>
            <a:r>
              <a:rPr lang="en-US" sz="2000" dirty="0">
                <a:latin typeface="Times New Roman" panose="02020603050405020304" pitchFamily="18" charset="0"/>
                <a:cs typeface="Times New Roman" panose="02020603050405020304" pitchFamily="18" charset="0"/>
              </a:rPr>
              <a:t> Random Forest classifier is known for its accuracy and resilience against overfitting, making it a robust choice for this application. It processes the provided transaction details to classify the transaction outcome as either "Transaction Failed: Incorrect Details Entered" or "Transaction Successful: Details Verified and </a:t>
            </a:r>
            <a:r>
              <a:rPr lang="en-US" sz="2000" dirty="0" err="1">
                <a:latin typeface="Times New Roman" panose="02020603050405020304" pitchFamily="18" charset="0"/>
                <a:cs typeface="Times New Roman" panose="02020603050405020304" pitchFamily="18" charset="0"/>
              </a:rPr>
              <a:t>Processed."In</a:t>
            </a:r>
            <a:r>
              <a:rPr lang="en-US" sz="2000" dirty="0">
                <a:latin typeface="Times New Roman" panose="02020603050405020304" pitchFamily="18" charset="0"/>
                <a:cs typeface="Times New Roman" panose="02020603050405020304" pitchFamily="18" charset="0"/>
              </a:rPr>
              <a:t> addition to Random Forest, the KNN algorithm provides a straightforward approach to classification based on the similarity of transaction details with previously labeled data. The Decision Tree algorithm, with its intuitive structure, offers clear decision-making pathways, enhancing interpretability</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txBox="1"/>
          <p:nvPr/>
        </p:nvSpPr>
        <p:spPr>
          <a:xfrm>
            <a:off x="1429456" y="914400"/>
            <a:ext cx="8596668" cy="890660"/>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solidFill>
                  <a:schemeClr val="tx1"/>
                </a:solidFill>
                <a:latin typeface="Times New Roman" panose="02020603050405020304" pitchFamily="18" charset="0"/>
                <a:cs typeface="Times New Roman" panose="02020603050405020304" pitchFamily="18" charset="0"/>
              </a:rPr>
              <a:t> ABSTRACT</a:t>
            </a:r>
          </a:p>
        </p:txBody>
      </p:sp>
      <p:sp>
        <p:nvSpPr>
          <p:cNvPr id="3" name="Rectangle 2"/>
          <p:cNvSpPr/>
          <p:nvPr/>
        </p:nvSpPr>
        <p:spPr>
          <a:xfrm>
            <a:off x="528485" y="1639949"/>
            <a:ext cx="10886767" cy="3268652"/>
          </a:xfrm>
          <a:prstGeom prst="rect">
            <a:avLst/>
          </a:prstGeom>
        </p:spPr>
        <p:txBody>
          <a:bodyPr wrap="square">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This multi-algorithm approach not only helps in preventing fraudulent transactions but also ensures that legitimate transactions are processed smoothly. The proposed model aims to enhance the security of UPI transactions, providing users with an additional layer of protection against unauthorized activities. Initial evaluations suggest that these algorithms effectively distinguish between genuine and fraudulent transactions, demonstrating their potential for integration into real-world financial systems.</a:t>
            </a:r>
          </a:p>
          <a:p>
            <a:pPr algn="just">
              <a:lnSpc>
                <a:spcPct val="150000"/>
              </a:lnSpc>
            </a:pPr>
            <a:r>
              <a:rPr lang="en-US" sz="2000" b="1" dirty="0">
                <a:latin typeface="Times New Roman" panose="02020603050405020304" pitchFamily="18" charset="0"/>
                <a:cs typeface="Times New Roman" panose="02020603050405020304" pitchFamily="18" charset="0"/>
              </a:rPr>
              <a:t>Keywords: </a:t>
            </a:r>
            <a:r>
              <a:rPr lang="en-US" sz="2000" dirty="0">
                <a:latin typeface="Times New Roman" panose="02020603050405020304" pitchFamily="18" charset="0"/>
                <a:cs typeface="Times New Roman" panose="02020603050405020304" pitchFamily="18" charset="0"/>
              </a:rPr>
              <a:t>UPI Digital Payments, Random Forest Algorithm, K-Nearest Neighbors, Decision Tree, Machine Learning</a:t>
            </a:r>
          </a:p>
        </p:txBody>
      </p:sp>
    </p:spTree>
    <p:extLst>
      <p:ext uri="{BB962C8B-B14F-4D97-AF65-F5344CB8AC3E}">
        <p14:creationId xmlns:p14="http://schemas.microsoft.com/office/powerpoint/2010/main" val="380202122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1"/>
          <p:cNvSpPr txBox="1"/>
          <p:nvPr/>
        </p:nvSpPr>
        <p:spPr>
          <a:xfrm>
            <a:off x="1282238" y="311023"/>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OBJECTIVE OF PROJECT</a:t>
            </a:r>
          </a:p>
        </p:txBody>
      </p:sp>
      <p:sp>
        <p:nvSpPr>
          <p:cNvPr id="2" name="Rectangle 1"/>
          <p:cNvSpPr>
            <a:spLocks noChangeArrowheads="1"/>
          </p:cNvSpPr>
          <p:nvPr/>
        </p:nvSpPr>
        <p:spPr bwMode="auto">
          <a:xfrm>
            <a:off x="161365" y="1294929"/>
            <a:ext cx="11059629" cy="5115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Development of Fraud Detection System</a:t>
            </a: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The project focuses on creating a robust fraud detection system specifically for Unified Payments Interface (UPI) transactions, analyzing critical details like bank book name, transaction ID, and transaction amount.</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Machine Learning Algorithms</a:t>
            </a: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We aim to implement a framework using machine learning algorithms, including Random Forest, K-Nearest Neighbors (KNN), and Decision Tree, to effectively classify transactions as either fraudulent or successful.</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Accuracy and Minimized False Positives</a:t>
            </a: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The goal is to enhance the accuracy of fraud detection while minimizing false positives, ensuring that legitimate transactions are not incorrectly flagged.</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Integration into Financial Systems</a:t>
            </a: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Ultimately, the proposed model will be integrated into real-world financial systems, providing users with increased protection against unauthorized transactions and fostering confidence in digital payment processes</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1"/>
          <p:cNvSpPr txBox="1"/>
          <p:nvPr/>
        </p:nvSpPr>
        <p:spPr>
          <a:xfrm>
            <a:off x="1128447" y="104083"/>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PROBLEM STATEMENT</a:t>
            </a:r>
          </a:p>
        </p:txBody>
      </p:sp>
      <p:sp>
        <p:nvSpPr>
          <p:cNvPr id="4" name="TextBox 3"/>
          <p:cNvSpPr txBox="1"/>
          <p:nvPr/>
        </p:nvSpPr>
        <p:spPr>
          <a:xfrm>
            <a:off x="383458" y="1034961"/>
            <a:ext cx="11440684" cy="5632311"/>
          </a:xfrm>
          <a:prstGeom prst="rect">
            <a:avLst/>
          </a:prstGeom>
          <a:noFill/>
        </p:spPr>
        <p:txBody>
          <a:bodyPr wrap="square" rtlCol="0">
            <a:spAutoFit/>
          </a:bodyPr>
          <a:lstStyle/>
          <a:p>
            <a:pPr algn="just">
              <a:lnSpc>
                <a:spcPct val="150000"/>
              </a:lnSpc>
              <a:spcAft>
                <a:spcPts val="8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With the rapid adoption of the Unified Payments Interface (UPI) for digital transactions, the increasing incidence of fraudulent activities poses a significant challenge to financial security. The complexity of transaction details, such as bank book names, transaction IDs, and amounts, creates opportunities for unauthorized transactions. To mitigate this risk, we propose a novel approach for detecting UPI fraud by leveraging machine learning techniques. Our system employs a combination of Random Forest, K-Nearest Neighbors (KNN), and Decision Tree classifiers to analyze transaction data. These algorithms are known for their effectiveness in classification </a:t>
            </a:r>
            <a:r>
              <a:rPr lang="en-US" sz="2400" dirty="0" smtClean="0">
                <a:latin typeface="Times New Roman" panose="02020603050405020304" pitchFamily="18" charset="0"/>
                <a:ea typeface="Calibri" panose="020F0502020204030204" pitchFamily="34" charset="0"/>
                <a:cs typeface="Times New Roman" panose="02020603050405020304" pitchFamily="18" charset="0"/>
              </a:rPr>
              <a:t>tasks. </a:t>
            </a:r>
            <a:r>
              <a:rPr lang="en-US" sz="2400" dirty="0">
                <a:latin typeface="Times New Roman" panose="02020603050405020304" pitchFamily="18" charset="0"/>
                <a:ea typeface="Calibri" panose="020F0502020204030204" pitchFamily="34" charset="0"/>
                <a:cs typeface="Times New Roman" panose="02020603050405020304" pitchFamily="18" charset="0"/>
              </a:rPr>
              <a:t>enabling the system to accurately identify whether a transaction is "Transaction Failed: Incorrect Details Entered" or "Transaction Successful: Details Verified and Processed</a:t>
            </a:r>
            <a:r>
              <a:rPr lang="en-US" sz="2400" dirty="0" smtClean="0">
                <a:latin typeface="Times New Roman" panose="02020603050405020304" pitchFamily="18" charset="0"/>
                <a:ea typeface="Calibri" panose="020F0502020204030204" pitchFamily="34" charset="0"/>
                <a:cs typeface="Times New Roman" panose="02020603050405020304" pitchFamily="18" charset="0"/>
              </a:rPr>
              <a:t>."</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630590" y="1236778"/>
            <a:ext cx="11020635" cy="5478423"/>
          </a:xfrm>
          <a:prstGeom prst="rect">
            <a:avLst/>
          </a:prstGeom>
        </p:spPr>
        <p:txBody>
          <a:bodyPr wrap="square">
            <a:spAutoFit/>
          </a:bodyPr>
          <a:lstStyle/>
          <a:p>
            <a:pPr marL="457200" indent="-457200" algn="just">
              <a:lnSpc>
                <a:spcPct val="150000"/>
              </a:lnSpc>
              <a:spcBef>
                <a:spcPts val="1200"/>
              </a:spcBef>
              <a:spcAft>
                <a:spcPts val="800"/>
              </a:spcAft>
              <a:buFont typeface="Wingdings" panose="05000000000000000000" pitchFamily="2" charset="2"/>
              <a:buChar char="Ø"/>
            </a:pPr>
            <a:r>
              <a:rPr lang="en-US" sz="2000" b="1" dirty="0" smtClean="0">
                <a:latin typeface="Times New Roman" panose="02020603050405020304" pitchFamily="18" charset="0"/>
                <a:ea typeface="Calibri" panose="020F0502020204030204" pitchFamily="34" charset="0"/>
                <a:cs typeface="Times New Roman" panose="02020603050405020304" pitchFamily="18" charset="0"/>
              </a:rPr>
              <a:t>Project Motivation: </a:t>
            </a:r>
            <a:r>
              <a:rPr lang="en-US" sz="2000" dirty="0">
                <a:latin typeface="Times New Roman" panose="02020603050405020304" pitchFamily="18" charset="0"/>
                <a:ea typeface="Calibri" panose="020F0502020204030204" pitchFamily="34" charset="0"/>
                <a:cs typeface="Times New Roman" panose="02020603050405020304" pitchFamily="18" charset="0"/>
              </a:rPr>
              <a:t>The increasing convenience of Unified Payments Interface (UPI) has led to a surge in fraudulent activities, prompting the need for an effective fraud detection system to protect users and financial institutions</a:t>
            </a:r>
            <a:r>
              <a:rPr lang="en-US" sz="2000" dirty="0" smtClean="0">
                <a:latin typeface="Times New Roman" panose="02020603050405020304" pitchFamily="18" charset="0"/>
                <a:ea typeface="Calibri" panose="020F0502020204030204" pitchFamily="34" charset="0"/>
                <a:cs typeface="Times New Roman" panose="02020603050405020304" pitchFamily="18" charset="0"/>
              </a:rPr>
              <a:t>.</a:t>
            </a: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pPr marL="457200" indent="-457200" algn="just">
              <a:lnSpc>
                <a:spcPct val="150000"/>
              </a:lnSpc>
              <a:spcBef>
                <a:spcPts val="1200"/>
              </a:spcBef>
              <a:spcAft>
                <a:spcPts val="800"/>
              </a:spcAft>
              <a:buFont typeface="Wingdings" panose="05000000000000000000" pitchFamily="2" charset="2"/>
              <a:buChar char="Ø"/>
            </a:pPr>
            <a:r>
              <a:rPr lang="en-US" sz="2000" b="1" dirty="0" smtClean="0">
                <a:latin typeface="Times New Roman" panose="02020603050405020304" pitchFamily="18" charset="0"/>
                <a:ea typeface="Calibri" panose="020F0502020204030204" pitchFamily="34" charset="0"/>
                <a:cs typeface="Times New Roman" panose="02020603050405020304" pitchFamily="18" charset="0"/>
              </a:rPr>
              <a:t>Machine </a:t>
            </a:r>
            <a:r>
              <a:rPr lang="en-US" sz="2000" b="1" dirty="0">
                <a:latin typeface="Times New Roman" panose="02020603050405020304" pitchFamily="18" charset="0"/>
                <a:ea typeface="Calibri" panose="020F0502020204030204" pitchFamily="34" charset="0"/>
                <a:cs typeface="Times New Roman" panose="02020603050405020304" pitchFamily="18" charset="0"/>
              </a:rPr>
              <a:t>Learning </a:t>
            </a:r>
            <a:r>
              <a:rPr lang="en-US" sz="2000" b="1" dirty="0" smtClean="0">
                <a:latin typeface="Times New Roman" panose="02020603050405020304" pitchFamily="18" charset="0"/>
                <a:ea typeface="Calibri" panose="020F0502020204030204" pitchFamily="34" charset="0"/>
                <a:cs typeface="Times New Roman" panose="02020603050405020304" pitchFamily="18" charset="0"/>
              </a:rPr>
              <a:t>Algorithms: </a:t>
            </a:r>
            <a:r>
              <a:rPr lang="en-US" sz="2000" dirty="0">
                <a:latin typeface="Times New Roman" panose="02020603050405020304" pitchFamily="18" charset="0"/>
                <a:ea typeface="Calibri" panose="020F0502020204030204" pitchFamily="34" charset="0"/>
                <a:cs typeface="Times New Roman" panose="02020603050405020304" pitchFamily="18" charset="0"/>
              </a:rPr>
              <a:t>The project utilizes Random Forest, K-Nearest Neighbors (KNN), and Decision Tree algorithms to analyze transaction details like bank book name, transaction ID, and amount</a:t>
            </a:r>
            <a:r>
              <a:rPr lang="en-US" sz="2000" dirty="0" smtClean="0">
                <a:latin typeface="Times New Roman" panose="02020603050405020304" pitchFamily="18" charset="0"/>
                <a:ea typeface="Calibri" panose="020F0502020204030204" pitchFamily="34" charset="0"/>
                <a:cs typeface="Times New Roman" panose="02020603050405020304" pitchFamily="18" charset="0"/>
              </a:rPr>
              <a:t>.</a:t>
            </a: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pPr marL="457200" indent="-457200" algn="just">
              <a:lnSpc>
                <a:spcPct val="150000"/>
              </a:lnSpc>
              <a:spcBef>
                <a:spcPts val="1200"/>
              </a:spcBef>
              <a:spcAft>
                <a:spcPts val="800"/>
              </a:spcAft>
              <a:buFont typeface="Wingdings" panose="05000000000000000000" pitchFamily="2" charset="2"/>
              <a:buChar char="Ø"/>
            </a:pPr>
            <a:r>
              <a:rPr lang="en-US" sz="2000" b="1" dirty="0" smtClean="0">
                <a:latin typeface="Times New Roman" panose="02020603050405020304" pitchFamily="18" charset="0"/>
                <a:ea typeface="Calibri" panose="020F0502020204030204" pitchFamily="34" charset="0"/>
                <a:cs typeface="Times New Roman" panose="02020603050405020304" pitchFamily="18" charset="0"/>
              </a:rPr>
              <a:t>Algorithm Benefits: </a:t>
            </a:r>
            <a:r>
              <a:rPr lang="en-US" sz="2000" dirty="0">
                <a:latin typeface="Times New Roman" panose="02020603050405020304" pitchFamily="18" charset="0"/>
                <a:ea typeface="Calibri" panose="020F0502020204030204" pitchFamily="34" charset="0"/>
                <a:cs typeface="Times New Roman" panose="02020603050405020304" pitchFamily="18" charset="0"/>
              </a:rPr>
              <a:t>Random Forest enhances accuracy by mitigating overfitting, KNN provides straightforward classification through similarity, and Decision Trees facilitate clear decision-making</a:t>
            </a:r>
            <a:r>
              <a:rPr lang="en-US" sz="2000" dirty="0" smtClean="0">
                <a:latin typeface="Times New Roman" panose="02020603050405020304" pitchFamily="18" charset="0"/>
                <a:ea typeface="Calibri" panose="020F0502020204030204" pitchFamily="34" charset="0"/>
                <a:cs typeface="Times New Roman" panose="02020603050405020304" pitchFamily="18" charset="0"/>
              </a:rPr>
              <a:t>.</a:t>
            </a: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pPr marL="457200" indent="-457200" algn="just">
              <a:lnSpc>
                <a:spcPct val="150000"/>
              </a:lnSpc>
              <a:spcBef>
                <a:spcPts val="1200"/>
              </a:spcBef>
              <a:spcAft>
                <a:spcPts val="800"/>
              </a:spcAft>
              <a:buFont typeface="Wingdings" panose="05000000000000000000" pitchFamily="2" charset="2"/>
              <a:buChar char="Ø"/>
            </a:pPr>
            <a:r>
              <a:rPr lang="en-US" sz="2000" b="1" dirty="0" smtClean="0">
                <a:latin typeface="Times New Roman" panose="02020603050405020304" pitchFamily="18" charset="0"/>
                <a:ea typeface="Calibri" panose="020F0502020204030204" pitchFamily="34" charset="0"/>
                <a:cs typeface="Times New Roman" panose="02020603050405020304" pitchFamily="18" charset="0"/>
              </a:rPr>
              <a:t>Project Goal: </a:t>
            </a:r>
            <a:r>
              <a:rPr lang="en-US" sz="2000" dirty="0">
                <a:latin typeface="Times New Roman" panose="02020603050405020304" pitchFamily="18" charset="0"/>
                <a:ea typeface="Calibri" panose="020F0502020204030204" pitchFamily="34" charset="0"/>
                <a:cs typeface="Times New Roman" panose="02020603050405020304" pitchFamily="18" charset="0"/>
              </a:rPr>
              <a:t>This multi-algorithm approach aims to secure UPI transactions, fostering user trust in digital payment systems.</a:t>
            </a:r>
            <a:endParaRPr lang="en-IN" sz="2000" dirty="0">
              <a:latin typeface="Times New Roman" panose="02020603050405020304" pitchFamily="18" charset="0"/>
              <a:cs typeface="Times New Roman" panose="02020603050405020304" pitchFamily="18" charset="0"/>
            </a:endParaRPr>
          </a:p>
        </p:txBody>
      </p:sp>
      <p:sp>
        <p:nvSpPr>
          <p:cNvPr id="3" name="Title 1"/>
          <p:cNvSpPr txBox="1"/>
          <p:nvPr/>
        </p:nvSpPr>
        <p:spPr>
          <a:xfrm>
            <a:off x="1338513" y="1536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MOTIVATION</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04A006A-7943-3D26-45C3-6F935F8F236F}"/>
              </a:ext>
            </a:extLst>
          </p:cNvPr>
          <p:cNvSpPr txBox="1"/>
          <p:nvPr/>
        </p:nvSpPr>
        <p:spPr>
          <a:xfrm>
            <a:off x="573824" y="1039932"/>
            <a:ext cx="11254383" cy="5432256"/>
          </a:xfrm>
          <a:prstGeom prst="rect">
            <a:avLst/>
          </a:prstGeom>
          <a:noFill/>
        </p:spPr>
        <p:txBody>
          <a:bodyPr wrap="square">
            <a:spAutoFit/>
          </a:bodyPr>
          <a:lstStyle/>
          <a:p>
            <a:pPr marL="457200" indent="-457200" algn="just">
              <a:lnSpc>
                <a:spcPct val="150000"/>
              </a:lnSpc>
              <a:spcBef>
                <a:spcPts val="1200"/>
              </a:spcBef>
              <a:spcAft>
                <a:spcPts val="800"/>
              </a:spcAft>
              <a:buFont typeface="Wingdings" panose="05000000000000000000" pitchFamily="2" charset="2"/>
              <a:buChar char="Ø"/>
            </a:pPr>
            <a:r>
              <a:rPr lang="en-US" sz="2200" b="1" dirty="0" smtClean="0">
                <a:latin typeface="Times New Roman" panose="02020603050405020304" pitchFamily="18" charset="0"/>
                <a:ea typeface="Times New Roman" panose="02020603050405020304" pitchFamily="18" charset="0"/>
                <a:cs typeface="Times New Roman" panose="02020603050405020304" pitchFamily="18" charset="0"/>
              </a:rPr>
              <a:t>Objective: </a:t>
            </a:r>
            <a:r>
              <a:rPr lang="en-US" sz="2200" dirty="0">
                <a:latin typeface="Times New Roman" panose="02020603050405020304" pitchFamily="18" charset="0"/>
                <a:ea typeface="Times New Roman" panose="02020603050405020304" pitchFamily="18" charset="0"/>
                <a:cs typeface="Times New Roman" panose="02020603050405020304" pitchFamily="18" charset="0"/>
              </a:rPr>
              <a:t>Develop a robust system for detecting fraud in Unified Payments Interface (UPI) transactions by analyzing transaction details like bank book name, transaction ID, and amount</a:t>
            </a:r>
            <a:r>
              <a:rPr lang="en-US" sz="2200" dirty="0" smtClean="0">
                <a:latin typeface="Times New Roman" panose="02020603050405020304" pitchFamily="18" charset="0"/>
                <a:ea typeface="Times New Roman" panose="02020603050405020304" pitchFamily="18" charset="0"/>
                <a:cs typeface="Times New Roman" panose="02020603050405020304" pitchFamily="18" charset="0"/>
              </a:rPr>
              <a:t>.</a:t>
            </a:r>
            <a:endParaRPr lang="en-US" sz="2200" dirty="0">
              <a:latin typeface="Times New Roman" panose="02020603050405020304" pitchFamily="18" charset="0"/>
              <a:ea typeface="Times New Roman" panose="02020603050405020304" pitchFamily="18" charset="0"/>
              <a:cs typeface="Times New Roman" panose="02020603050405020304" pitchFamily="18" charset="0"/>
            </a:endParaRPr>
          </a:p>
          <a:p>
            <a:pPr marL="457200" indent="-457200" algn="just">
              <a:lnSpc>
                <a:spcPct val="150000"/>
              </a:lnSpc>
              <a:spcBef>
                <a:spcPts val="1200"/>
              </a:spcBef>
              <a:spcAft>
                <a:spcPts val="800"/>
              </a:spcAft>
              <a:buFont typeface="Wingdings" panose="05000000000000000000" pitchFamily="2" charset="2"/>
              <a:buChar char="Ø"/>
            </a:pPr>
            <a:r>
              <a:rPr lang="en-US" sz="2200" b="1" dirty="0" smtClean="0">
                <a:latin typeface="Times New Roman" panose="02020603050405020304" pitchFamily="18" charset="0"/>
                <a:ea typeface="Times New Roman" panose="02020603050405020304" pitchFamily="18" charset="0"/>
                <a:cs typeface="Times New Roman" panose="02020603050405020304" pitchFamily="18" charset="0"/>
              </a:rPr>
              <a:t>Algorithms: </a:t>
            </a:r>
            <a:r>
              <a:rPr lang="en-US" sz="2200" dirty="0">
                <a:latin typeface="Times New Roman" panose="02020603050405020304" pitchFamily="18" charset="0"/>
                <a:ea typeface="Times New Roman" panose="02020603050405020304" pitchFamily="18" charset="0"/>
                <a:cs typeface="Times New Roman" panose="02020603050405020304" pitchFamily="18" charset="0"/>
              </a:rPr>
              <a:t>Implement and evaluate three machine learning algorithms: Random Forest, K-Nearest Neighbors (KNN), and Decision Tree for classifying transactions</a:t>
            </a:r>
            <a:r>
              <a:rPr lang="en-US" sz="2200" dirty="0" smtClean="0">
                <a:latin typeface="Times New Roman" panose="02020603050405020304" pitchFamily="18" charset="0"/>
                <a:ea typeface="Times New Roman" panose="02020603050405020304" pitchFamily="18" charset="0"/>
                <a:cs typeface="Times New Roman" panose="02020603050405020304" pitchFamily="18" charset="0"/>
              </a:rPr>
              <a:t>.</a:t>
            </a:r>
            <a:endParaRPr lang="en-US" sz="2200" dirty="0">
              <a:latin typeface="Times New Roman" panose="02020603050405020304" pitchFamily="18" charset="0"/>
              <a:ea typeface="Times New Roman" panose="02020603050405020304" pitchFamily="18" charset="0"/>
              <a:cs typeface="Times New Roman" panose="02020603050405020304" pitchFamily="18" charset="0"/>
            </a:endParaRPr>
          </a:p>
          <a:p>
            <a:pPr marL="457200" indent="-457200" algn="just">
              <a:lnSpc>
                <a:spcPct val="150000"/>
              </a:lnSpc>
              <a:spcBef>
                <a:spcPts val="1200"/>
              </a:spcBef>
              <a:spcAft>
                <a:spcPts val="800"/>
              </a:spcAft>
              <a:buFont typeface="Wingdings" panose="05000000000000000000" pitchFamily="2" charset="2"/>
              <a:buChar char="Ø"/>
            </a:pPr>
            <a:r>
              <a:rPr lang="en-US" sz="2200" b="1" dirty="0">
                <a:latin typeface="Times New Roman" panose="02020603050405020304" pitchFamily="18" charset="0"/>
                <a:ea typeface="Times New Roman" panose="02020603050405020304" pitchFamily="18" charset="0"/>
                <a:cs typeface="Times New Roman" panose="02020603050405020304" pitchFamily="18" charset="0"/>
              </a:rPr>
              <a:t>C</a:t>
            </a:r>
            <a:r>
              <a:rPr lang="en-US" sz="2200" b="1" dirty="0" smtClean="0">
                <a:latin typeface="Times New Roman" panose="02020603050405020304" pitchFamily="18" charset="0"/>
                <a:ea typeface="Times New Roman" panose="02020603050405020304" pitchFamily="18" charset="0"/>
                <a:cs typeface="Times New Roman" panose="02020603050405020304" pitchFamily="18" charset="0"/>
              </a:rPr>
              <a:t>lassification Outcomes: </a:t>
            </a:r>
            <a:r>
              <a:rPr lang="en-US" sz="2200" dirty="0">
                <a:latin typeface="Times New Roman" panose="02020603050405020304" pitchFamily="18" charset="0"/>
                <a:ea typeface="Times New Roman" panose="02020603050405020304" pitchFamily="18" charset="0"/>
                <a:cs typeface="Times New Roman" panose="02020603050405020304" pitchFamily="18" charset="0"/>
              </a:rPr>
              <a:t>Classify transactions as either "Transaction Failed: Incorrect Details Entered" or "Transaction Successful: Details Verified and Processed</a:t>
            </a:r>
            <a:r>
              <a:rPr lang="en-US" sz="2200" dirty="0" smtClean="0">
                <a:latin typeface="Times New Roman" panose="02020603050405020304" pitchFamily="18" charset="0"/>
                <a:ea typeface="Times New Roman" panose="02020603050405020304" pitchFamily="18" charset="0"/>
                <a:cs typeface="Times New Roman" panose="02020603050405020304" pitchFamily="18" charset="0"/>
              </a:rPr>
              <a:t>."</a:t>
            </a:r>
            <a:endParaRPr lang="en-US" sz="2200" dirty="0">
              <a:latin typeface="Times New Roman" panose="02020603050405020304" pitchFamily="18" charset="0"/>
              <a:ea typeface="Times New Roman" panose="02020603050405020304" pitchFamily="18" charset="0"/>
              <a:cs typeface="Times New Roman" panose="02020603050405020304" pitchFamily="18" charset="0"/>
            </a:endParaRPr>
          </a:p>
          <a:p>
            <a:pPr marL="457200" indent="-457200" algn="just">
              <a:lnSpc>
                <a:spcPct val="150000"/>
              </a:lnSpc>
              <a:spcBef>
                <a:spcPts val="1200"/>
              </a:spcBef>
              <a:spcAft>
                <a:spcPts val="800"/>
              </a:spcAft>
              <a:buFont typeface="Wingdings" panose="05000000000000000000" pitchFamily="2" charset="2"/>
              <a:buChar char="Ø"/>
            </a:pPr>
            <a:r>
              <a:rPr lang="en-US" sz="2200" b="1" dirty="0" smtClean="0">
                <a:latin typeface="Times New Roman" panose="02020603050405020304" pitchFamily="18" charset="0"/>
                <a:ea typeface="Times New Roman" panose="02020603050405020304" pitchFamily="18" charset="0"/>
                <a:cs typeface="Times New Roman" panose="02020603050405020304" pitchFamily="18" charset="0"/>
              </a:rPr>
              <a:t>Impact: </a:t>
            </a:r>
            <a:r>
              <a:rPr lang="en-US" sz="2200" dirty="0">
                <a:latin typeface="Times New Roman" panose="02020603050405020304" pitchFamily="18" charset="0"/>
                <a:ea typeface="Times New Roman" panose="02020603050405020304" pitchFamily="18" charset="0"/>
                <a:cs typeface="Times New Roman" panose="02020603050405020304" pitchFamily="18" charset="0"/>
              </a:rPr>
              <a:t>Enhance UPI transaction security, increase user trust, and identify the most effective classifier for integration into financial systems to prevent fraud while ensuring smooth processing of legitimate transactions.</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D62727E8-A4D5-63A3-AA87-6B336617E148}"/>
              </a:ext>
            </a:extLst>
          </p:cNvPr>
          <p:cNvSpPr txBox="1"/>
          <p:nvPr/>
        </p:nvSpPr>
        <p:spPr>
          <a:xfrm>
            <a:off x="2608194" y="223069"/>
            <a:ext cx="6105378" cy="646331"/>
          </a:xfrm>
          <a:prstGeom prst="rect">
            <a:avLst/>
          </a:prstGeom>
          <a:noFill/>
        </p:spPr>
        <p:txBody>
          <a:bodyPr wrap="square">
            <a:spAutoFit/>
          </a:bodyPr>
          <a:lstStyle/>
          <a:p>
            <a:pPr algn="ctr"/>
            <a:r>
              <a:rPr lang="en-US" sz="3600" b="1" dirty="0">
                <a:latin typeface="Times New Roman" panose="02020603050405020304" pitchFamily="18" charset="0"/>
                <a:cs typeface="Times New Roman" panose="02020603050405020304" pitchFamily="18" charset="0"/>
              </a:rPr>
              <a:t>SCOPE</a:t>
            </a:r>
            <a:endParaRPr lang="en-IN" sz="3600" dirty="0"/>
          </a:p>
        </p:txBody>
      </p:sp>
    </p:spTree>
    <p:extLst>
      <p:ext uri="{BB962C8B-B14F-4D97-AF65-F5344CB8AC3E}">
        <p14:creationId xmlns:p14="http://schemas.microsoft.com/office/powerpoint/2010/main" val="60737352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440003" y="512549"/>
            <a:ext cx="4754880" cy="535246"/>
          </a:xfrm>
        </p:spPr>
        <p:txBody>
          <a:bodyPr>
            <a:normAutofit fontScale="90000"/>
          </a:bodyPr>
          <a:lstStyle/>
          <a:p>
            <a:pPr algn="ctr"/>
            <a:r>
              <a:rPr lang="en-US" sz="4000" b="1" dirty="0" smtClean="0">
                <a:solidFill>
                  <a:schemeClr val="tx1"/>
                </a:solidFill>
                <a:latin typeface="Times New Roman" panose="02020603050405020304" pitchFamily="18" charset="0"/>
                <a:cs typeface="Times New Roman" panose="02020603050405020304" pitchFamily="18" charset="0"/>
              </a:rPr>
              <a:t>INTRODUCTION</a:t>
            </a:r>
            <a:endParaRPr lang="en-US" dirty="0">
              <a:solidFill>
                <a:schemeClr val="tx1"/>
              </a:solidFill>
            </a:endParaRPr>
          </a:p>
        </p:txBody>
      </p:sp>
      <p:sp>
        <p:nvSpPr>
          <p:cNvPr id="3" name="Content Placeholder 2"/>
          <p:cNvSpPr>
            <a:spLocks noGrp="1"/>
          </p:cNvSpPr>
          <p:nvPr>
            <p:ph idx="1"/>
          </p:nvPr>
        </p:nvSpPr>
        <p:spPr>
          <a:xfrm>
            <a:off x="417921" y="1262545"/>
            <a:ext cx="11597097" cy="4400836"/>
          </a:xfrm>
        </p:spPr>
        <p:txBody>
          <a:bodyPr>
            <a:noAutofit/>
          </a:bodyPr>
          <a:lstStyle/>
          <a:p>
            <a:pPr marL="0" indent="0" algn="just">
              <a:lnSpc>
                <a:spcPct val="150000"/>
              </a:lnSpc>
              <a:buNone/>
            </a:pPr>
            <a:r>
              <a:rPr lang="en-US" sz="2000" dirty="0" smtClean="0">
                <a:latin typeface="Times New Roman" panose="02020603050405020304" pitchFamily="18" charset="0"/>
                <a:cs typeface="Times New Roman" panose="02020603050405020304" pitchFamily="18" charset="0"/>
              </a:rPr>
              <a:t>With the rapid adoption of the Unified Payments Interface (UPI) for digital transactions, the associated risk of fraudulent activities has surged significantly. To combat this challenge, we propose a robust approach to detect UPI fraud by analyzing critical transaction details, including the bank book name, transaction ID, and transaction amount. Our method employs three machine learning algorithms: Random Forest, K-Nearest Neighbors (KNN), and Decision Tree. The Random Forest classifier is renowned for its accuracy and resistance to overfitting, making it a strong candidate for distinguishing between legitimate and fraudulent transactions. KNN offers an intuitive distance-based classification, while the Decision Tree provides a clear, interpretable model that facilitates decision-making. This ensemble of techniques classifies transaction outcomes as either "Transaction Failed: Incorrect Details Entered" or "Transaction Successful: Details Verified and Processed." </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529205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159726827"/>
              </p:ext>
            </p:extLst>
          </p:nvPr>
        </p:nvGraphicFramePr>
        <p:xfrm>
          <a:off x="668735" y="1104353"/>
          <a:ext cx="11181805" cy="4837720"/>
        </p:xfrm>
        <a:graphic>
          <a:graphicData uri="http://schemas.openxmlformats.org/drawingml/2006/table">
            <a:tbl>
              <a:tblPr firstRow="1" bandRow="1">
                <a:tableStyleId>{D7AC3CCA-C797-4891-BE02-D94E43425B78}</a:tableStyleId>
              </a:tblPr>
              <a:tblGrid>
                <a:gridCol w="887745">
                  <a:extLst>
                    <a:ext uri="{9D8B030D-6E8A-4147-A177-3AD203B41FA5}">
                      <a16:colId xmlns:a16="http://schemas.microsoft.com/office/drawing/2014/main" val="20000"/>
                    </a:ext>
                  </a:extLst>
                </a:gridCol>
                <a:gridCol w="1596914">
                  <a:extLst>
                    <a:ext uri="{9D8B030D-6E8A-4147-A177-3AD203B41FA5}">
                      <a16:colId xmlns:a16="http://schemas.microsoft.com/office/drawing/2014/main" val="20001"/>
                    </a:ext>
                  </a:extLst>
                </a:gridCol>
                <a:gridCol w="1882951">
                  <a:extLst>
                    <a:ext uri="{9D8B030D-6E8A-4147-A177-3AD203B41FA5}">
                      <a16:colId xmlns:a16="http://schemas.microsoft.com/office/drawing/2014/main" val="20002"/>
                    </a:ext>
                  </a:extLst>
                </a:gridCol>
                <a:gridCol w="2011638">
                  <a:extLst>
                    <a:ext uri="{9D8B030D-6E8A-4147-A177-3AD203B41FA5}">
                      <a16:colId xmlns:a16="http://schemas.microsoft.com/office/drawing/2014/main" val="20003"/>
                    </a:ext>
                  </a:extLst>
                </a:gridCol>
                <a:gridCol w="4802557">
                  <a:extLst>
                    <a:ext uri="{9D8B030D-6E8A-4147-A177-3AD203B41FA5}">
                      <a16:colId xmlns:a16="http://schemas.microsoft.com/office/drawing/2014/main" val="20004"/>
                    </a:ext>
                  </a:extLst>
                </a:gridCol>
              </a:tblGrid>
              <a:tr h="692440">
                <a:tc>
                  <a:txBody>
                    <a:bodyPr/>
                    <a:lstStyle/>
                    <a:p>
                      <a:r>
                        <a:rPr lang="en-US" sz="2000" dirty="0">
                          <a:latin typeface="Times New Roman" panose="02020603050405020304" pitchFamily="18" charset="0"/>
                          <a:cs typeface="Times New Roman" panose="02020603050405020304" pitchFamily="18" charset="0"/>
                        </a:rPr>
                        <a:t>S.NO</a:t>
                      </a:r>
                    </a:p>
                  </a:txBody>
                  <a:tcPr/>
                </a:tc>
                <a:tc>
                  <a:txBody>
                    <a:bodyPr/>
                    <a:lstStyle/>
                    <a:p>
                      <a:r>
                        <a:rPr lang="en-US" sz="2000" dirty="0">
                          <a:latin typeface="Times New Roman" panose="02020603050405020304" pitchFamily="18" charset="0"/>
                          <a:cs typeface="Times New Roman" panose="02020603050405020304" pitchFamily="18" charset="0"/>
                        </a:rPr>
                        <a:t>YEAR</a:t>
                      </a:r>
                    </a:p>
                  </a:txBody>
                  <a:tcPr/>
                </a:tc>
                <a:tc>
                  <a:txBody>
                    <a:bodyPr/>
                    <a:lstStyle/>
                    <a:p>
                      <a:r>
                        <a:rPr lang="en-US" sz="2000" dirty="0">
                          <a:latin typeface="Times New Roman" panose="02020603050405020304" pitchFamily="18" charset="0"/>
                          <a:cs typeface="Times New Roman" panose="02020603050405020304" pitchFamily="18" charset="0"/>
                        </a:rPr>
                        <a:t>AUTHORS</a:t>
                      </a:r>
                    </a:p>
                  </a:txBody>
                  <a:tcPr/>
                </a:tc>
                <a:tc>
                  <a:txBody>
                    <a:bodyPr/>
                    <a:lstStyle/>
                    <a:p>
                      <a:r>
                        <a:rPr lang="en-US" sz="2000" dirty="0">
                          <a:latin typeface="Times New Roman" panose="02020603050405020304" pitchFamily="18" charset="0"/>
                          <a:cs typeface="Times New Roman" panose="02020603050405020304" pitchFamily="18" charset="0"/>
                        </a:rPr>
                        <a:t>TITLE</a:t>
                      </a:r>
                    </a:p>
                  </a:txBody>
                  <a:tcPr/>
                </a:tc>
                <a:tc>
                  <a:txBody>
                    <a:bodyPr/>
                    <a:lstStyle/>
                    <a:p>
                      <a:r>
                        <a:rPr lang="en-US" sz="2000" dirty="0">
                          <a:latin typeface="Times New Roman" panose="02020603050405020304" pitchFamily="18" charset="0"/>
                          <a:cs typeface="Times New Roman" panose="02020603050405020304" pitchFamily="18" charset="0"/>
                        </a:rPr>
                        <a:t>OUT COMES</a:t>
                      </a:r>
                    </a:p>
                  </a:txBody>
                  <a:tcPr/>
                </a:tc>
                <a:extLst>
                  <a:ext uri="{0D108BD9-81ED-4DB2-BD59-A6C34878D82A}">
                    <a16:rowId xmlns:a16="http://schemas.microsoft.com/office/drawing/2014/main" val="10000"/>
                  </a:ext>
                </a:extLst>
              </a:tr>
              <a:tr h="1508208">
                <a:tc>
                  <a:txBody>
                    <a:bodyPr/>
                    <a:lstStyle/>
                    <a:p>
                      <a:pPr algn="just"/>
                      <a:r>
                        <a:rPr lang="en-US" sz="2000" dirty="0">
                          <a:latin typeface="Times New Roman" panose="02020603050405020304" pitchFamily="18" charset="0"/>
                          <a:cs typeface="Times New Roman" panose="02020603050405020304" pitchFamily="18" charset="0"/>
                        </a:rPr>
                        <a:t>1</a:t>
                      </a:r>
                      <a:endParaRPr lang="en-IN" sz="2000" dirty="0">
                        <a:latin typeface="Times New Roman" panose="02020603050405020304" pitchFamily="18" charset="0"/>
                        <a:cs typeface="Times New Roman" panose="02020603050405020304" pitchFamily="18" charset="0"/>
                      </a:endParaRPr>
                    </a:p>
                  </a:txBody>
                  <a:tcPr/>
                </a:tc>
                <a:tc>
                  <a:txBody>
                    <a:bodyPr/>
                    <a:lstStyle/>
                    <a:p>
                      <a:pPr algn="just">
                        <a:lnSpc>
                          <a:spcPct val="100000"/>
                        </a:lnSpc>
                      </a:pPr>
                      <a:r>
                        <a:rPr lang="en-US" sz="2000" dirty="0" smtClean="0">
                          <a:latin typeface="Times New Roman" panose="02020603050405020304" pitchFamily="18" charset="0"/>
                          <a:cs typeface="Times New Roman" panose="02020603050405020304" pitchFamily="18" charset="0"/>
                        </a:rPr>
                        <a:t>2000</a:t>
                      </a:r>
                      <a:endParaRPr lang="en-IN" sz="2000" dirty="0">
                        <a:latin typeface="Times New Roman" panose="02020603050405020304" pitchFamily="18" charset="0"/>
                        <a:cs typeface="Times New Roman" panose="02020603050405020304" pitchFamily="18" charset="0"/>
                      </a:endParaRPr>
                    </a:p>
                  </a:txBody>
                  <a:tcPr/>
                </a:tc>
                <a:tc>
                  <a:txBody>
                    <a:bodyPr/>
                    <a:lstStyle/>
                    <a:p>
                      <a:pPr algn="just">
                        <a:lnSpc>
                          <a:spcPct val="100000"/>
                        </a:lnSpc>
                      </a:pPr>
                      <a:r>
                        <a:rPr lang="es-ES" sz="2000" dirty="0" smtClean="0">
                          <a:latin typeface="Times New Roman" panose="02020603050405020304" pitchFamily="18" charset="0"/>
                          <a:cs typeface="Times New Roman" panose="02020603050405020304" pitchFamily="18" charset="0"/>
                        </a:rPr>
                        <a:t>ARTÍS M, </a:t>
                      </a:r>
                      <a:r>
                        <a:rPr lang="es-ES" sz="2000" dirty="0" err="1" smtClean="0">
                          <a:latin typeface="Times New Roman" panose="02020603050405020304" pitchFamily="18" charset="0"/>
                          <a:cs typeface="Times New Roman" panose="02020603050405020304" pitchFamily="18" charset="0"/>
                        </a:rPr>
                        <a:t>AyUSO</a:t>
                      </a:r>
                      <a:r>
                        <a:rPr lang="es-ES" sz="2000" dirty="0" smtClean="0">
                          <a:latin typeface="Times New Roman" panose="02020603050405020304" pitchFamily="18" charset="0"/>
                          <a:cs typeface="Times New Roman" panose="02020603050405020304" pitchFamily="18" charset="0"/>
                        </a:rPr>
                        <a:t> M, GUILLÉN M</a:t>
                      </a:r>
                      <a:endParaRPr lang="en-IN" sz="2000" b="0" dirty="0">
                        <a:latin typeface="Times New Roman" panose="02020603050405020304" pitchFamily="18" charset="0"/>
                        <a:cs typeface="Times New Roman" panose="02020603050405020304" pitchFamily="18" charset="0"/>
                      </a:endParaRPr>
                    </a:p>
                  </a:txBody>
                  <a:tcPr/>
                </a:tc>
                <a:tc>
                  <a:txBody>
                    <a:bodyPr/>
                    <a:lstStyle/>
                    <a:p>
                      <a:pPr algn="just">
                        <a:lnSpc>
                          <a:spcPct val="100000"/>
                        </a:lnSpc>
                      </a:pPr>
                      <a:r>
                        <a:rPr lang="en-US" sz="2000" kern="1200" dirty="0" smtClean="0">
                          <a:effectLst/>
                          <a:latin typeface="Times New Roman" panose="02020603050405020304" pitchFamily="18" charset="0"/>
                          <a:cs typeface="Times New Roman" panose="02020603050405020304" pitchFamily="18" charset="0"/>
                        </a:rPr>
                        <a:t>Modeling different types of automobile insurance fraud behavior in the Spanish market</a:t>
                      </a:r>
                    </a:p>
                  </a:txBody>
                  <a:tcPr/>
                </a:tc>
                <a:tc>
                  <a:txBody>
                    <a:bodyPr/>
                    <a:lstStyle/>
                    <a:p>
                      <a:pPr algn="just"/>
                      <a:r>
                        <a:rPr lang="en-US" sz="2000" kern="1200" dirty="0" smtClean="0">
                          <a:effectLst/>
                          <a:latin typeface="Times New Roman" panose="02020603050405020304" pitchFamily="18" charset="0"/>
                          <a:cs typeface="Times New Roman" panose="02020603050405020304" pitchFamily="18" charset="0"/>
                        </a:rPr>
                        <a:t>This study analyzes repeated choices in expensive automobile insurance policies using a four-year dataset, revealing significant factors like engine capacity, vehicle make, and consumer inertia in policy selection.</a:t>
                      </a:r>
                      <a:endParaRPr lang="en-IN" sz="20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0001"/>
                  </a:ext>
                </a:extLst>
              </a:tr>
              <a:tr h="1945425">
                <a:tc>
                  <a:txBody>
                    <a:bodyPr/>
                    <a:lstStyle/>
                    <a:p>
                      <a:pPr algn="just"/>
                      <a:r>
                        <a:rPr lang="en-IN" sz="2000" dirty="0" smtClean="0">
                          <a:latin typeface="Times New Roman" panose="02020603050405020304" pitchFamily="18" charset="0"/>
                          <a:cs typeface="Times New Roman" panose="02020603050405020304" pitchFamily="18" charset="0"/>
                        </a:rPr>
                        <a:t>2</a:t>
                      </a:r>
                      <a:endParaRPr lang="en-IN" sz="2000" dirty="0">
                        <a:latin typeface="Times New Roman" panose="02020603050405020304" pitchFamily="18" charset="0"/>
                        <a:cs typeface="Times New Roman" panose="02020603050405020304" pitchFamily="18" charset="0"/>
                      </a:endParaRP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800" kern="1200" dirty="0" smtClean="0">
                          <a:effectLst/>
                          <a:latin typeface="Times New Roman" panose="02020603050405020304" pitchFamily="18" charset="0"/>
                          <a:cs typeface="Times New Roman" panose="02020603050405020304" pitchFamily="18" charset="0"/>
                        </a:rPr>
                        <a:t>2008</a:t>
                      </a:r>
                      <a:endParaRPr lang="en-US" sz="1800" b="0" dirty="0">
                        <a:solidFill>
                          <a:schemeClr val="bg1">
                            <a:lumMod val="95000"/>
                            <a:lumOff val="5000"/>
                          </a:schemeClr>
                        </a:solidFill>
                        <a:latin typeface="Times New Roman" panose="02020603050405020304" pitchFamily="18" charset="0"/>
                        <a:cs typeface="Times New Roman" panose="02020603050405020304" pitchFamily="18" charset="0"/>
                      </a:endParaRPr>
                    </a:p>
                  </a:txBody>
                  <a:tcPr/>
                </a:tc>
                <a:tc>
                  <a:txBody>
                    <a:bodyPr/>
                    <a:lstStyle/>
                    <a:p>
                      <a:pPr algn="just">
                        <a:lnSpc>
                          <a:spcPct val="150000"/>
                        </a:lnSpc>
                      </a:pPr>
                      <a:r>
                        <a:rPr lang="en-US" sz="1800" kern="1200" dirty="0" smtClean="0">
                          <a:effectLst/>
                          <a:latin typeface="Times New Roman" panose="02020603050405020304" pitchFamily="18" charset="0"/>
                          <a:cs typeface="Times New Roman" panose="02020603050405020304" pitchFamily="18" charset="0"/>
                        </a:rPr>
                        <a:t>Hand C, </a:t>
                      </a:r>
                      <a:r>
                        <a:rPr lang="en-US" sz="1800" kern="1200" dirty="0" err="1" smtClean="0">
                          <a:effectLst/>
                          <a:latin typeface="Times New Roman" panose="02020603050405020304" pitchFamily="18" charset="0"/>
                          <a:cs typeface="Times New Roman" panose="02020603050405020304" pitchFamily="18" charset="0"/>
                        </a:rPr>
                        <a:t>Whitrow</a:t>
                      </a:r>
                      <a:r>
                        <a:rPr lang="en-US" sz="1800" kern="1200" dirty="0" smtClean="0">
                          <a:effectLst/>
                          <a:latin typeface="Times New Roman" panose="02020603050405020304" pitchFamily="18" charset="0"/>
                          <a:cs typeface="Times New Roman" panose="02020603050405020304" pitchFamily="18" charset="0"/>
                        </a:rPr>
                        <a:t> DJ, Adams C, </a:t>
                      </a:r>
                      <a:r>
                        <a:rPr lang="en-US" sz="1800" kern="1200" dirty="0" err="1" smtClean="0">
                          <a:effectLst/>
                          <a:latin typeface="Times New Roman" panose="02020603050405020304" pitchFamily="18" charset="0"/>
                          <a:cs typeface="Times New Roman" panose="02020603050405020304" pitchFamily="18" charset="0"/>
                        </a:rPr>
                        <a:t>Juszczak</a:t>
                      </a:r>
                      <a:r>
                        <a:rPr lang="en-US" sz="1800" kern="1200" dirty="0" smtClean="0">
                          <a:effectLst/>
                          <a:latin typeface="Times New Roman" panose="02020603050405020304" pitchFamily="18" charset="0"/>
                          <a:cs typeface="Times New Roman" panose="02020603050405020304" pitchFamily="18" charset="0"/>
                        </a:rPr>
                        <a:t> NM, Weston P D </a:t>
                      </a:r>
                      <a:endParaRPr lang="en-US" sz="18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r>
                        <a:rPr lang="en-US" sz="1800" dirty="0" smtClean="0">
                          <a:latin typeface="Times New Roman" panose="02020603050405020304" pitchFamily="18" charset="0"/>
                          <a:cs typeface="Times New Roman" panose="02020603050405020304" pitchFamily="18" charset="0"/>
                        </a:rPr>
                        <a:t>Performance criteria for plastic card fraud detection</a:t>
                      </a:r>
                      <a:endParaRPr lang="en-US" sz="18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r>
                        <a:rPr lang="en-US" sz="2000" kern="1200" dirty="0" smtClean="0">
                          <a:effectLst/>
                          <a:latin typeface="Times New Roman" panose="02020603050405020304" pitchFamily="18" charset="0"/>
                          <a:cs typeface="Times New Roman" panose="02020603050405020304" pitchFamily="18" charset="0"/>
                        </a:rPr>
                        <a:t>The paper discusses optimizing predictive data mining algorithms for fraud detection in plastic card transactions. It defines two performance measures related to cost minimization and fraud reduction, and introduces a plot for algorithm performance evaluation.</a:t>
                      </a:r>
                      <a:endParaRPr lang="en-IN" sz="20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187873996"/>
                  </a:ext>
                </a:extLst>
              </a:tr>
            </a:tbl>
          </a:graphicData>
        </a:graphic>
      </p:graphicFrame>
      <p:sp>
        <p:nvSpPr>
          <p:cNvPr id="3" name="Title 1"/>
          <p:cNvSpPr txBox="1"/>
          <p:nvPr/>
        </p:nvSpPr>
        <p:spPr>
          <a:xfrm>
            <a:off x="2290539" y="-114032"/>
            <a:ext cx="6414868" cy="84406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LITERATURE SURVEY</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829232965"/>
              </p:ext>
            </p:extLst>
          </p:nvPr>
        </p:nvGraphicFramePr>
        <p:xfrm>
          <a:off x="280221" y="467744"/>
          <a:ext cx="11463008" cy="6427724"/>
        </p:xfrm>
        <a:graphic>
          <a:graphicData uri="http://schemas.openxmlformats.org/drawingml/2006/table">
            <a:tbl>
              <a:tblPr firstRow="1" bandRow="1">
                <a:tableStyleId>{5940675A-B579-460E-94D1-54222C63F5DA}</a:tableStyleId>
              </a:tblPr>
              <a:tblGrid>
                <a:gridCol w="888844">
                  <a:extLst>
                    <a:ext uri="{9D8B030D-6E8A-4147-A177-3AD203B41FA5}">
                      <a16:colId xmlns:a16="http://schemas.microsoft.com/office/drawing/2014/main" val="20000"/>
                    </a:ext>
                  </a:extLst>
                </a:gridCol>
                <a:gridCol w="886073">
                  <a:extLst>
                    <a:ext uri="{9D8B030D-6E8A-4147-A177-3AD203B41FA5}">
                      <a16:colId xmlns:a16="http://schemas.microsoft.com/office/drawing/2014/main" val="20001"/>
                    </a:ext>
                  </a:extLst>
                </a:gridCol>
                <a:gridCol w="2133405">
                  <a:extLst>
                    <a:ext uri="{9D8B030D-6E8A-4147-A177-3AD203B41FA5}">
                      <a16:colId xmlns:a16="http://schemas.microsoft.com/office/drawing/2014/main" val="20002"/>
                    </a:ext>
                  </a:extLst>
                </a:gridCol>
                <a:gridCol w="3229896">
                  <a:extLst>
                    <a:ext uri="{9D8B030D-6E8A-4147-A177-3AD203B41FA5}">
                      <a16:colId xmlns:a16="http://schemas.microsoft.com/office/drawing/2014/main" val="20003"/>
                    </a:ext>
                  </a:extLst>
                </a:gridCol>
                <a:gridCol w="4324790">
                  <a:extLst>
                    <a:ext uri="{9D8B030D-6E8A-4147-A177-3AD203B41FA5}">
                      <a16:colId xmlns:a16="http://schemas.microsoft.com/office/drawing/2014/main" val="20004"/>
                    </a:ext>
                  </a:extLst>
                </a:gridCol>
              </a:tblGrid>
              <a:tr h="363843">
                <a:tc>
                  <a:txBody>
                    <a:bodyPr/>
                    <a:lstStyle/>
                    <a:p>
                      <a:r>
                        <a:rPr lang="en-US" dirty="0">
                          <a:latin typeface="Times New Roman" panose="02020603050405020304" pitchFamily="18" charset="0"/>
                          <a:cs typeface="Times New Roman" panose="02020603050405020304" pitchFamily="18" charset="0"/>
                        </a:rPr>
                        <a:t>S.NO</a:t>
                      </a:r>
                    </a:p>
                  </a:txBody>
                  <a:tcPr/>
                </a:tc>
                <a:tc>
                  <a:txBody>
                    <a:bodyPr/>
                    <a:lstStyle/>
                    <a:p>
                      <a:r>
                        <a:rPr lang="en-US" dirty="0">
                          <a:latin typeface="Times New Roman" panose="02020603050405020304" pitchFamily="18" charset="0"/>
                          <a:cs typeface="Times New Roman" panose="02020603050405020304" pitchFamily="18" charset="0"/>
                        </a:rPr>
                        <a:t>YEAR</a:t>
                      </a:r>
                    </a:p>
                  </a:txBody>
                  <a:tcPr/>
                </a:tc>
                <a:tc>
                  <a:txBody>
                    <a:bodyPr/>
                    <a:lstStyle/>
                    <a:p>
                      <a:r>
                        <a:rPr lang="en-US" dirty="0">
                          <a:latin typeface="Times New Roman" panose="02020603050405020304" pitchFamily="18" charset="0"/>
                          <a:cs typeface="Times New Roman" panose="02020603050405020304" pitchFamily="18" charset="0"/>
                        </a:rPr>
                        <a:t>AUTHORS</a:t>
                      </a:r>
                    </a:p>
                  </a:txBody>
                  <a:tcPr/>
                </a:tc>
                <a:tc>
                  <a:txBody>
                    <a:bodyPr/>
                    <a:lstStyle/>
                    <a:p>
                      <a:r>
                        <a:rPr lang="en-US" dirty="0">
                          <a:latin typeface="Times New Roman" panose="02020603050405020304" pitchFamily="18" charset="0"/>
                          <a:cs typeface="Times New Roman" panose="02020603050405020304" pitchFamily="18" charset="0"/>
                        </a:rPr>
                        <a:t>TITLE</a:t>
                      </a:r>
                    </a:p>
                  </a:txBody>
                  <a:tcPr/>
                </a:tc>
                <a:tc>
                  <a:txBody>
                    <a:bodyPr/>
                    <a:lstStyle/>
                    <a:p>
                      <a:r>
                        <a:rPr lang="en-US" dirty="0">
                          <a:latin typeface="Times New Roman" panose="02020603050405020304" pitchFamily="18" charset="0"/>
                          <a:cs typeface="Times New Roman" panose="02020603050405020304" pitchFamily="18" charset="0"/>
                        </a:rPr>
                        <a:t>OUT COMES</a:t>
                      </a:r>
                    </a:p>
                  </a:txBody>
                  <a:tcPr/>
                </a:tc>
                <a:extLst>
                  <a:ext uri="{0D108BD9-81ED-4DB2-BD59-A6C34878D82A}">
                    <a16:rowId xmlns:a16="http://schemas.microsoft.com/office/drawing/2014/main" val="10000"/>
                  </a:ext>
                </a:extLst>
              </a:tr>
              <a:tr h="1525150">
                <a:tc>
                  <a:txBody>
                    <a:bodyPr/>
                    <a:lstStyle/>
                    <a:p>
                      <a:pPr algn="just"/>
                      <a:r>
                        <a:rPr lang="en-IN" dirty="0" smtClean="0">
                          <a:latin typeface="Times New Roman" panose="02020603050405020304" pitchFamily="18" charset="0"/>
                          <a:cs typeface="Times New Roman" panose="02020603050405020304" pitchFamily="18" charset="0"/>
                        </a:rPr>
                        <a:t>3</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sz="2000" dirty="0" smtClean="0">
                          <a:latin typeface="Times New Roman" panose="02020603050405020304" pitchFamily="18" charset="0"/>
                          <a:cs typeface="Times New Roman" panose="02020603050405020304" pitchFamily="18" charset="0"/>
                        </a:rPr>
                        <a:t>2010</a:t>
                      </a:r>
                      <a:endParaRPr lang="en-IN" sz="2000" dirty="0">
                        <a:latin typeface="Times New Roman" panose="02020603050405020304" pitchFamily="18" charset="0"/>
                        <a:cs typeface="Times New Roman" panose="02020603050405020304" pitchFamily="18" charset="0"/>
                      </a:endParaRPr>
                    </a:p>
                  </a:txBody>
                  <a:tcPr/>
                </a:tc>
                <a:tc>
                  <a:txBody>
                    <a:bodyPr/>
                    <a:lstStyle/>
                    <a:p>
                      <a:pPr algn="just">
                        <a:lnSpc>
                          <a:spcPct val="100000"/>
                        </a:lnSpc>
                      </a:pPr>
                      <a:r>
                        <a:rPr lang="en-US" sz="2000" kern="1200" dirty="0" smtClean="0">
                          <a:effectLst/>
                          <a:latin typeface="Times New Roman" panose="02020603050405020304" pitchFamily="18" charset="0"/>
                          <a:cs typeface="Times New Roman" panose="02020603050405020304" pitchFamily="18" charset="0"/>
                        </a:rPr>
                        <a:t>Becker RA, </a:t>
                      </a:r>
                      <a:r>
                        <a:rPr lang="en-US" sz="2000" kern="1200" dirty="0" err="1" smtClean="0">
                          <a:effectLst/>
                          <a:latin typeface="Times New Roman" panose="02020603050405020304" pitchFamily="18" charset="0"/>
                          <a:cs typeface="Times New Roman" panose="02020603050405020304" pitchFamily="18" charset="0"/>
                        </a:rPr>
                        <a:t>Volinsky</a:t>
                      </a:r>
                      <a:r>
                        <a:rPr lang="en-US" sz="2000" kern="1200" dirty="0" smtClean="0">
                          <a:effectLst/>
                          <a:latin typeface="Times New Roman" panose="02020603050405020304" pitchFamily="18" charset="0"/>
                          <a:cs typeface="Times New Roman" panose="02020603050405020304" pitchFamily="18" charset="0"/>
                        </a:rPr>
                        <a:t> C, Wilks AR </a:t>
                      </a:r>
                      <a:endParaRPr lang="en-IN" sz="2000" b="0" dirty="0">
                        <a:latin typeface="Times New Roman" panose="02020603050405020304" pitchFamily="18" charset="0"/>
                        <a:cs typeface="Times New Roman" panose="02020603050405020304" pitchFamily="18" charset="0"/>
                      </a:endParaRPr>
                    </a:p>
                  </a:txBody>
                  <a:tcPr/>
                </a:tc>
                <a:tc>
                  <a:txBody>
                    <a:bodyPr/>
                    <a:lstStyle/>
                    <a:p>
                      <a:pPr algn="just">
                        <a:lnSpc>
                          <a:spcPct val="100000"/>
                        </a:lnSpc>
                      </a:pPr>
                      <a:r>
                        <a:rPr lang="en-US" sz="2000" kern="1200" dirty="0" smtClean="0">
                          <a:effectLst/>
                          <a:latin typeface="Times New Roman" panose="02020603050405020304" pitchFamily="18" charset="0"/>
                          <a:cs typeface="Times New Roman" panose="02020603050405020304" pitchFamily="18" charset="0"/>
                        </a:rPr>
                        <a:t>Becker RA, </a:t>
                      </a:r>
                      <a:r>
                        <a:rPr lang="en-US" sz="2000" kern="1200" dirty="0" err="1" smtClean="0">
                          <a:effectLst/>
                          <a:latin typeface="Times New Roman" panose="02020603050405020304" pitchFamily="18" charset="0"/>
                          <a:cs typeface="Times New Roman" panose="02020603050405020304" pitchFamily="18" charset="0"/>
                        </a:rPr>
                        <a:t>Volinsky</a:t>
                      </a:r>
                      <a:r>
                        <a:rPr lang="en-US" sz="2000" kern="1200" dirty="0" smtClean="0">
                          <a:effectLst/>
                          <a:latin typeface="Times New Roman" panose="02020603050405020304" pitchFamily="18" charset="0"/>
                          <a:cs typeface="Times New Roman" panose="02020603050405020304" pitchFamily="18" charset="0"/>
                        </a:rPr>
                        <a:t> C, Wilks AR </a:t>
                      </a:r>
                      <a:endParaRPr lang="en-IN" sz="2000" b="0" dirty="0">
                        <a:latin typeface="Times New Roman" panose="02020603050405020304" pitchFamily="18" charset="0"/>
                        <a:cs typeface="Times New Roman" panose="02020603050405020304" pitchFamily="18" charset="0"/>
                      </a:endParaRPr>
                    </a:p>
                  </a:txBody>
                  <a:tcPr/>
                </a:tc>
                <a:tc>
                  <a:txBody>
                    <a:bodyPr/>
                    <a:lstStyle/>
                    <a:p>
                      <a:pPr algn="just"/>
                      <a:r>
                        <a:rPr lang="en-US" sz="2000" dirty="0" smtClean="0">
                          <a:latin typeface="Times New Roman" panose="02020603050405020304" pitchFamily="18" charset="0"/>
                          <a:cs typeface="Times New Roman" panose="02020603050405020304" pitchFamily="18" charset="0"/>
                        </a:rPr>
                        <a:t>This paper explores the evolution of fraud detection at AT&amp;T, highlighting key fraud schemes and techniques, advocating for simple models, visualization, flexible environments, and the importance of data management and human involvement.</a:t>
                      </a:r>
                      <a:endParaRPr lang="en-IN" sz="20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784137229"/>
                  </a:ext>
                </a:extLst>
              </a:tr>
              <a:tr h="1525150">
                <a:tc>
                  <a:txBody>
                    <a:bodyPr/>
                    <a:lstStyle/>
                    <a:p>
                      <a:pPr algn="just"/>
                      <a:r>
                        <a:rPr lang="en-US" dirty="0" smtClean="0">
                          <a:latin typeface="Times New Roman" panose="02020603050405020304" pitchFamily="18" charset="0"/>
                          <a:cs typeface="Times New Roman" panose="02020603050405020304" pitchFamily="18" charset="0"/>
                        </a:rPr>
                        <a:t>4</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smtClean="0">
                          <a:latin typeface="Times New Roman" panose="02020603050405020304" pitchFamily="18" charset="0"/>
                          <a:cs typeface="Times New Roman" panose="02020603050405020304" pitchFamily="18" charset="0"/>
                        </a:rPr>
                        <a:t>2016</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sz="1600" kern="1200" dirty="0" smtClean="0">
                          <a:effectLst/>
                          <a:latin typeface="Times New Roman" panose="02020603050405020304" pitchFamily="18" charset="0"/>
                          <a:cs typeface="Times New Roman" panose="02020603050405020304" pitchFamily="18" charset="0"/>
                        </a:rPr>
                        <a:t>Abdallah A, </a:t>
                      </a:r>
                      <a:r>
                        <a:rPr lang="en-US" sz="1600" kern="1200" dirty="0" err="1" smtClean="0">
                          <a:effectLst/>
                          <a:latin typeface="Times New Roman" panose="02020603050405020304" pitchFamily="18" charset="0"/>
                          <a:cs typeface="Times New Roman" panose="02020603050405020304" pitchFamily="18" charset="0"/>
                        </a:rPr>
                        <a:t>Maarof</a:t>
                      </a:r>
                      <a:r>
                        <a:rPr lang="en-US" sz="1600" kern="1200" dirty="0" smtClean="0">
                          <a:effectLst/>
                          <a:latin typeface="Times New Roman" panose="02020603050405020304" pitchFamily="18" charset="0"/>
                          <a:cs typeface="Times New Roman" panose="02020603050405020304" pitchFamily="18" charset="0"/>
                        </a:rPr>
                        <a:t> MA, Zainal A </a:t>
                      </a:r>
                      <a:endParaRPr lang="en-IN" sz="1600" b="0" dirty="0">
                        <a:latin typeface="Times New Roman" panose="02020603050405020304" pitchFamily="18" charset="0"/>
                        <a:cs typeface="Times New Roman" panose="02020603050405020304" pitchFamily="18" charset="0"/>
                      </a:endParaRPr>
                    </a:p>
                  </a:txBody>
                  <a:tcPr/>
                </a:tc>
                <a:tc>
                  <a:txBody>
                    <a:bodyPr/>
                    <a:lstStyle/>
                    <a:p>
                      <a:pPr algn="just"/>
                      <a:r>
                        <a:rPr lang="en-US" sz="1800" kern="1200" dirty="0" smtClean="0">
                          <a:effectLst/>
                          <a:latin typeface="Times New Roman" panose="02020603050405020304" pitchFamily="18" charset="0"/>
                          <a:cs typeface="Times New Roman" panose="02020603050405020304" pitchFamily="18" charset="0"/>
                        </a:rPr>
                        <a:t>Fraud detection system: A survey. J </a:t>
                      </a:r>
                      <a:r>
                        <a:rPr lang="en-US" sz="1800" kern="1200" dirty="0" err="1" smtClean="0">
                          <a:effectLst/>
                          <a:latin typeface="Times New Roman" panose="02020603050405020304" pitchFamily="18" charset="0"/>
                          <a:cs typeface="Times New Roman" panose="02020603050405020304" pitchFamily="18" charset="0"/>
                        </a:rPr>
                        <a:t>Netw</a:t>
                      </a:r>
                      <a:r>
                        <a:rPr lang="en-US" sz="1800" kern="1200" dirty="0" smtClean="0">
                          <a:effectLst/>
                          <a:latin typeface="Times New Roman" panose="02020603050405020304" pitchFamily="18" charset="0"/>
                          <a:cs typeface="Times New Roman" panose="02020603050405020304" pitchFamily="18" charset="0"/>
                        </a:rPr>
                        <a:t> Computer Application</a:t>
                      </a:r>
                      <a:endParaRPr lang="en-IN" sz="1800" b="0" dirty="0">
                        <a:latin typeface="Times New Roman" panose="02020603050405020304" pitchFamily="18" charset="0"/>
                        <a:cs typeface="Times New Roman" panose="02020603050405020304" pitchFamily="18" charset="0"/>
                      </a:endParaRPr>
                    </a:p>
                  </a:txBody>
                  <a:tcPr/>
                </a:tc>
                <a:tc>
                  <a:txBody>
                    <a:bodyPr/>
                    <a:lstStyle/>
                    <a:p>
                      <a:pPr algn="just"/>
                      <a:r>
                        <a:rPr lang="en-US" sz="1800" kern="1200" dirty="0" smtClean="0">
                          <a:effectLst/>
                          <a:latin typeface="Times New Roman" panose="02020603050405020304" pitchFamily="18" charset="0"/>
                          <a:cs typeface="Times New Roman" panose="02020603050405020304" pitchFamily="18" charset="0"/>
                        </a:rPr>
                        <a:t>This survey paper examines issues in fraud detection systems (FDSs) within e-commerce, exploring challenges like concept drift and real-time detection, and discusses trends and approaches across five e-commerce systems.</a:t>
                      </a:r>
                      <a:endParaRPr lang="en-IN" sz="18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0001"/>
                  </a:ext>
                </a:extLst>
              </a:tr>
              <a:tr h="1821206">
                <a:tc>
                  <a:txBody>
                    <a:bodyPr/>
                    <a:lstStyle/>
                    <a:p>
                      <a:pPr algn="just"/>
                      <a:r>
                        <a:rPr lang="en-US" dirty="0" smtClean="0">
                          <a:latin typeface="Times New Roman" panose="02020603050405020304" pitchFamily="18" charset="0"/>
                          <a:cs typeface="Times New Roman" panose="02020603050405020304" pitchFamily="18" charset="0"/>
                        </a:rPr>
                        <a:t>5</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dirty="0" smtClean="0">
                          <a:latin typeface="Times New Roman" panose="02020603050405020304" pitchFamily="18" charset="0"/>
                          <a:cs typeface="Times New Roman" panose="02020603050405020304" pitchFamily="18" charset="0"/>
                        </a:rPr>
                        <a:t>2017</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IN" sz="1600" kern="1200" dirty="0" err="1" smtClean="0">
                          <a:effectLst/>
                          <a:latin typeface="Times New Roman" panose="02020603050405020304" pitchFamily="18" charset="0"/>
                          <a:cs typeface="Times New Roman" panose="02020603050405020304" pitchFamily="18" charset="0"/>
                        </a:rPr>
                        <a:t>Sahin</a:t>
                      </a:r>
                      <a:r>
                        <a:rPr lang="en-IN" sz="1600" kern="1200" dirty="0" smtClean="0">
                          <a:effectLst/>
                          <a:latin typeface="Times New Roman" panose="02020603050405020304" pitchFamily="18" charset="0"/>
                          <a:cs typeface="Times New Roman" panose="02020603050405020304" pitchFamily="18" charset="0"/>
                        </a:rPr>
                        <a:t> M </a:t>
                      </a:r>
                      <a:endParaRPr lang="en-IN" sz="1600" b="0" dirty="0">
                        <a:latin typeface="Times New Roman" panose="02020603050405020304" pitchFamily="18" charset="0"/>
                        <a:cs typeface="Times New Roman" panose="02020603050405020304" pitchFamily="18" charset="0"/>
                      </a:endParaRPr>
                    </a:p>
                  </a:txBody>
                  <a:tcPr/>
                </a:tc>
                <a:tc>
                  <a:txBody>
                    <a:bodyPr/>
                    <a:lstStyle/>
                    <a:p>
                      <a:pPr algn="just"/>
                      <a:r>
                        <a:rPr lang="en-US" sz="1800" b="0" dirty="0" smtClean="0">
                          <a:latin typeface="Times New Roman" panose="02020603050405020304" pitchFamily="18" charset="0"/>
                          <a:cs typeface="Times New Roman" panose="02020603050405020304" pitchFamily="18" charset="0"/>
                        </a:rPr>
                        <a:t>Understanding Telephony Fraud as an Essential Step to Better Fight it</a:t>
                      </a:r>
                      <a:endParaRPr lang="en-IN" sz="1800" b="0" dirty="0">
                        <a:latin typeface="Times New Roman" panose="02020603050405020304" pitchFamily="18" charset="0"/>
                        <a:cs typeface="Times New Roman" panose="02020603050405020304" pitchFamily="18" charset="0"/>
                      </a:endParaRPr>
                    </a:p>
                  </a:txBody>
                  <a:tcPr/>
                </a:tc>
                <a:tc>
                  <a:txBody>
                    <a:bodyPr/>
                    <a:lstStyle/>
                    <a:p>
                      <a:pPr>
                        <a:lnSpc>
                          <a:spcPct val="150000"/>
                        </a:lnSpc>
                        <a:buNone/>
                      </a:pPr>
                      <a:r>
                        <a:rPr lang="en-US" sz="1800" dirty="0" err="1" smtClean="0">
                          <a:latin typeface="Times New Roman" panose="02020603050405020304" pitchFamily="18" charset="0"/>
                          <a:cs typeface="Times New Roman" panose="02020603050405020304" pitchFamily="18" charset="0"/>
                        </a:rPr>
                        <a:t>SIMBox</a:t>
                      </a:r>
                      <a:r>
                        <a:rPr lang="en-US" sz="1800" dirty="0" smtClean="0">
                          <a:latin typeface="Times New Roman" panose="02020603050405020304" pitchFamily="18" charset="0"/>
                          <a:cs typeface="Times New Roman" panose="02020603050405020304" pitchFamily="18" charset="0"/>
                        </a:rPr>
                        <a:t> fraud in telecommunications causes $3-$7 billion in annual losses by redirecting illegitimate VoIP traffic. This study investigates its impact, detection approaches, and flaws from 1994 to 2021.</a:t>
                      </a:r>
                      <a:endParaRPr lang="en-IN" sz="18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0002"/>
                  </a:ext>
                </a:extLst>
              </a:tr>
            </a:tbl>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p:nvPr/>
        </p:nvSpPr>
        <p:spPr>
          <a:xfrm>
            <a:off x="451098" y="484146"/>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EXISTING SYSTEM</a:t>
            </a:r>
          </a:p>
        </p:txBody>
      </p:sp>
      <p:sp>
        <p:nvSpPr>
          <p:cNvPr id="2" name="Rectangle 1"/>
          <p:cNvSpPr/>
          <p:nvPr/>
        </p:nvSpPr>
        <p:spPr>
          <a:xfrm>
            <a:off x="750916" y="1795770"/>
            <a:ext cx="10628284" cy="4247317"/>
          </a:xfrm>
          <a:prstGeom prst="rect">
            <a:avLst/>
          </a:prstGeom>
        </p:spPr>
        <p:txBody>
          <a:bodyPr wrap="square">
            <a:spAutoFit/>
          </a:bodyPr>
          <a:lstStyle/>
          <a:p>
            <a:pPr algn="just">
              <a:lnSpc>
                <a:spcPct val="150000"/>
              </a:lnSpc>
              <a:spcAft>
                <a:spcPts val="800"/>
              </a:spcAft>
            </a:pPr>
            <a:r>
              <a:rPr lang="en-US" sz="2000" dirty="0">
                <a:latin typeface="Times New Roman" panose="02020603050405020304" pitchFamily="18" charset="0"/>
                <a:cs typeface="Times New Roman" panose="02020603050405020304" pitchFamily="18" charset="0"/>
              </a:rPr>
              <a:t>K-Nearest Neighbors (KNN) is a simple, non-parametric algorithm used for both classification and regression tasks. It operates by finding the 'k' closest data points (neighbors) to a query point and making predictions based on the majority class (for classification) or average value (for regression) of these neighbors. The algorithm is intuitive and easy to implement but can be computationally expensive, especially with large datasets, because it requires calculating the distance between the query point and all other points in the dataset. Additionally, KNN's performance can be heavily influenced by the choice of 'k' and the distance metric used, and it is sensitive to irrelevant or noisy features, which can mislead the distance calculations and reduce its accuracy. Despite these limitations, KNN is widely used due to its simplicity and effectiveness in certain scenarios.</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txBox="1"/>
          <p:nvPr/>
        </p:nvSpPr>
        <p:spPr>
          <a:xfrm>
            <a:off x="3337913" y="0"/>
            <a:ext cx="4529797" cy="68931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solidFill>
                  <a:schemeClr val="tx1"/>
                </a:solidFill>
                <a:latin typeface="Times New Roman" panose="02020603050405020304" pitchFamily="18" charset="0"/>
                <a:cs typeface="Times New Roman" panose="02020603050405020304" pitchFamily="18" charset="0"/>
              </a:rPr>
              <a:t>DISADVANTAGES</a:t>
            </a:r>
          </a:p>
        </p:txBody>
      </p:sp>
      <p:sp>
        <p:nvSpPr>
          <p:cNvPr id="3" name="Rectangle 2"/>
          <p:cNvSpPr/>
          <p:nvPr/>
        </p:nvSpPr>
        <p:spPr>
          <a:xfrm>
            <a:off x="468779" y="1225689"/>
            <a:ext cx="10922886" cy="5115311"/>
          </a:xfrm>
          <a:prstGeom prst="rect">
            <a:avLst/>
          </a:prstGeom>
        </p:spPr>
        <p:txBody>
          <a:bodyPr wrap="square">
            <a:spAutoFit/>
          </a:bodyPr>
          <a:lstStyle/>
          <a:p>
            <a:pPr lvl="0">
              <a:lnSpc>
                <a:spcPct val="150000"/>
              </a:lnSpc>
            </a:pPr>
            <a:r>
              <a:rPr lang="en-US" sz="2000" b="1" dirty="0">
                <a:latin typeface="Times New Roman" panose="02020603050405020304" pitchFamily="18" charset="0"/>
                <a:cs typeface="Times New Roman" panose="02020603050405020304" pitchFamily="18" charset="0"/>
              </a:rPr>
              <a:t>Data Sensitivity: </a:t>
            </a:r>
            <a:r>
              <a:rPr lang="en-US" sz="2000" dirty="0">
                <a:latin typeface="Times New Roman" panose="02020603050405020304" pitchFamily="18" charset="0"/>
                <a:cs typeface="Times New Roman" panose="02020603050405020304" pitchFamily="18" charset="0"/>
              </a:rPr>
              <a:t>Existing systems may struggle with noisy or irrelevant features, which can lead to inaccurate predictions and decreased performance.</a:t>
            </a:r>
            <a:endParaRPr lang="en-IN" sz="2000" dirty="0">
              <a:latin typeface="Times New Roman" panose="02020603050405020304" pitchFamily="18" charset="0"/>
              <a:cs typeface="Times New Roman" panose="02020603050405020304" pitchFamily="18" charset="0"/>
            </a:endParaRPr>
          </a:p>
          <a:p>
            <a:pPr lvl="0">
              <a:lnSpc>
                <a:spcPct val="150000"/>
              </a:lnSpc>
            </a:pPr>
            <a:r>
              <a:rPr lang="en-US" sz="2000" b="1" dirty="0">
                <a:latin typeface="Times New Roman" panose="02020603050405020304" pitchFamily="18" charset="0"/>
                <a:cs typeface="Times New Roman" panose="02020603050405020304" pitchFamily="18" charset="0"/>
              </a:rPr>
              <a:t>Scalability Issues: </a:t>
            </a:r>
            <a:r>
              <a:rPr lang="en-US" sz="2000" dirty="0">
                <a:latin typeface="Times New Roman" panose="02020603050405020304" pitchFamily="18" charset="0"/>
                <a:cs typeface="Times New Roman" panose="02020603050405020304" pitchFamily="18" charset="0"/>
              </a:rPr>
              <a:t>Algorithms like KNN can become computationally expensive with large datasets, resulting in slower response times and inefficiencies in real-time applications.</a:t>
            </a:r>
            <a:r>
              <a:rPr lang="en-US" sz="2000" b="1"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a:p>
            <a:pPr lvl="0">
              <a:lnSpc>
                <a:spcPct val="150000"/>
              </a:lnSpc>
            </a:pPr>
            <a:r>
              <a:rPr lang="en-US" sz="2000" b="1" dirty="0">
                <a:latin typeface="Times New Roman" panose="02020603050405020304" pitchFamily="18" charset="0"/>
                <a:cs typeface="Times New Roman" panose="02020603050405020304" pitchFamily="18" charset="0"/>
              </a:rPr>
              <a:t>Overfitting Risk: </a:t>
            </a:r>
            <a:r>
              <a:rPr lang="en-US" sz="2000" dirty="0">
                <a:latin typeface="Times New Roman" panose="02020603050405020304" pitchFamily="18" charset="0"/>
                <a:cs typeface="Times New Roman" panose="02020603050405020304" pitchFamily="18" charset="0"/>
              </a:rPr>
              <a:t>While Random Forest is robust, decision trees can easily </a:t>
            </a:r>
            <a:r>
              <a:rPr lang="en-US" sz="2000" dirty="0" err="1">
                <a:latin typeface="Times New Roman" panose="02020603050405020304" pitchFamily="18" charset="0"/>
                <a:cs typeface="Times New Roman" panose="02020603050405020304" pitchFamily="18" charset="0"/>
              </a:rPr>
              <a:t>overfit</a:t>
            </a:r>
            <a:r>
              <a:rPr lang="en-US" sz="2000" dirty="0">
                <a:latin typeface="Times New Roman" panose="02020603050405020304" pitchFamily="18" charset="0"/>
                <a:cs typeface="Times New Roman" panose="02020603050405020304" pitchFamily="18" charset="0"/>
              </a:rPr>
              <a:t> to training data, leading to poor generalization on unseen transactions</a:t>
            </a:r>
            <a:r>
              <a:rPr lang="en-US" sz="2000" b="1"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a:p>
            <a:pPr lvl="0">
              <a:lnSpc>
                <a:spcPct val="150000"/>
              </a:lnSpc>
            </a:pPr>
            <a:r>
              <a:rPr lang="en-US" sz="2000" b="1" dirty="0">
                <a:latin typeface="Times New Roman" panose="02020603050405020304" pitchFamily="18" charset="0"/>
                <a:cs typeface="Times New Roman" panose="02020603050405020304" pitchFamily="18" charset="0"/>
              </a:rPr>
              <a:t>Limited Interpretability: </a:t>
            </a:r>
            <a:r>
              <a:rPr lang="en-US" sz="2000" dirty="0">
                <a:latin typeface="Times New Roman" panose="02020603050405020304" pitchFamily="18" charset="0"/>
                <a:cs typeface="Times New Roman" panose="02020603050405020304" pitchFamily="18" charset="0"/>
              </a:rPr>
              <a:t>Although Decision Trees provide some level of interpretability, ensemble methods like Random Forest can be less transparent, making it harder for users to understand the decision-making process.</a:t>
            </a:r>
            <a:r>
              <a:rPr lang="en-US" sz="2000" b="1"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a:p>
            <a:pPr lvl="0">
              <a:lnSpc>
                <a:spcPct val="150000"/>
              </a:lnSpc>
            </a:pPr>
            <a:r>
              <a:rPr lang="en-US" sz="2000" b="1" dirty="0">
                <a:latin typeface="Times New Roman" panose="02020603050405020304" pitchFamily="18" charset="0"/>
                <a:cs typeface="Times New Roman" panose="02020603050405020304" pitchFamily="18" charset="0"/>
              </a:rPr>
              <a:t>Imbalanced Data: </a:t>
            </a:r>
            <a:r>
              <a:rPr lang="en-US" sz="2000" dirty="0">
                <a:latin typeface="Times New Roman" panose="02020603050405020304" pitchFamily="18" charset="0"/>
                <a:cs typeface="Times New Roman" panose="02020603050405020304" pitchFamily="18" charset="0"/>
              </a:rPr>
              <a:t>Fraud detection systems often deal with imbalanced datasets, leading to biased predictions favoring legitimate transactions over fraudulent ones.</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p:nvPr/>
        </p:nvSpPr>
        <p:spPr>
          <a:xfrm>
            <a:off x="451098" y="484146"/>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solidFill>
                  <a:schemeClr val="tx1"/>
                </a:solidFill>
                <a:latin typeface="Times New Roman" panose="02020603050405020304" pitchFamily="18" charset="0"/>
                <a:cs typeface="Times New Roman" panose="02020603050405020304" pitchFamily="18" charset="0"/>
              </a:rPr>
              <a:t>PROPOSED SYSTEM</a:t>
            </a:r>
            <a:endParaRPr lang="en-US" sz="3600" b="1" dirty="0">
              <a:solidFill>
                <a:schemeClr val="tx1"/>
              </a:solidFill>
              <a:latin typeface="Times New Roman" panose="02020603050405020304" pitchFamily="18" charset="0"/>
              <a:cs typeface="Times New Roman" panose="02020603050405020304" pitchFamily="18" charset="0"/>
            </a:endParaRPr>
          </a:p>
        </p:txBody>
      </p:sp>
      <p:sp>
        <p:nvSpPr>
          <p:cNvPr id="2" name="Rectangle 1"/>
          <p:cNvSpPr/>
          <p:nvPr/>
        </p:nvSpPr>
        <p:spPr>
          <a:xfrm>
            <a:off x="750916" y="1795770"/>
            <a:ext cx="10628284" cy="4247317"/>
          </a:xfrm>
          <a:prstGeom prst="rect">
            <a:avLst/>
          </a:prstGeom>
        </p:spPr>
        <p:txBody>
          <a:bodyPr wrap="square">
            <a:spAutoFit/>
          </a:bodyPr>
          <a:lstStyle/>
          <a:p>
            <a:pPr algn="just">
              <a:lnSpc>
                <a:spcPct val="150000"/>
              </a:lnSpc>
              <a:spcAft>
                <a:spcPts val="800"/>
              </a:spcAft>
            </a:pPr>
            <a:r>
              <a:rPr lang="en-US" sz="2000" dirty="0">
                <a:latin typeface="Times New Roman" panose="02020603050405020304" pitchFamily="18" charset="0"/>
                <a:cs typeface="Times New Roman" panose="02020603050405020304" pitchFamily="18" charset="0"/>
              </a:rPr>
              <a:t>Random Forest is a powerful machine learning algorithm that can be highly effective in detecting UPI fraud. It operates by building multiple decision trees during training and combining their predictions to make a final decision. This ensemble method improves accuracy and reduces the risk of overfitting, making it well-suited for complex tasks like fraud detection where the data can be noisy, imbalanced, and involve intricate relationships between features. In the context of UPI fraud detection, Random Forest can analyze various transaction attributes such as the bank book name, transaction ID, and amount, identifying patterns that distinguish between legitimate and fraudulent transactions. By leveraging the combined power of multiple trees, Random Forest can capture the subtle indicators of fraud that might be missed by simpler models.</a:t>
            </a:r>
          </a:p>
        </p:txBody>
      </p:sp>
    </p:spTree>
    <p:extLst>
      <p:ext uri="{BB962C8B-B14F-4D97-AF65-F5344CB8AC3E}">
        <p14:creationId xmlns:p14="http://schemas.microsoft.com/office/powerpoint/2010/main" val="13706722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txBox="1"/>
          <p:nvPr/>
        </p:nvSpPr>
        <p:spPr>
          <a:xfrm>
            <a:off x="3750828" y="217269"/>
            <a:ext cx="4023360" cy="535992"/>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solidFill>
                  <a:schemeClr val="tx1"/>
                </a:solidFill>
                <a:latin typeface="Times New Roman" panose="02020603050405020304" pitchFamily="18" charset="0"/>
                <a:cs typeface="Times New Roman" panose="02020603050405020304" pitchFamily="18" charset="0"/>
              </a:rPr>
              <a:t>  ADVANTAGES</a:t>
            </a:r>
            <a:br>
              <a:rPr lang="en-US" sz="3600" b="1" dirty="0">
                <a:solidFill>
                  <a:schemeClr val="tx1"/>
                </a:solidFill>
                <a:latin typeface="Times New Roman" panose="02020603050405020304" pitchFamily="18" charset="0"/>
                <a:cs typeface="Times New Roman" panose="02020603050405020304" pitchFamily="18" charset="0"/>
              </a:rPr>
            </a:br>
            <a:endParaRPr lang="en-US" sz="3600" b="1" dirty="0">
              <a:solidFill>
                <a:schemeClr val="tx1"/>
              </a:solidFill>
              <a:latin typeface="Times New Roman" panose="02020603050405020304" pitchFamily="18" charset="0"/>
              <a:cs typeface="Times New Roman" panose="02020603050405020304" pitchFamily="18" charset="0"/>
            </a:endParaRPr>
          </a:p>
        </p:txBody>
      </p:sp>
      <p:sp>
        <p:nvSpPr>
          <p:cNvPr id="4" name="Rectangle 3"/>
          <p:cNvSpPr/>
          <p:nvPr/>
        </p:nvSpPr>
        <p:spPr>
          <a:xfrm>
            <a:off x="518243" y="1362861"/>
            <a:ext cx="11297264" cy="5170646"/>
          </a:xfrm>
          <a:prstGeom prst="rect">
            <a:avLst/>
          </a:prstGeom>
        </p:spPr>
        <p:txBody>
          <a:bodyPr wrap="square">
            <a:spAutoFit/>
          </a:bodyPr>
          <a:lstStyle/>
          <a:p>
            <a:pPr marL="342900" indent="-342900" algn="just">
              <a:lnSpc>
                <a:spcPct val="150000"/>
              </a:lnSpc>
              <a:buFont typeface="Wingdings" panose="05000000000000000000" pitchFamily="2" charset="2"/>
              <a:buChar char="Ø"/>
            </a:pPr>
            <a:r>
              <a:rPr lang="en-US" sz="2000" dirty="0" smtClean="0">
                <a:latin typeface="Times New Roman" panose="02020603050405020304" pitchFamily="18" charset="0"/>
                <a:cs typeface="Times New Roman" panose="02020603050405020304" pitchFamily="18" charset="0"/>
              </a:rPr>
              <a:t>Enhanced </a:t>
            </a:r>
            <a:r>
              <a:rPr lang="en-US" sz="2000" dirty="0">
                <a:latin typeface="Times New Roman" panose="02020603050405020304" pitchFamily="18" charset="0"/>
                <a:cs typeface="Times New Roman" panose="02020603050405020304" pitchFamily="18" charset="0"/>
              </a:rPr>
              <a:t>Accuracy: Utilizing Random Forest, KNN, and Decision Tree algorithms improves classification accuracy by leveraging the strengths of each model, reducing the likelihood of false positives and negatives.</a:t>
            </a:r>
          </a:p>
          <a:p>
            <a:pPr marL="342900" indent="-342900" algn="just">
              <a:lnSpc>
                <a:spcPct val="150000"/>
              </a:lnSpc>
              <a:buFont typeface="Wingdings" panose="05000000000000000000" pitchFamily="2" charset="2"/>
              <a:buChar char="Ø"/>
            </a:pPr>
            <a:r>
              <a:rPr lang="en-US" sz="2000" dirty="0" smtClean="0">
                <a:latin typeface="Times New Roman" panose="02020603050405020304" pitchFamily="18" charset="0"/>
                <a:cs typeface="Times New Roman" panose="02020603050405020304" pitchFamily="18" charset="0"/>
              </a:rPr>
              <a:t>Robustness </a:t>
            </a:r>
            <a:r>
              <a:rPr lang="en-US" sz="2000" dirty="0">
                <a:latin typeface="Times New Roman" panose="02020603050405020304" pitchFamily="18" charset="0"/>
                <a:cs typeface="Times New Roman" panose="02020603050405020304" pitchFamily="18" charset="0"/>
              </a:rPr>
              <a:t>Against Overfitting: Random Forest's ensemble approach mitigates overfitting, making the system resilient to noisy and imbalanced transaction data.</a:t>
            </a:r>
          </a:p>
          <a:p>
            <a:pPr marL="342900" indent="-342900" algn="just">
              <a:lnSpc>
                <a:spcPct val="150000"/>
              </a:lnSpc>
              <a:buFont typeface="Wingdings" panose="05000000000000000000" pitchFamily="2" charset="2"/>
              <a:buChar char="Ø"/>
            </a:pPr>
            <a:r>
              <a:rPr lang="en-US" sz="2000" dirty="0" smtClean="0">
                <a:latin typeface="Times New Roman" panose="02020603050405020304" pitchFamily="18" charset="0"/>
                <a:cs typeface="Times New Roman" panose="02020603050405020304" pitchFamily="18" charset="0"/>
              </a:rPr>
              <a:t>Interpretability</a:t>
            </a:r>
            <a:r>
              <a:rPr lang="en-US" sz="2000" dirty="0">
                <a:latin typeface="Times New Roman" panose="02020603050405020304" pitchFamily="18" charset="0"/>
                <a:cs typeface="Times New Roman" panose="02020603050405020304" pitchFamily="18" charset="0"/>
              </a:rPr>
              <a:t>: Decision Trees provide clear decision-making pathways, allowing users to understand the rationale behind classification outcomes, which is crucial for trust in financial systems.</a:t>
            </a:r>
          </a:p>
          <a:p>
            <a:pPr marL="342900" indent="-342900" algn="just">
              <a:lnSpc>
                <a:spcPct val="150000"/>
              </a:lnSpc>
              <a:buFont typeface="Wingdings" panose="05000000000000000000" pitchFamily="2" charset="2"/>
              <a:buChar char="Ø"/>
            </a:pPr>
            <a:r>
              <a:rPr lang="en-US" sz="2000" dirty="0" smtClean="0">
                <a:latin typeface="Times New Roman" panose="02020603050405020304" pitchFamily="18" charset="0"/>
                <a:cs typeface="Times New Roman" panose="02020603050405020304" pitchFamily="18" charset="0"/>
              </a:rPr>
              <a:t>Real-time </a:t>
            </a:r>
            <a:r>
              <a:rPr lang="en-US" sz="2000" dirty="0">
                <a:latin typeface="Times New Roman" panose="02020603050405020304" pitchFamily="18" charset="0"/>
                <a:cs typeface="Times New Roman" panose="02020603050405020304" pitchFamily="18" charset="0"/>
              </a:rPr>
              <a:t>Detection: The system can analyze transaction details in real time, enabling swift identification and prevention of fraudulent activities.</a:t>
            </a:r>
          </a:p>
          <a:p>
            <a:pPr marL="342900" indent="-342900" algn="just">
              <a:lnSpc>
                <a:spcPct val="150000"/>
              </a:lnSpc>
              <a:buFont typeface="Wingdings" panose="05000000000000000000" pitchFamily="2" charset="2"/>
              <a:buChar char="Ø"/>
            </a:pPr>
            <a:r>
              <a:rPr lang="en-US" sz="2000" dirty="0" smtClean="0">
                <a:latin typeface="Times New Roman" panose="02020603050405020304" pitchFamily="18" charset="0"/>
                <a:cs typeface="Times New Roman" panose="02020603050405020304" pitchFamily="18" charset="0"/>
              </a:rPr>
              <a:t>Flexibility</a:t>
            </a:r>
            <a:r>
              <a:rPr lang="en-US" sz="2000" dirty="0">
                <a:latin typeface="Times New Roman" panose="02020603050405020304" pitchFamily="18" charset="0"/>
                <a:cs typeface="Times New Roman" panose="02020603050405020304" pitchFamily="18" charset="0"/>
              </a:rPr>
              <a:t>: The multi-algorithm approach can adapt to evolving fraud patterns by retraining with new data, ensuring continued effectiveness</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807506" y="363518"/>
            <a:ext cx="3661256" cy="590542"/>
          </a:xfrm>
        </p:spPr>
        <p:txBody>
          <a:bodyPr>
            <a:normAutofit/>
          </a:bodyPr>
          <a:lstStyle/>
          <a:p>
            <a:r>
              <a:rPr lang="en-US" sz="2400" b="1" dirty="0">
                <a:solidFill>
                  <a:schemeClr val="tx1"/>
                </a:solidFill>
                <a:latin typeface="Times New Roman" panose="02020603050405020304" pitchFamily="18" charset="0"/>
                <a:cs typeface="Times New Roman" panose="02020603050405020304" pitchFamily="18" charset="0"/>
              </a:rPr>
              <a:t>BLOCK DIAGRAM</a:t>
            </a:r>
          </a:p>
        </p:txBody>
      </p:sp>
      <p:pic>
        <p:nvPicPr>
          <p:cNvPr id="4" name="Picture 3"/>
          <p:cNvPicPr>
            <a:picLocks noChangeAspect="1"/>
          </p:cNvPicPr>
          <p:nvPr/>
        </p:nvPicPr>
        <p:blipFill>
          <a:blip r:embed="rId2"/>
          <a:stretch>
            <a:fillRect/>
          </a:stretch>
        </p:blipFill>
        <p:spPr>
          <a:xfrm>
            <a:off x="4894312" y="363518"/>
            <a:ext cx="5276104" cy="6264975"/>
          </a:xfrm>
          <a:prstGeom prst="rect">
            <a:avLst/>
          </a:prstGeom>
        </p:spPr>
      </p:pic>
    </p:spTree>
    <p:extLst>
      <p:ext uri="{BB962C8B-B14F-4D97-AF65-F5344CB8AC3E}">
        <p14:creationId xmlns:p14="http://schemas.microsoft.com/office/powerpoint/2010/main" val="280585853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Google Shape;865;p32"/>
          <p:cNvSpPr txBox="1">
            <a:spLocks/>
          </p:cNvSpPr>
          <p:nvPr/>
        </p:nvSpPr>
        <p:spPr>
          <a:xfrm>
            <a:off x="1260790" y="355925"/>
            <a:ext cx="9415633" cy="763345"/>
          </a:xfrm>
          <a:prstGeom prst="rect">
            <a:avLst/>
          </a:prstGeom>
          <a:noFill/>
          <a:ln>
            <a:noFill/>
          </a:ln>
        </p:spPr>
        <p:txBody>
          <a:bodyPr spcFirstLastPara="1" wrap="square" lIns="91425" tIns="91425" rIns="91425" bIns="91425" anchor="t" anchorCtr="0">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nSpc>
                <a:spcPct val="150000"/>
              </a:lnSpc>
            </a:pPr>
            <a:r>
              <a:rPr lang="en-US" sz="3200" b="1" dirty="0" smtClean="0">
                <a:solidFill>
                  <a:schemeClr val="tx1"/>
                </a:solidFill>
                <a:latin typeface="Times New Roman" panose="02020603050405020304" pitchFamily="18" charset="0"/>
                <a:cs typeface="Times New Roman" panose="02020603050405020304" pitchFamily="18" charset="0"/>
              </a:rPr>
              <a:t>Resource Requirements</a:t>
            </a:r>
            <a:endParaRPr lang="en-US" sz="3200" b="1" dirty="0">
              <a:solidFill>
                <a:schemeClr val="tx1"/>
              </a:solidFill>
              <a:latin typeface="Times New Roman" panose="02020603050405020304" pitchFamily="18" charset="0"/>
              <a:cs typeface="Times New Roman" panose="02020603050405020304" pitchFamily="18" charset="0"/>
            </a:endParaRPr>
          </a:p>
        </p:txBody>
      </p:sp>
      <p:sp>
        <p:nvSpPr>
          <p:cNvPr id="5" name="Google Shape;866;p32"/>
          <p:cNvSpPr/>
          <p:nvPr/>
        </p:nvSpPr>
        <p:spPr>
          <a:xfrm>
            <a:off x="4892037" y="2122135"/>
            <a:ext cx="933031" cy="821023"/>
          </a:xfrm>
          <a:prstGeom prst="ellipse">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800" b="1" dirty="0">
                <a:latin typeface="Poppins Black" panose="00000800000000000000"/>
                <a:ea typeface="Poppins Black" panose="00000800000000000000"/>
                <a:cs typeface="Poppins Black" panose="00000800000000000000"/>
                <a:sym typeface="Poppins Black" panose="00000800000000000000"/>
              </a:rPr>
              <a:t>01</a:t>
            </a:r>
            <a:endParaRPr sz="2800" b="1" dirty="0">
              <a:latin typeface="Poppins Black" panose="00000800000000000000"/>
              <a:ea typeface="Poppins Black" panose="00000800000000000000"/>
              <a:cs typeface="Poppins Black" panose="00000800000000000000"/>
              <a:sym typeface="Poppins Black" panose="00000800000000000000"/>
            </a:endParaRPr>
          </a:p>
        </p:txBody>
      </p:sp>
      <p:sp>
        <p:nvSpPr>
          <p:cNvPr id="6" name="Google Shape;867;p32"/>
          <p:cNvSpPr txBox="1"/>
          <p:nvPr/>
        </p:nvSpPr>
        <p:spPr>
          <a:xfrm>
            <a:off x="5864781" y="1804800"/>
            <a:ext cx="4178867" cy="1262298"/>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endParaRPr lang="en-GB" sz="2400" dirty="0" smtClean="0">
              <a:latin typeface="Poppins Black" panose="00000800000000000000"/>
              <a:ea typeface="Poppins Black" panose="00000800000000000000"/>
              <a:cs typeface="Poppins Black" panose="00000800000000000000"/>
              <a:sym typeface="Poppins Black" panose="00000800000000000000"/>
            </a:endParaRPr>
          </a:p>
          <a:p>
            <a:pPr marL="0" lvl="0" indent="0" algn="l" rtl="0">
              <a:lnSpc>
                <a:spcPct val="115000"/>
              </a:lnSpc>
              <a:spcBef>
                <a:spcPts val="0"/>
              </a:spcBef>
              <a:spcAft>
                <a:spcPts val="0"/>
              </a:spcAft>
              <a:buNone/>
            </a:pPr>
            <a:endParaRPr lang="en-GB" sz="2400" dirty="0">
              <a:latin typeface="Poppins Black" panose="00000800000000000000"/>
              <a:ea typeface="Poppins Black" panose="00000800000000000000"/>
              <a:cs typeface="Poppins Black" panose="00000800000000000000"/>
              <a:sym typeface="Poppins Black" panose="00000800000000000000"/>
            </a:endParaRPr>
          </a:p>
          <a:p>
            <a:pPr marL="0" lvl="0" indent="0" algn="l" rtl="0">
              <a:lnSpc>
                <a:spcPct val="115000"/>
              </a:lnSpc>
              <a:spcBef>
                <a:spcPts val="0"/>
              </a:spcBef>
              <a:spcAft>
                <a:spcPts val="0"/>
              </a:spcAft>
              <a:buNone/>
            </a:pPr>
            <a:endParaRPr lang="en-GB" sz="2400" dirty="0" smtClean="0">
              <a:latin typeface="Poppins Black" panose="00000800000000000000"/>
              <a:ea typeface="Poppins Black" panose="00000800000000000000"/>
              <a:cs typeface="Poppins Black" panose="00000800000000000000"/>
              <a:sym typeface="Poppins Black" panose="00000800000000000000"/>
            </a:endParaRPr>
          </a:p>
          <a:p>
            <a:pPr marL="0" lvl="0" indent="0" algn="l" rtl="0">
              <a:lnSpc>
                <a:spcPct val="115000"/>
              </a:lnSpc>
              <a:spcBef>
                <a:spcPts val="0"/>
              </a:spcBef>
              <a:spcAft>
                <a:spcPts val="0"/>
              </a:spcAft>
              <a:buNone/>
            </a:pPr>
            <a:endParaRPr lang="en-GB" sz="2400" dirty="0" smtClean="0">
              <a:latin typeface="Poppins Black" panose="00000800000000000000"/>
              <a:ea typeface="Poppins Black" panose="00000800000000000000"/>
              <a:cs typeface="Poppins Black" panose="00000800000000000000"/>
              <a:sym typeface="Poppins Black" panose="00000800000000000000"/>
            </a:endParaRPr>
          </a:p>
          <a:p>
            <a:pPr marL="0" lvl="0" indent="0" algn="l" rtl="0">
              <a:lnSpc>
                <a:spcPct val="115000"/>
              </a:lnSpc>
              <a:spcBef>
                <a:spcPts val="0"/>
              </a:spcBef>
              <a:spcAft>
                <a:spcPts val="0"/>
              </a:spcAft>
              <a:buNone/>
            </a:pPr>
            <a:endParaRPr lang="en-GB" sz="2400" dirty="0">
              <a:latin typeface="Poppins Black" panose="00000800000000000000"/>
              <a:ea typeface="Poppins Black" panose="00000800000000000000"/>
              <a:cs typeface="Poppins Black" panose="00000800000000000000"/>
              <a:sym typeface="Poppins Black" panose="00000800000000000000"/>
            </a:endParaRPr>
          </a:p>
          <a:p>
            <a:pPr marL="0" lvl="0" indent="0" algn="l" rtl="0">
              <a:lnSpc>
                <a:spcPct val="115000"/>
              </a:lnSpc>
              <a:spcBef>
                <a:spcPts val="0"/>
              </a:spcBef>
              <a:spcAft>
                <a:spcPts val="0"/>
              </a:spcAft>
              <a:buNone/>
            </a:pPr>
            <a:endParaRPr lang="en-GB" sz="2400" dirty="0" smtClean="0">
              <a:latin typeface="Poppins Black" panose="00000800000000000000"/>
              <a:ea typeface="Poppins Black" panose="00000800000000000000"/>
              <a:cs typeface="Poppins Black" panose="00000800000000000000"/>
              <a:sym typeface="Poppins Black" panose="00000800000000000000"/>
            </a:endParaRPr>
          </a:p>
          <a:p>
            <a:pPr marL="0" lvl="0" indent="0" algn="l" rtl="0">
              <a:lnSpc>
                <a:spcPct val="115000"/>
              </a:lnSpc>
              <a:spcBef>
                <a:spcPts val="0"/>
              </a:spcBef>
              <a:spcAft>
                <a:spcPts val="0"/>
              </a:spcAft>
              <a:buNone/>
            </a:pPr>
            <a:endParaRPr lang="en-GB" sz="2400" dirty="0">
              <a:latin typeface="Poppins Black" panose="00000800000000000000"/>
              <a:ea typeface="Poppins Black" panose="00000800000000000000"/>
              <a:cs typeface="Poppins Black" panose="00000800000000000000"/>
              <a:sym typeface="Poppins Black" panose="00000800000000000000"/>
            </a:endParaRPr>
          </a:p>
          <a:p>
            <a:pPr marL="0" lvl="0" indent="0" algn="l" rtl="0">
              <a:lnSpc>
                <a:spcPct val="115000"/>
              </a:lnSpc>
              <a:spcBef>
                <a:spcPts val="0"/>
              </a:spcBef>
              <a:spcAft>
                <a:spcPts val="0"/>
              </a:spcAft>
              <a:buNone/>
            </a:pPr>
            <a:endParaRPr lang="en-GB" sz="2400" dirty="0" smtClean="0">
              <a:latin typeface="Poppins Black" panose="00000800000000000000"/>
              <a:ea typeface="Poppins Black" panose="00000800000000000000"/>
              <a:cs typeface="Poppins Black" panose="00000800000000000000"/>
              <a:sym typeface="Poppins Black" panose="00000800000000000000"/>
            </a:endParaRPr>
          </a:p>
          <a:p>
            <a:pPr marL="0" lvl="0" indent="0" algn="l" rtl="0">
              <a:lnSpc>
                <a:spcPct val="115000"/>
              </a:lnSpc>
              <a:spcBef>
                <a:spcPts val="0"/>
              </a:spcBef>
              <a:spcAft>
                <a:spcPts val="0"/>
              </a:spcAft>
              <a:buNone/>
            </a:pPr>
            <a:endParaRPr lang="en-GB" sz="2400" dirty="0">
              <a:latin typeface="Poppins Black" panose="00000800000000000000"/>
              <a:ea typeface="Poppins Black" panose="00000800000000000000"/>
              <a:cs typeface="Poppins Black" panose="00000800000000000000"/>
              <a:sym typeface="Poppins Black" panose="00000800000000000000"/>
            </a:endParaRPr>
          </a:p>
          <a:p>
            <a:pPr marL="0" lvl="0" indent="0" algn="l" rtl="0">
              <a:lnSpc>
                <a:spcPct val="115000"/>
              </a:lnSpc>
              <a:spcBef>
                <a:spcPts val="0"/>
              </a:spcBef>
              <a:spcAft>
                <a:spcPts val="0"/>
              </a:spcAft>
              <a:buNone/>
            </a:pPr>
            <a:endParaRPr lang="en-GB" sz="2400" dirty="0" smtClean="0">
              <a:latin typeface="Poppins Black" panose="00000800000000000000"/>
              <a:ea typeface="Poppins Black" panose="00000800000000000000"/>
              <a:cs typeface="Poppins Black" panose="00000800000000000000"/>
              <a:sym typeface="Poppins Black" panose="00000800000000000000"/>
            </a:endParaRPr>
          </a:p>
          <a:p>
            <a:pPr marL="0" lvl="0" indent="0" algn="l" rtl="0">
              <a:lnSpc>
                <a:spcPct val="115000"/>
              </a:lnSpc>
              <a:spcBef>
                <a:spcPts val="0"/>
              </a:spcBef>
              <a:spcAft>
                <a:spcPts val="0"/>
              </a:spcAft>
              <a:buNone/>
            </a:pPr>
            <a:endParaRPr lang="en-GB" sz="2400" dirty="0">
              <a:latin typeface="Poppins Black" panose="00000800000000000000"/>
              <a:ea typeface="Poppins Black" panose="00000800000000000000"/>
              <a:cs typeface="Poppins Black" panose="00000800000000000000"/>
              <a:sym typeface="Poppins Black" panose="00000800000000000000"/>
            </a:endParaRPr>
          </a:p>
          <a:p>
            <a:pPr marL="0" lvl="0" indent="0" algn="l" rtl="0">
              <a:lnSpc>
                <a:spcPct val="115000"/>
              </a:lnSpc>
              <a:spcBef>
                <a:spcPts val="0"/>
              </a:spcBef>
              <a:spcAft>
                <a:spcPts val="0"/>
              </a:spcAft>
              <a:buNone/>
            </a:pPr>
            <a:endParaRPr lang="en-GB" sz="2400" dirty="0" smtClean="0">
              <a:latin typeface="Poppins Black" panose="00000800000000000000"/>
              <a:ea typeface="Poppins Black" panose="00000800000000000000"/>
              <a:cs typeface="Poppins Black" panose="00000800000000000000"/>
              <a:sym typeface="Poppins Black" panose="00000800000000000000"/>
            </a:endParaRPr>
          </a:p>
          <a:p>
            <a:pPr marL="0" lvl="0" indent="0" algn="l" rtl="0">
              <a:lnSpc>
                <a:spcPct val="115000"/>
              </a:lnSpc>
              <a:spcBef>
                <a:spcPts val="0"/>
              </a:spcBef>
              <a:spcAft>
                <a:spcPts val="0"/>
              </a:spcAft>
              <a:buNone/>
            </a:pPr>
            <a:endParaRPr lang="en-GB" sz="2400" dirty="0">
              <a:latin typeface="Poppins Black" panose="00000800000000000000"/>
              <a:ea typeface="Poppins Black" panose="00000800000000000000"/>
              <a:cs typeface="Poppins Black" panose="00000800000000000000"/>
              <a:sym typeface="Poppins Black" panose="00000800000000000000"/>
            </a:endParaRPr>
          </a:p>
          <a:p>
            <a:pPr marL="0" lvl="0" indent="0" algn="l" rtl="0">
              <a:lnSpc>
                <a:spcPct val="115000"/>
              </a:lnSpc>
              <a:spcBef>
                <a:spcPts val="0"/>
              </a:spcBef>
              <a:spcAft>
                <a:spcPts val="0"/>
              </a:spcAft>
              <a:buNone/>
            </a:pPr>
            <a:endParaRPr lang="en-GB" sz="2400" dirty="0" smtClean="0">
              <a:latin typeface="Poppins Black" panose="00000800000000000000"/>
              <a:ea typeface="Poppins Black" panose="00000800000000000000"/>
              <a:cs typeface="Poppins Black" panose="00000800000000000000"/>
              <a:sym typeface="Poppins Black" panose="00000800000000000000"/>
            </a:endParaRPr>
          </a:p>
          <a:p>
            <a:pPr marL="0" lvl="0" indent="0" algn="l" rtl="0">
              <a:lnSpc>
                <a:spcPct val="115000"/>
              </a:lnSpc>
              <a:spcBef>
                <a:spcPts val="0"/>
              </a:spcBef>
              <a:spcAft>
                <a:spcPts val="0"/>
              </a:spcAft>
              <a:buNone/>
            </a:pPr>
            <a:endParaRPr lang="en-GB" sz="2400" dirty="0">
              <a:latin typeface="Poppins Black" panose="00000800000000000000"/>
              <a:ea typeface="Poppins Black" panose="00000800000000000000"/>
              <a:cs typeface="Poppins Black" panose="00000800000000000000"/>
              <a:sym typeface="Poppins Black" panose="00000800000000000000"/>
            </a:endParaRPr>
          </a:p>
          <a:p>
            <a:pPr marL="0" lvl="0" indent="0" algn="l" rtl="0">
              <a:lnSpc>
                <a:spcPct val="115000"/>
              </a:lnSpc>
              <a:spcBef>
                <a:spcPts val="0"/>
              </a:spcBef>
              <a:spcAft>
                <a:spcPts val="0"/>
              </a:spcAft>
              <a:buNone/>
            </a:pPr>
            <a:endParaRPr lang="en-GB" sz="2400" dirty="0" smtClean="0">
              <a:latin typeface="Poppins Black" panose="00000800000000000000"/>
              <a:ea typeface="Poppins Black" panose="00000800000000000000"/>
              <a:cs typeface="Poppins Black" panose="00000800000000000000"/>
              <a:sym typeface="Poppins Black" panose="00000800000000000000"/>
            </a:endParaRPr>
          </a:p>
          <a:p>
            <a:pPr marL="0" lvl="0" indent="0" algn="l" rtl="0">
              <a:lnSpc>
                <a:spcPct val="115000"/>
              </a:lnSpc>
              <a:spcBef>
                <a:spcPts val="0"/>
              </a:spcBef>
              <a:spcAft>
                <a:spcPts val="0"/>
              </a:spcAft>
              <a:buNone/>
            </a:pPr>
            <a:endParaRPr lang="en-GB" sz="2400" dirty="0">
              <a:latin typeface="Poppins Black" panose="00000800000000000000"/>
              <a:ea typeface="Poppins Black" panose="00000800000000000000"/>
              <a:cs typeface="Poppins Black" panose="00000800000000000000"/>
              <a:sym typeface="Poppins Black" panose="00000800000000000000"/>
            </a:endParaRPr>
          </a:p>
          <a:p>
            <a:pPr marL="0" lvl="0" indent="0" algn="l" rtl="0">
              <a:lnSpc>
                <a:spcPct val="115000"/>
              </a:lnSpc>
              <a:spcBef>
                <a:spcPts val="0"/>
              </a:spcBef>
              <a:spcAft>
                <a:spcPts val="0"/>
              </a:spcAft>
              <a:buNone/>
            </a:pPr>
            <a:endParaRPr lang="en-GB" sz="2400" dirty="0" smtClean="0">
              <a:latin typeface="Poppins Black" panose="00000800000000000000"/>
              <a:ea typeface="Poppins Black" panose="00000800000000000000"/>
              <a:cs typeface="Poppins Black" panose="00000800000000000000"/>
              <a:sym typeface="Poppins Black" panose="00000800000000000000"/>
            </a:endParaRPr>
          </a:p>
          <a:p>
            <a:pPr marL="0" lvl="0" indent="0" algn="l" rtl="0">
              <a:lnSpc>
                <a:spcPct val="115000"/>
              </a:lnSpc>
              <a:spcBef>
                <a:spcPts val="0"/>
              </a:spcBef>
              <a:spcAft>
                <a:spcPts val="0"/>
              </a:spcAft>
              <a:buNone/>
            </a:pPr>
            <a:endParaRPr lang="en-GB" sz="2400" dirty="0">
              <a:latin typeface="Poppins Black" panose="00000800000000000000"/>
              <a:ea typeface="Poppins Black" panose="00000800000000000000"/>
              <a:cs typeface="Poppins Black" panose="00000800000000000000"/>
              <a:sym typeface="Poppins Black" panose="00000800000000000000"/>
            </a:endParaRPr>
          </a:p>
          <a:p>
            <a:pPr marL="0" lvl="0" indent="0" algn="l" rtl="0">
              <a:lnSpc>
                <a:spcPct val="115000"/>
              </a:lnSpc>
              <a:spcBef>
                <a:spcPts val="0"/>
              </a:spcBef>
              <a:spcAft>
                <a:spcPts val="0"/>
              </a:spcAft>
              <a:buNone/>
            </a:pPr>
            <a:endParaRPr lang="en-GB" sz="2400" dirty="0" smtClean="0">
              <a:latin typeface="Poppins Black" panose="00000800000000000000"/>
              <a:ea typeface="Poppins Black" panose="00000800000000000000"/>
              <a:cs typeface="Poppins Black" panose="00000800000000000000"/>
              <a:sym typeface="Poppins Black" panose="00000800000000000000"/>
            </a:endParaRPr>
          </a:p>
          <a:p>
            <a:pPr marL="0" lvl="0" indent="0" algn="l" rtl="0">
              <a:lnSpc>
                <a:spcPct val="115000"/>
              </a:lnSpc>
              <a:spcBef>
                <a:spcPts val="0"/>
              </a:spcBef>
              <a:spcAft>
                <a:spcPts val="0"/>
              </a:spcAft>
              <a:buNone/>
            </a:pPr>
            <a:r>
              <a:rPr lang="en-GB" sz="2800" b="1" dirty="0" smtClean="0">
                <a:latin typeface="Poppins Black" panose="00000800000000000000"/>
                <a:ea typeface="Poppins Black" panose="00000800000000000000"/>
                <a:cs typeface="Poppins Black" panose="00000800000000000000"/>
                <a:sym typeface="Poppins Black" panose="00000800000000000000"/>
              </a:rPr>
              <a:t>Hardware</a:t>
            </a:r>
          </a:p>
          <a:p>
            <a:pPr>
              <a:lnSpc>
                <a:spcPct val="115000"/>
              </a:lnSpc>
            </a:pPr>
            <a:r>
              <a:rPr lang="en-GB" sz="12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Processor</a:t>
            </a:r>
            <a:r>
              <a:rPr lang="en-GB" sz="1200" b="1" dirty="0">
                <a:latin typeface="Times New Roman" panose="02020603050405020304" pitchFamily="18" charset="0"/>
                <a:ea typeface="Poppins" panose="00000500000000000000"/>
                <a:cs typeface="Times New Roman" panose="02020603050405020304" pitchFamily="18" charset="0"/>
                <a:sym typeface="Poppins" panose="00000500000000000000"/>
              </a:rPr>
              <a:t>: </a:t>
            </a:r>
            <a:r>
              <a:rPr lang="en-US" sz="1200" dirty="0">
                <a:latin typeface="Times New Roman" panose="02020603050405020304" pitchFamily="18" charset="0"/>
                <a:cs typeface="Times New Roman" panose="02020603050405020304" pitchFamily="18" charset="0"/>
              </a:rPr>
              <a:t>I5/Intel Processor, </a:t>
            </a:r>
            <a:r>
              <a:rPr lang="en-IN" sz="1200" b="1" dirty="0">
                <a:latin typeface="Times New Roman" panose="02020603050405020304" pitchFamily="18" charset="0"/>
                <a:cs typeface="Times New Roman" panose="02020603050405020304" pitchFamily="18" charset="0"/>
              </a:rPr>
              <a:t>RAM:</a:t>
            </a:r>
            <a:r>
              <a:rPr lang="en-IN" sz="1200" dirty="0">
                <a:latin typeface="Times New Roman" panose="02020603050405020304" pitchFamily="18" charset="0"/>
                <a:cs typeface="Times New Roman" panose="02020603050405020304" pitchFamily="18" charset="0"/>
              </a:rPr>
              <a:t> 8GB (min), </a:t>
            </a:r>
            <a:r>
              <a:rPr lang="en-IN" sz="1200" b="1" dirty="0">
                <a:latin typeface="Times New Roman" panose="02020603050405020304" pitchFamily="18" charset="0"/>
                <a:cs typeface="Times New Roman" panose="02020603050405020304" pitchFamily="18" charset="0"/>
              </a:rPr>
              <a:t>Hard Disk: </a:t>
            </a:r>
            <a:r>
              <a:rPr lang="en-IN" sz="1200" dirty="0">
                <a:latin typeface="Times New Roman" panose="02020603050405020304" pitchFamily="18" charset="0"/>
                <a:cs typeface="Times New Roman" panose="02020603050405020304" pitchFamily="18" charset="0"/>
              </a:rPr>
              <a:t>128 GB</a:t>
            </a:r>
            <a:r>
              <a:rPr lang="en-IN" sz="1200" b="1" dirty="0">
                <a:latin typeface="Times New Roman" panose="02020603050405020304" pitchFamily="18" charset="0"/>
                <a:cs typeface="Times New Roman" panose="02020603050405020304" pitchFamily="18" charset="0"/>
              </a:rPr>
              <a:t>, Key Board:</a:t>
            </a:r>
            <a:r>
              <a:rPr lang="en-IN" sz="1200" dirty="0">
                <a:latin typeface="Times New Roman" panose="02020603050405020304" pitchFamily="18" charset="0"/>
                <a:cs typeface="Times New Roman" panose="02020603050405020304" pitchFamily="18" charset="0"/>
              </a:rPr>
              <a:t> Standard Windows Keyboard, </a:t>
            </a:r>
            <a:r>
              <a:rPr lang="en-IN" sz="1200" b="1" dirty="0">
                <a:latin typeface="Times New Roman" panose="02020603050405020304" pitchFamily="18" charset="0"/>
                <a:cs typeface="Times New Roman" panose="02020603050405020304" pitchFamily="18" charset="0"/>
              </a:rPr>
              <a:t>Mouse:</a:t>
            </a:r>
            <a:r>
              <a:rPr lang="en-IN" sz="1200" dirty="0">
                <a:latin typeface="Times New Roman" panose="02020603050405020304" pitchFamily="18" charset="0"/>
                <a:cs typeface="Times New Roman" panose="02020603050405020304" pitchFamily="18" charset="0"/>
              </a:rPr>
              <a:t> Two or Three Button Mouse</a:t>
            </a:r>
            <a:r>
              <a:rPr lang="en-IN" sz="1200" dirty="0" smtClean="0">
                <a:latin typeface="Times New Roman" panose="02020603050405020304" pitchFamily="18" charset="0"/>
                <a:cs typeface="Times New Roman" panose="02020603050405020304" pitchFamily="18" charset="0"/>
              </a:rPr>
              <a:t>)</a:t>
            </a:r>
            <a:endParaRPr lang="en-IN" sz="1200" dirty="0">
              <a:latin typeface="Times New Roman" panose="02020603050405020304" pitchFamily="18" charset="0"/>
              <a:cs typeface="Times New Roman" panose="02020603050405020304" pitchFamily="18" charset="0"/>
            </a:endParaRPr>
          </a:p>
        </p:txBody>
      </p:sp>
      <p:sp>
        <p:nvSpPr>
          <p:cNvPr id="7" name="Google Shape;869;p32"/>
          <p:cNvSpPr txBox="1"/>
          <p:nvPr/>
        </p:nvSpPr>
        <p:spPr>
          <a:xfrm>
            <a:off x="1150374" y="3534349"/>
            <a:ext cx="2313032" cy="949268"/>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GB" sz="2800" b="1" dirty="0" smtClean="0">
                <a:latin typeface="Poppins Black" panose="00000800000000000000"/>
                <a:ea typeface="Poppins Black" panose="00000800000000000000"/>
                <a:cs typeface="Poppins Black" panose="00000800000000000000"/>
                <a:sym typeface="Poppins Black" panose="00000800000000000000"/>
              </a:rPr>
              <a:t>Resources</a:t>
            </a:r>
            <a:endParaRPr sz="2800" b="1" dirty="0">
              <a:latin typeface="Poppins Black" panose="00000800000000000000"/>
              <a:ea typeface="Poppins Black" panose="00000800000000000000"/>
              <a:cs typeface="Poppins Black" panose="00000800000000000000"/>
              <a:sym typeface="Poppins Black" panose="00000800000000000000"/>
            </a:endParaRPr>
          </a:p>
        </p:txBody>
      </p:sp>
      <p:sp>
        <p:nvSpPr>
          <p:cNvPr id="8" name="Google Shape;870;p32"/>
          <p:cNvSpPr/>
          <p:nvPr/>
        </p:nvSpPr>
        <p:spPr>
          <a:xfrm>
            <a:off x="4859492" y="3476064"/>
            <a:ext cx="933031" cy="821023"/>
          </a:xfrm>
          <a:prstGeom prst="ellipse">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800" b="1" dirty="0">
                <a:latin typeface="Poppins Black" panose="00000800000000000000"/>
                <a:ea typeface="Poppins Black" panose="00000800000000000000"/>
                <a:cs typeface="Poppins Black" panose="00000800000000000000"/>
                <a:sym typeface="Poppins Black" panose="00000800000000000000"/>
              </a:rPr>
              <a:t>02</a:t>
            </a:r>
            <a:endParaRPr sz="2800" b="1" dirty="0">
              <a:latin typeface="Poppins Black" panose="00000800000000000000"/>
              <a:ea typeface="Poppins Black" panose="00000800000000000000"/>
              <a:cs typeface="Poppins Black" panose="00000800000000000000"/>
              <a:sym typeface="Poppins Black" panose="00000800000000000000"/>
            </a:endParaRPr>
          </a:p>
        </p:txBody>
      </p:sp>
      <p:sp>
        <p:nvSpPr>
          <p:cNvPr id="9" name="Google Shape;871;p32"/>
          <p:cNvSpPr txBox="1"/>
          <p:nvPr/>
        </p:nvSpPr>
        <p:spPr>
          <a:xfrm>
            <a:off x="5864782" y="3415101"/>
            <a:ext cx="4178867" cy="1097531"/>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GB" sz="2400" b="1" dirty="0" smtClean="0">
                <a:latin typeface="Poppins Black" panose="00000800000000000000"/>
                <a:ea typeface="Poppins Black" panose="00000800000000000000"/>
                <a:cs typeface="Poppins Black" panose="00000800000000000000"/>
                <a:sym typeface="Poppins Black" panose="00000800000000000000"/>
              </a:rPr>
              <a:t>Software</a:t>
            </a:r>
          </a:p>
          <a:p>
            <a:pPr algn="just"/>
            <a:r>
              <a:rPr lang="en-US" sz="1400" dirty="0">
                <a:latin typeface="Times New Roman" panose="02020603050405020304" pitchFamily="18" charset="0"/>
                <a:cs typeface="Times New Roman" panose="02020603050405020304" pitchFamily="18" charset="0"/>
              </a:rPr>
              <a:t>(</a:t>
            </a:r>
            <a:r>
              <a:rPr lang="en-US" sz="1400" b="1" dirty="0">
                <a:latin typeface="Times New Roman" panose="02020603050405020304" pitchFamily="18" charset="0"/>
                <a:cs typeface="Times New Roman" panose="02020603050405020304" pitchFamily="18" charset="0"/>
              </a:rPr>
              <a:t>Operating System: </a:t>
            </a:r>
            <a:r>
              <a:rPr lang="en-US" sz="1400" dirty="0">
                <a:latin typeface="Times New Roman" panose="02020603050405020304" pitchFamily="18" charset="0"/>
                <a:cs typeface="Times New Roman" panose="02020603050405020304" pitchFamily="18" charset="0"/>
              </a:rPr>
              <a:t>Windows 10, </a:t>
            </a:r>
            <a:r>
              <a:rPr lang="en-US" sz="1400" b="1" dirty="0">
                <a:latin typeface="Times New Roman" panose="02020603050405020304" pitchFamily="18" charset="0"/>
                <a:cs typeface="Times New Roman" panose="02020603050405020304" pitchFamily="18" charset="0"/>
              </a:rPr>
              <a:t>Programming Language: </a:t>
            </a:r>
            <a:r>
              <a:rPr lang="en-US" sz="1400" dirty="0">
                <a:latin typeface="Times New Roman" panose="02020603050405020304" pitchFamily="18" charset="0"/>
                <a:cs typeface="Times New Roman" panose="02020603050405020304" pitchFamily="18" charset="0"/>
              </a:rPr>
              <a:t>Python 3.10.8, </a:t>
            </a:r>
            <a:r>
              <a:rPr lang="en-US" sz="1400" b="1" dirty="0">
                <a:latin typeface="Times New Roman" panose="02020603050405020304" pitchFamily="18" charset="0"/>
                <a:cs typeface="Times New Roman" panose="02020603050405020304" pitchFamily="18" charset="0"/>
              </a:rPr>
              <a:t>IDE: </a:t>
            </a:r>
            <a:r>
              <a:rPr lang="en-US" sz="1400" dirty="0">
                <a:latin typeface="Times New Roman" panose="02020603050405020304" pitchFamily="18" charset="0"/>
                <a:cs typeface="Times New Roman" panose="02020603050405020304" pitchFamily="18" charset="0"/>
              </a:rPr>
              <a:t>VS Code)</a:t>
            </a:r>
            <a:endParaRPr lang="en-IN" sz="1400" dirty="0">
              <a:latin typeface="Times New Roman" panose="02020603050405020304" pitchFamily="18" charset="0"/>
              <a:cs typeface="Times New Roman" panose="02020603050405020304" pitchFamily="18" charset="0"/>
            </a:endParaRPr>
          </a:p>
          <a:p>
            <a:pPr marL="0" lvl="0" indent="0" algn="l" rtl="0">
              <a:lnSpc>
                <a:spcPct val="115000"/>
              </a:lnSpc>
              <a:spcBef>
                <a:spcPts val="0"/>
              </a:spcBef>
              <a:spcAft>
                <a:spcPts val="0"/>
              </a:spcAft>
              <a:buNone/>
            </a:pPr>
            <a:endParaRPr sz="900" dirty="0">
              <a:latin typeface="Poppins Black" panose="00000800000000000000"/>
              <a:ea typeface="Poppins Black" panose="00000800000000000000"/>
              <a:cs typeface="Poppins Black" panose="00000800000000000000"/>
              <a:sym typeface="Poppins Black" panose="00000800000000000000"/>
            </a:endParaRPr>
          </a:p>
        </p:txBody>
      </p:sp>
      <p:sp>
        <p:nvSpPr>
          <p:cNvPr id="10" name="Google Shape;873;p32"/>
          <p:cNvSpPr/>
          <p:nvPr/>
        </p:nvSpPr>
        <p:spPr>
          <a:xfrm>
            <a:off x="4829996" y="5009723"/>
            <a:ext cx="933031" cy="821023"/>
          </a:xfrm>
          <a:prstGeom prst="ellipse">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800" b="1" dirty="0">
                <a:latin typeface="Poppins Black" panose="00000800000000000000"/>
                <a:ea typeface="Poppins Black" panose="00000800000000000000"/>
                <a:cs typeface="Poppins Black" panose="00000800000000000000"/>
                <a:sym typeface="Poppins Black" panose="00000800000000000000"/>
              </a:rPr>
              <a:t>03</a:t>
            </a:r>
            <a:endParaRPr sz="2800" b="1" dirty="0">
              <a:latin typeface="Poppins Black" panose="00000800000000000000"/>
              <a:ea typeface="Poppins Black" panose="00000800000000000000"/>
              <a:cs typeface="Poppins Black" panose="00000800000000000000"/>
              <a:sym typeface="Poppins Black" panose="00000800000000000000"/>
            </a:endParaRPr>
          </a:p>
        </p:txBody>
      </p:sp>
      <p:sp>
        <p:nvSpPr>
          <p:cNvPr id="11" name="Google Shape;874;p32"/>
          <p:cNvSpPr txBox="1"/>
          <p:nvPr/>
        </p:nvSpPr>
        <p:spPr>
          <a:xfrm>
            <a:off x="5776292" y="4876604"/>
            <a:ext cx="4178867" cy="1185404"/>
          </a:xfrm>
          <a:prstGeom prst="rect">
            <a:avLst/>
          </a:prstGeom>
          <a:noFill/>
          <a:ln>
            <a:noFill/>
          </a:ln>
        </p:spPr>
        <p:txBody>
          <a:bodyPr spcFirstLastPara="1" wrap="square" lIns="91425" tIns="91425" rIns="91425" bIns="91425" anchor="b" anchorCtr="0">
            <a:noAutofit/>
          </a:bodyPr>
          <a:lstStyle/>
          <a:p>
            <a:pPr marL="0" lvl="0" indent="0" algn="just" rtl="0">
              <a:lnSpc>
                <a:spcPct val="115000"/>
              </a:lnSpc>
              <a:spcBef>
                <a:spcPts val="0"/>
              </a:spcBef>
              <a:spcAft>
                <a:spcPts val="0"/>
              </a:spcAft>
              <a:buNone/>
            </a:pPr>
            <a:r>
              <a:rPr lang="en-US" sz="2400" b="1" dirty="0" smtClean="0">
                <a:latin typeface="Poppins Black" panose="00000800000000000000"/>
                <a:ea typeface="Poppins Black" panose="00000800000000000000"/>
                <a:cs typeface="Poppins Black" panose="00000800000000000000"/>
                <a:sym typeface="Poppins Black" panose="00000800000000000000"/>
              </a:rPr>
              <a:t>Packages/Libraries</a:t>
            </a:r>
          </a:p>
          <a:p>
            <a:pPr algn="just">
              <a:lnSpc>
                <a:spcPct val="115000"/>
              </a:lnSpc>
            </a:pPr>
            <a:r>
              <a:rPr lang="en-US" sz="1400" dirty="0">
                <a:latin typeface="Times New Roman" panose="02020603050405020304" pitchFamily="18" charset="0"/>
                <a:ea typeface="Poppins" panose="00000500000000000000"/>
                <a:cs typeface="Times New Roman" panose="02020603050405020304" pitchFamily="18" charset="0"/>
                <a:sym typeface="Poppins" panose="00000500000000000000"/>
              </a:rPr>
              <a:t>(</a:t>
            </a:r>
            <a:r>
              <a:rPr lang="en-US" sz="1400" dirty="0" err="1">
                <a:latin typeface="Times New Roman" panose="02020603050405020304" pitchFamily="18" charset="0"/>
                <a:ea typeface="Poppins" panose="00000500000000000000"/>
                <a:cs typeface="Times New Roman" panose="02020603050405020304" pitchFamily="18" charset="0"/>
                <a:sym typeface="Poppins" panose="00000500000000000000"/>
              </a:rPr>
              <a:t>Streamlit</a:t>
            </a:r>
            <a:r>
              <a:rPr lang="en-US" sz="1400" dirty="0">
                <a:latin typeface="Times New Roman" panose="02020603050405020304" pitchFamily="18" charset="0"/>
                <a:ea typeface="Poppins" panose="00000500000000000000"/>
                <a:cs typeface="Times New Roman" panose="02020603050405020304" pitchFamily="18" charset="0"/>
                <a:sym typeface="Poppins" panose="00000500000000000000"/>
              </a:rPr>
              <a:t>, </a:t>
            </a:r>
            <a:r>
              <a:rPr lang="en-US" sz="1400" dirty="0" err="1">
                <a:latin typeface="Times New Roman" panose="02020603050405020304" pitchFamily="18" charset="0"/>
                <a:ea typeface="Poppins" panose="00000500000000000000"/>
                <a:cs typeface="Times New Roman" panose="02020603050405020304" pitchFamily="18" charset="0"/>
                <a:sym typeface="Poppins" panose="00000500000000000000"/>
              </a:rPr>
              <a:t>Sklearn</a:t>
            </a:r>
            <a:r>
              <a:rPr lang="en-US" sz="1400" dirty="0">
                <a:latin typeface="Times New Roman" panose="02020603050405020304" pitchFamily="18" charset="0"/>
                <a:ea typeface="Poppins" panose="00000500000000000000"/>
                <a:cs typeface="Times New Roman" panose="02020603050405020304" pitchFamily="18" charset="0"/>
                <a:sym typeface="Poppins" panose="00000500000000000000"/>
              </a:rPr>
              <a:t>, Transformers, </a:t>
            </a:r>
            <a:r>
              <a:rPr lang="en-US" sz="1400" dirty="0" err="1">
                <a:latin typeface="Times New Roman" panose="02020603050405020304" pitchFamily="18" charset="0"/>
                <a:ea typeface="Poppins" panose="00000500000000000000"/>
                <a:cs typeface="Times New Roman" panose="02020603050405020304" pitchFamily="18" charset="0"/>
                <a:sym typeface="Poppins" panose="00000500000000000000"/>
              </a:rPr>
              <a:t>Tensorflow</a:t>
            </a:r>
            <a:r>
              <a:rPr lang="en-US" sz="1400" dirty="0">
                <a:latin typeface="Times New Roman" panose="02020603050405020304" pitchFamily="18" charset="0"/>
                <a:ea typeface="Poppins" panose="00000500000000000000"/>
                <a:cs typeface="Times New Roman" panose="02020603050405020304" pitchFamily="18" charset="0"/>
                <a:sym typeface="Poppins" panose="00000500000000000000"/>
              </a:rPr>
              <a:t>, Pandas, </a:t>
            </a:r>
            <a:r>
              <a:rPr lang="en-US" sz="1400" dirty="0" err="1">
                <a:latin typeface="Times New Roman" panose="02020603050405020304" pitchFamily="18" charset="0"/>
                <a:ea typeface="Poppins" panose="00000500000000000000"/>
                <a:cs typeface="Times New Roman" panose="02020603050405020304" pitchFamily="18" charset="0"/>
                <a:sym typeface="Poppins" panose="00000500000000000000"/>
              </a:rPr>
              <a:t>Seaborn</a:t>
            </a:r>
            <a:r>
              <a:rPr lang="en-US" sz="1400" dirty="0">
                <a:latin typeface="Times New Roman" panose="02020603050405020304" pitchFamily="18" charset="0"/>
                <a:ea typeface="Poppins" panose="00000500000000000000"/>
                <a:cs typeface="Times New Roman" panose="02020603050405020304" pitchFamily="18" charset="0"/>
                <a:sym typeface="Poppins" panose="00000500000000000000"/>
              </a:rPr>
              <a:t>, Speech Recognition</a:t>
            </a:r>
          </a:p>
          <a:p>
            <a:pPr marL="0" lvl="0" indent="0" algn="just" rtl="0">
              <a:lnSpc>
                <a:spcPct val="115000"/>
              </a:lnSpc>
              <a:spcBef>
                <a:spcPts val="0"/>
              </a:spcBef>
              <a:spcAft>
                <a:spcPts val="0"/>
              </a:spcAft>
              <a:buNone/>
            </a:pPr>
            <a:endParaRPr sz="1050" dirty="0">
              <a:latin typeface="Poppins Black" panose="00000800000000000000"/>
              <a:ea typeface="Poppins Black" panose="00000800000000000000"/>
              <a:cs typeface="Poppins Black" panose="00000800000000000000"/>
              <a:sym typeface="Poppins Black" panose="00000800000000000000"/>
            </a:endParaRPr>
          </a:p>
        </p:txBody>
      </p:sp>
      <p:cxnSp>
        <p:nvCxnSpPr>
          <p:cNvPr id="13" name="Google Shape;878;p32"/>
          <p:cNvCxnSpPr>
            <a:stCxn id="7" idx="3"/>
            <a:endCxn id="5" idx="2"/>
          </p:cNvCxnSpPr>
          <p:nvPr/>
        </p:nvCxnSpPr>
        <p:spPr>
          <a:xfrm flipV="1">
            <a:off x="3463406" y="2532647"/>
            <a:ext cx="1428631" cy="1476336"/>
          </a:xfrm>
          <a:prstGeom prst="curvedConnector3">
            <a:avLst>
              <a:gd name="adj1" fmla="val 50000"/>
            </a:avLst>
          </a:prstGeom>
          <a:noFill/>
          <a:ln w="41275" cap="flat" cmpd="sng">
            <a:solidFill>
              <a:schemeClr val="accent1">
                <a:lumMod val="75000"/>
              </a:schemeClr>
            </a:solidFill>
            <a:prstDash val="dot"/>
            <a:round/>
            <a:headEnd type="none" w="med" len="med"/>
            <a:tailEnd type="none" w="med" len="med"/>
          </a:ln>
        </p:spPr>
      </p:cxnSp>
      <p:cxnSp>
        <p:nvCxnSpPr>
          <p:cNvPr id="14" name="Google Shape;879;p32"/>
          <p:cNvCxnSpPr>
            <a:stCxn id="7" idx="3"/>
            <a:endCxn id="8" idx="2"/>
          </p:cNvCxnSpPr>
          <p:nvPr/>
        </p:nvCxnSpPr>
        <p:spPr>
          <a:xfrm flipV="1">
            <a:off x="3463406" y="3886576"/>
            <a:ext cx="1396086" cy="122407"/>
          </a:xfrm>
          <a:prstGeom prst="curvedConnector3">
            <a:avLst>
              <a:gd name="adj1" fmla="val 50000"/>
            </a:avLst>
          </a:prstGeom>
          <a:noFill/>
          <a:ln w="41275" cap="flat" cmpd="sng">
            <a:solidFill>
              <a:schemeClr val="accent1">
                <a:lumMod val="75000"/>
              </a:schemeClr>
            </a:solidFill>
            <a:prstDash val="dot"/>
            <a:round/>
            <a:headEnd type="none" w="med" len="med"/>
            <a:tailEnd type="none" w="med" len="med"/>
          </a:ln>
        </p:spPr>
      </p:cxnSp>
      <p:cxnSp>
        <p:nvCxnSpPr>
          <p:cNvPr id="15" name="Google Shape;880;p32"/>
          <p:cNvCxnSpPr>
            <a:stCxn id="7" idx="3"/>
            <a:endCxn id="10" idx="2"/>
          </p:cNvCxnSpPr>
          <p:nvPr/>
        </p:nvCxnSpPr>
        <p:spPr>
          <a:xfrm>
            <a:off x="3463406" y="4008983"/>
            <a:ext cx="1366590" cy="1411252"/>
          </a:xfrm>
          <a:prstGeom prst="curvedConnector3">
            <a:avLst>
              <a:gd name="adj1" fmla="val 50000"/>
            </a:avLst>
          </a:prstGeom>
          <a:noFill/>
          <a:ln w="41275" cap="flat" cmpd="sng">
            <a:solidFill>
              <a:schemeClr val="accent1">
                <a:lumMod val="75000"/>
              </a:schemeClr>
            </a:solidFill>
            <a:prstDash val="dot"/>
            <a:round/>
            <a:headEnd type="none" w="med" len="med"/>
            <a:tailEnd type="none" w="med" len="med"/>
          </a:ln>
        </p:spPr>
      </p:cxnSp>
      <p:sp>
        <p:nvSpPr>
          <p:cNvPr id="16" name="Google Shape;892;p34"/>
          <p:cNvSpPr/>
          <p:nvPr/>
        </p:nvSpPr>
        <p:spPr>
          <a:xfrm>
            <a:off x="7620882" y="932687"/>
            <a:ext cx="1079404" cy="96225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Content Placeholder 2"/>
          <p:cNvSpPr txBox="1"/>
          <p:nvPr/>
        </p:nvSpPr>
        <p:spPr>
          <a:xfrm>
            <a:off x="1319939" y="1911179"/>
            <a:ext cx="9792904" cy="4176583"/>
          </a:xfrm>
          <a:prstGeom prst="rect">
            <a:avLst/>
          </a:prstGeom>
        </p:spPr>
        <p:txBody>
          <a:bodyPr>
            <a:normAutofit lnSpcReduction="10000"/>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algn="just" fontAlgn="base">
              <a:lnSpc>
                <a:spcPct val="150000"/>
              </a:lnSpc>
            </a:pPr>
            <a:r>
              <a:rPr lang="en-US" sz="2000" dirty="0">
                <a:solidFill>
                  <a:schemeClr val="tx1"/>
                </a:solidFill>
                <a:latin typeface="Times New Roman" panose="02020603050405020304" pitchFamily="18" charset="0"/>
                <a:cs typeface="Times New Roman" panose="02020603050405020304" pitchFamily="18" charset="0"/>
              </a:rPr>
              <a:t>Requirement’s analysis is very critical process that enables the success of a system or software project to be assessed. Requirements are generally split into two types: Functional and non-functional requirements.</a:t>
            </a:r>
          </a:p>
          <a:p>
            <a:pPr algn="just" fontAlgn="base">
              <a:lnSpc>
                <a:spcPct val="150000"/>
              </a:lnSpc>
            </a:pPr>
            <a:r>
              <a:rPr lang="en-US" sz="2000" b="1" dirty="0">
                <a:solidFill>
                  <a:schemeClr val="tx1"/>
                </a:solidFill>
                <a:latin typeface="Times New Roman" panose="02020603050405020304" pitchFamily="18" charset="0"/>
                <a:cs typeface="Times New Roman" panose="02020603050405020304" pitchFamily="18" charset="0"/>
              </a:rPr>
              <a:t>Functional Requirements</a:t>
            </a:r>
            <a:r>
              <a:rPr lang="en-US" sz="2000" dirty="0">
                <a:solidFill>
                  <a:schemeClr val="tx1"/>
                </a:solidFill>
                <a:latin typeface="Times New Roman" panose="02020603050405020304" pitchFamily="18" charset="0"/>
                <a:cs typeface="Times New Roman" panose="02020603050405020304" pitchFamily="18" charset="0"/>
              </a:rPr>
              <a:t>: These are the requirements that the end user specifically demands as basic facilities that the system should offer. All these functionalities need to be necessarily incorporated into the system as a part of the contract. These are represented or stated in the form of input to be given to the system, the operation performed and the output expected. They are basically the requirements stated by the user which one can see directly in the final product, unlike the non-functional requirements.</a:t>
            </a:r>
          </a:p>
        </p:txBody>
      </p:sp>
      <p:sp>
        <p:nvSpPr>
          <p:cNvPr id="3" name="Title 1"/>
          <p:cNvSpPr txBox="1"/>
          <p:nvPr/>
        </p:nvSpPr>
        <p:spPr>
          <a:xfrm>
            <a:off x="1492935" y="759119"/>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solidFill>
                  <a:schemeClr val="tx1"/>
                </a:solidFill>
                <a:latin typeface="Times New Roman" panose="02020603050405020304" pitchFamily="18" charset="0"/>
                <a:cs typeface="Times New Roman" panose="02020603050405020304" pitchFamily="18" charset="0"/>
              </a:rPr>
              <a:t> FUNCTIONAL AND NON-FUNCTIONAL REQUIREMENTS</a:t>
            </a:r>
            <a:endParaRPr lang="en-US" sz="36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Content Placeholder 2"/>
          <p:cNvSpPr txBox="1"/>
          <p:nvPr/>
        </p:nvSpPr>
        <p:spPr>
          <a:xfrm>
            <a:off x="1070918" y="1672282"/>
            <a:ext cx="10412628" cy="4547286"/>
          </a:xfrm>
          <a:prstGeom prst="rect">
            <a:avLst/>
          </a:prstGeom>
        </p:spPr>
        <p:txBody>
          <a:bodyPr>
            <a:normAutofit lnSpcReduction="10000"/>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algn="just" fontAlgn="base">
              <a:lnSpc>
                <a:spcPct val="150000"/>
              </a:lnSpc>
            </a:pPr>
            <a:r>
              <a:rPr lang="en-US" sz="2000" dirty="0">
                <a:solidFill>
                  <a:schemeClr val="tx1"/>
                </a:solidFill>
                <a:latin typeface="Times New Roman" panose="02020603050405020304" pitchFamily="18" charset="0"/>
                <a:cs typeface="Times New Roman" panose="02020603050405020304" pitchFamily="18" charset="0"/>
              </a:rPr>
              <a:t>Examples of functional requirements: </a:t>
            </a:r>
          </a:p>
          <a:p>
            <a:pPr lvl="0" algn="just" fontAlgn="base">
              <a:lnSpc>
                <a:spcPct val="150000"/>
              </a:lnSpc>
            </a:pPr>
            <a:r>
              <a:rPr lang="en-US" sz="2000" dirty="0">
                <a:solidFill>
                  <a:schemeClr val="tx1"/>
                </a:solidFill>
                <a:latin typeface="Times New Roman" panose="02020603050405020304" pitchFamily="18" charset="0"/>
                <a:cs typeface="Times New Roman" panose="02020603050405020304" pitchFamily="18" charset="0"/>
              </a:rPr>
              <a:t>Authentication of user whenever he/she logs into the system</a:t>
            </a:r>
          </a:p>
          <a:p>
            <a:pPr lvl="0" algn="just" fontAlgn="base">
              <a:lnSpc>
                <a:spcPct val="150000"/>
              </a:lnSpc>
            </a:pPr>
            <a:r>
              <a:rPr lang="en-US" sz="2000" dirty="0">
                <a:solidFill>
                  <a:schemeClr val="tx1"/>
                </a:solidFill>
                <a:latin typeface="Times New Roman" panose="02020603050405020304" pitchFamily="18" charset="0"/>
                <a:cs typeface="Times New Roman" panose="02020603050405020304" pitchFamily="18" charset="0"/>
              </a:rPr>
              <a:t>System shutdown in case of a cyber-attack</a:t>
            </a:r>
          </a:p>
          <a:p>
            <a:pPr lvl="0" algn="just" fontAlgn="base">
              <a:lnSpc>
                <a:spcPct val="150000"/>
              </a:lnSpc>
            </a:pPr>
            <a:r>
              <a:rPr lang="en-US" sz="2000" dirty="0">
                <a:solidFill>
                  <a:schemeClr val="tx1"/>
                </a:solidFill>
                <a:latin typeface="Times New Roman" panose="02020603050405020304" pitchFamily="18" charset="0"/>
                <a:cs typeface="Times New Roman" panose="02020603050405020304" pitchFamily="18" charset="0"/>
              </a:rPr>
              <a:t>A verification email is sent to user whenever he/she register for the first time on some software system.</a:t>
            </a:r>
          </a:p>
          <a:p>
            <a:pPr algn="just">
              <a:lnSpc>
                <a:spcPct val="150000"/>
              </a:lnSpc>
            </a:pPr>
            <a:r>
              <a:rPr lang="en-US" sz="2000" b="1" dirty="0">
                <a:solidFill>
                  <a:schemeClr val="tx1"/>
                </a:solidFill>
                <a:latin typeface="Times New Roman" panose="02020603050405020304" pitchFamily="18" charset="0"/>
                <a:cs typeface="Times New Roman" panose="02020603050405020304" pitchFamily="18" charset="0"/>
              </a:rPr>
              <a:t>Non-functional requirements</a:t>
            </a:r>
            <a:r>
              <a:rPr lang="en-US" sz="2000" dirty="0">
                <a:solidFill>
                  <a:schemeClr val="tx1"/>
                </a:solidFill>
                <a:latin typeface="Times New Roman" panose="02020603050405020304" pitchFamily="18" charset="0"/>
                <a:cs typeface="Times New Roman" panose="02020603050405020304" pitchFamily="18" charset="0"/>
              </a:rPr>
              <a:t>: These are basically the quality constraints that the system must satisfy according to the project contract. The priority or extent to which these factors are implemented varies from one project to other. They are also called non-behavioral requirements.</a:t>
            </a:r>
            <a:br>
              <a:rPr lang="en-US" sz="2000" dirty="0">
                <a:solidFill>
                  <a:schemeClr val="tx1"/>
                </a:solidFill>
                <a:latin typeface="Times New Roman" panose="02020603050405020304" pitchFamily="18" charset="0"/>
                <a:cs typeface="Times New Roman" panose="02020603050405020304" pitchFamily="18" charset="0"/>
              </a:rPr>
            </a:b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3" name="Title 1"/>
          <p:cNvSpPr txBox="1"/>
          <p:nvPr/>
        </p:nvSpPr>
        <p:spPr>
          <a:xfrm>
            <a:off x="1476459" y="520222"/>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solidFill>
                  <a:schemeClr val="tx1"/>
                </a:solidFill>
                <a:latin typeface="Times New Roman" panose="02020603050405020304" pitchFamily="18" charset="0"/>
                <a:cs typeface="Times New Roman" panose="02020603050405020304" pitchFamily="18" charset="0"/>
              </a:rPr>
              <a:t> FUNCTIONAL AND NON-FUNCTIONAL REQUIREMENTS</a:t>
            </a:r>
            <a:endParaRPr lang="en-US" sz="36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186183" y="451728"/>
            <a:ext cx="3538280" cy="490807"/>
          </a:xfrm>
        </p:spPr>
        <p:txBody>
          <a:bodyPr>
            <a:normAutofit/>
          </a:bodyPr>
          <a:lstStyle/>
          <a:p>
            <a:pPr algn="ctr"/>
            <a:r>
              <a:rPr lang="en-US" sz="2400" b="1" dirty="0">
                <a:solidFill>
                  <a:schemeClr val="tx2"/>
                </a:solidFill>
                <a:latin typeface="Times New Roman" panose="02020603050405020304" pitchFamily="18" charset="0"/>
                <a:cs typeface="Times New Roman" panose="02020603050405020304" pitchFamily="18" charset="0"/>
              </a:rPr>
              <a:t>ARCHITECTURE</a:t>
            </a:r>
          </a:p>
        </p:txBody>
      </p:sp>
      <p:sp>
        <p:nvSpPr>
          <p:cNvPr id="5" name="AutoShape 4" descr="data:image/png;base64,iVBORw0KGgoAAAANSUhEUgAAC1gAAAc4CAYAAACf54akAAAAAXNSR0IArs4c6QAAKt90RVh0bXhmaWxlACUzQ214R3JhcGhNb2RlbCUzRSUzQ3Jvb3QlM0UlM0NteENlbGwlMjBpZCUzRCUyMjAlMjIlMkYlM0UlM0NteENlbGwlMjBpZCUzRCUyMjElMjIlMjBwYXJlbnQlM0QlMjIwJTIyJTJGJTNFJTNDbXhDZWxsJTIwaWQlM0QlMjIyJTIyJTIwdmFsdWUlM0QlMjIlMjIlMjBzdHlsZSUzRCUyMmdyb3VwJTNCJTIyJTIwdmVydGV4JTNEJTIyMSUyMiUyMGNvbm5lY3RhYmxlJTNEJTIyMCUyMiUyMHBhcmVudCUzRCUyMjElMjIlM0UlM0NteEdlb21ldHJ5JTIweCUzRCUyMjExMCUyMiUyMHklM0QlMjIxMTcwJTIyJTIwd2lkdGglM0QlMjI3MDUlMjIlMjBoZWlnaHQlM0QlMjI0NDAlMjIlMjBhcyUzRCUyMmdlb21ldHJ5JTIyJTJGJTNFJTNDJTJGbXhDZWxsJTNFJTNDbXhDZWxsJTIwaWQlM0QlMjIzJTIyJTIwdmFsdWUlM0QlMjIlMjZsdCUzQmRpdiUyNmd0JTNCJTI2bHQlM0JiciUyNmd0JTNCJTI2bHQlM0IlMkZkaXYlMjZndCUzQiUyMiUyMHN0eWxlJTNEJTIycm91bmRlZCUzRDAlM0J3aGl0ZVNwYWNlJTNEd3JhcCUzQmh0bWwlM0QxJTNCJTIyJTIwdmVydGV4JTNEJTIyMSUyMiUyMHBhcmVudCUzRCUyMjIlMjIlM0UlM0NteEdlb21ldHJ5JTIweSUzRCUyMjgwJTIyJTIwd2lkdGglM0QlMjI0NTAlMjIlMjBoZWlnaHQlM0QlMjIzNjAlMjIlMjBhcyUzRCUyMmdlb21ldHJ5JTIyJTJGJTNFJTNDJTJGbXhDZWxsJTNFJTNDbXhDZWxsJTIwaWQlM0QlMjI0JTIyJTIwdmFsdWUlM0QlMjJEYXRhYmFzZSUyMiUyMHN0eWxlJTNEJTIyc2hhcGUlM0RjeWxpbmRlcjMlM0J3aGl0ZVNwYWNlJTNEd3JhcCUzQmh0bWwlM0QxJTNCYm91bmRlZExibCUzRDElM0JiYWNrZ3JvdW5kT3V0bGluZSUzRDElM0JzaXplJTNEMTUlM0JmaWxsQ29sb3IlM0QlMjNmZmU2Y2MlM0JzdHJva2VDb2xvciUzRCUyM2Q3OWIwMCUzQiUyMiUyMHZlcnRleCUzRCUyMjElMjIlMjBwYXJlbnQlM0QlMjIyJTIyJTNFJTNDbXhHZW9tZXRyeSUyMHglM0QlMjIyODAlMjIlMjB3aWR0aCUzRCUyMjgwJTIyJTIwaGVpZ2h0JTNEJTIyNjAlMjIlMjBhcyUzRCUyMmdlb21ldHJ5JTIyJTJGJTNFJTNDJTJGbXhDZWxsJTNFJTNDbXhDZWxsJTIwaWQlM0QlMjI1JTIyJTIwc3R5bGUlM0QlMjJlZGdlU3R5bGUlM0RvcnRob2dvbmFsRWRnZVN0eWxlJTNCcm91bmRlZCUzRDAlM0JvcnRob2dvbmFsTG9vcCUzRDElM0JqZXR0eVNpemUlM0RhdXRvJTNCaHRtbCUzRDElM0IlMjIlMjBlZGdlJTNEJTIyMSUyMiUyMHBhcmVudCUzRCUyMjIlMjIlMjBzb3VyY2UlM0QlMjI3JTIyJTIwdGFyZ2V0JTNEJTIyOCUyMiUzRSUzQ214R2VvbWV0cnklMjByZWxhdGl2ZSUzRCUyMjElMjIlMjBhcyUzRCUyMmdlb21ldHJ5JTIyJTNFJTNDQXJyYXklMjBhcyUzRCUyMnBvaW50cyUyMiUzRSUzQ214UG9pbnQlMjB4JTNEJTIyMjMwJTIyJTIweSUzRCUyMjMwJTIyJTJGJTNFJTNDbXhQb2ludCUyMHglM0QlMjIyMzAlMjIlMjB5JTNEJTIyMTMwJTIyJTJGJTNFJTNDJTJGQXJyYXklM0UlM0MlMkZteEdlb21ldHJ5JTNFJTNDJTJGbXhDZWxsJTNFJTNDbXhDZWxsJTIwaWQlM0QlMjI2JTIyJTIwc3R5bGUlM0QlMjJlZGdlU3R5bGUlM0RvcnRob2dvbmFsRWRnZVN0eWxlJTNCcm91bmRlZCUzRDAlM0JvcnRob2dvbmFsTG9vcCUzRDElM0JqZXR0eVNpemUlM0RhdXRvJTNCaHRtbCUzRDElM0IlMjIlMjBlZGdlJTNEJTIyMSUyMiUyMHBhcmVudCUzRCUyMjIlMjIlMjBzb3VyY2UlM0QlMjI3JTIyJTIwdGFyZ2V0JTNEJTIyMTklMjIlM0UlM0NteEdlb21ldHJ5JTIwcmVsYXRpdmUlM0QlMjIxJTIyJTIwYXMlM0QlMjJnZW9tZXRyeSUyMiUyRiUzRSUzQyUyRm14Q2VsbCUzRSUzQ214Q2VsbCUyMGlkJTNEJTIyNyUyMiUyMHZhbHVlJTNEJTIyVXNlciUyMiUyMHN0eWxlJTNEJTIycm91bmRlZCUzRDAlM0J3aGl0ZVNwYWNlJTNEd3JhcCUzQmh0bWwlM0QxJTNCZmlsbENvbG9yJTNEJTIzZmZlNmNjJTNCc3Ryb2tlQ29sb3IlM0QlMjNkNzliMDAlM0IlMjIlMjB2ZXJ0ZXglM0QlMjIxJTIyJTIwcGFyZW50JTNEJTIyMiUyMiUzRSUzQ214R2VvbWV0cnklMjB4JTNEJTIyODAlMjIlMjB5JTNEJTIyMTAlMjIlMjB3aWR0aCUzRCUyMjEyMCUyMiUyMGhlaWdodCUzRCUyMjQwJTIyJTIwYXMlM0QlMjJnZW9tZXRyeSUyMiUyRiUzRSUzQyUyRm14Q2VsbCUzRSUzQ214Q2VsbCUyMGlkJTNEJTIyOCUyMiUyMHZhbHVlJTNEJTIyUmVnaXN0ZXIlMjIlMjBzdHlsZSUzRCUyMnJvdW5kZWQlM0QxJTNCd2hpdGVTcGFjZSUzRHdyYXAlM0JodG1sJTNEMSUzQmZpbGxDb2xvciUzRCUyM2ZmZTZjYyUzQnN0cm9rZUNvbG9yJTNEJTIzZDc5YjAwJTNCJTIyJTIwdmVydGV4JTNEJTIyMSUyMiUyMHBhcmVudCUzRCUyMjIlMjIlM0UlM0NteEdlb21ldHJ5JTIweCUzRCUyMjI2MCUyMiUyMHklM0QlMjIxMTAlMjIlMjB3aWR0aCUzRCUyMjEyMCUyMiUyMGhlaWdodCUzRCUyMjQwJTIyJTIwYXMlM0QlMjJnZW9tZXRyeSUyMiUyRiUzRSUzQyUyRm14Q2VsbCUzRSUzQ214Q2VsbCUyMGlkJTNEJTIyOSUyMiUyMHN0eWxlJTNEJTIyZWRnZVN0eWxlJTNEb3J0aG9nb25hbEVkZ2VTdHlsZSUzQnJvdW5kZWQlM0QwJTNCb3J0aG9nb25hbExvb3AlM0QxJTNCamV0dHlTaXplJTNEYXV0byUzQmh0bWwlM0QxJTNCJTIyJTIwZWRnZSUzRCUyMjElMjIlMjBwYXJlbnQlM0QlMjIyJTIyJTIwc291cmNlJTNEJTIyMTQlMjIlMjB0YXJnZXQlM0QlMjIxNiUyMiUzRSUzQ214R2VvbWV0cnklMjByZWxhdGl2ZSUzRCUyMjElMjIlMjBhcyUzRCUyMmdlb21ldHJ5JTIyJTNFJTNDQXJyYXklMjBhcyUzRCUyMnBvaW50cyUyMiUzRSUzQ214UG9pbnQlMjB4JTNEJTIyMjI1JTIyJTIweSUzRCUyMjIxMCUyMiUyRiUzRSUzQ214UG9pbnQlMjB4JTNEJTIyMjI1JTIyJTIweSUzRCUyMjM0NSUyMiUyRiUzRSUzQyUyRkFycmF5JTNFJTNDJTJGbXhHZW9tZXRyeSUzRSUzQyUyRm14Q2VsbCUzRSUzQ214Q2VsbCUyMGlkJTNEJTIyMTAlMjIlMjB2YWx1ZSUzRCUyMlZhbGlkJTIwQ3JlZGVudGlhbHMlMjIlMjBzdHlsZSUzRCUyMmVkZ2VMYWJlbCUzQmh0bWwlM0QxJTNCYWxpZ24lM0RjZW50ZXIlM0J2ZXJ0aWNhbEFsaWduJTNEbWlkZGxlJTNCcmVzaXphYmxlJTNEMCUzQnBvaW50cyUzRCU1QiU1RCUzQiUyMiUyMHZlcnRleCUzRCUyMjElMjIlMjBjb25uZWN0YWJsZSUzRCUyMjAlMjIlMjBwYXJlbnQlM0QlMjI5JTIyJTNFJTNDbXhHZW9tZXRyeSUyMHglM0QlMjIwLjE0NzklMjIlMjByZWxhdGl2ZSUzRCUyMjElMjIlMjBhcyUzRCUyMmdlb21ldHJ5JTIyJTNFJTNDbXhQb2ludCUyMHglM0QlMjIyMCUyMiUyMHklM0QlMjItOTIlMjIlMjBhcyUzRCUyMm9mZnNldCUyMiUyRiUzRSUzQyUyRm14R2VvbWV0cnklM0UlM0MlMkZteENlbGwlM0UlM0NteENlbGwlMjBpZCUzRCUyMjExJTIyJTIwc3R5bGUlM0QlMjJlZGdlU3R5bGUlM0RvcnRob2dvbmFsRWRnZVN0eWxlJTNCcm91bmRlZCUzRDAlM0JvcnRob2dvbmFsTG9vcCUzRDElM0JqZXR0eVNpemUlM0RhdXRvJTNCaHRtbCUzRDElM0IlMjIlMjBlZGdlJTNEJTIyMSUyMiUyMHBhcmVudCUzRCUyMjIlMjIlMjBzb3VyY2UlM0QlMjIxNCUyMiUyMHRhcmdldCUzRCUyMjE5JTIyJTNFJTNDbXhHZW9tZXRyeSUyMHJlbGF0aXZlJTNEJTIyMSUyMiUyMGFzJTNEJTIyZ2VvbWV0cnklMjIlM0UlM0NBcnJheSUyMGFzJTNEJTIycG9pbnRzJTIyJTNFJTNDbXhQb2ludCUyMHglM0QlMjI1MCUyMiUyMHklM0QlMjIyMTAlMjIlMkYlM0UlM0NteFBvaW50JTIweCUzRCUyMjUwJTIyJTIweSUzRCUyMjEzMCUyMiUyRiUzRSUzQyUyRkFycmF5JTNFJTNDJTJGbXhHZW9tZXRyeSUzRSUzQyUyRm14Q2VsbCUzRSUzQ214Q2VsbCUyMGlkJTNEJTIyMTIlMjIlMjB2YWx1ZSUzRCUyMkludmFsaWQlMjBDcmVkZW50aWFscyUyMiUyMHN0eWxlJTNEJTIyZWRnZUxhYmVsJTNCaHRtbCUzRDElM0JhbGlnbiUzRGNlbnRlciUzQnZlcnRpY2FsQWxpZ24lM0RtaWRkbGUlM0JyZXNpemFibGUlM0QwJTNCcG9pbnRzJTNEJTVCJTVEJTNCJTIyJTIwdmVydGV4JTNEJTIyMSUyMiUyMGNvbm5lY3RhYmxlJTNEJTIyMCUyMiUyMHBhcmVudCUzRCUyMjExJTIyJTNFJTNDbXhHZW9tZXRyeSUyMHglM0QlMjItMC4wNTA4JTIyJTIweSUzRCUyMi0zJTIyJTIwcmVsYXRpdmUlM0QlMjIxJTIyJTIwYXMlM0QlMjJnZW9tZXRyeSUyMiUzRSUzQ214UG9pbnQlMjB5JTNEJTIyMSUyMiUyMGFzJTNEJTIyb2Zmc2V0JTIyJTJGJTNFJTNDJTJGbXhHZW9tZXRyeSUzRSUzQyUyRm14Q2VsbCUzRSUzQ214Q2VsbCUyMGlkJTNEJTIyMTMlMjIlMjBzdHlsZSUzRCUyMmVkZ2VTdHlsZSUzRG9ydGhvZ29uYWxFZGdlU3R5bGUlM0Jyb3VuZGVkJTNEMCUzQm9ydGhvZ29uYWxMb29wJTNEMSUzQmpldHR5U2l6ZSUzRGF1dG8lM0JodG1sJTNEMSUzQiUyMiUyMGVkZ2UlM0QlMjIxJTIyJTIwcGFyZW50JTNEJTIyMiUyMiUyMHNvdXJjZSUzRCUyMjE0JTIyJTIwdGFyZ2V0JTNEJTIyMTUlMjIlM0UlM0NteEdlb21ldHJ5JTIwcmVsYXRpdmUlM0QlMjIxJTIyJTIwYXMlM0QlMjJnZW9tZXRyeSUyMiUyRiUzRSUzQyUyRm14Q2VsbCUzRSUzQ214Q2VsbCUyMGlkJTNEJTIyMTQlMjIlMjB2YWx1ZSUzRCUyMkNyZWRlbnRpYWxzJTIyJTIwc3R5bGUlM0QlMjJyaG9tYnVzJTNCd2hpdGVTcGFjZSUzRHdyYXAlM0JodG1sJTNEMSUzQmZpbGxDb2xvciUzRCUyM2ZmZTZjYyUzQnN0cm9rZUNvbG9yJTNEJTIzZDc5YjAwJTNCJTIyJTIwdmVydGV4JTNEJTIyMSUyMiUyMHBhcmVudCUzRCUyMjIlMjIlM0UlM0NteEdlb21ldHJ5JTIweCUzRCUyMjgwJTIyJTIweSUzRCUyMjE5MCUyMiUyMHdpZHRoJTNEJTIyMTIwJTIyJTIwaGVpZ2h0JTNEJTIyNDAlMjIlMjBhcyUzRCUyMmdlb21ldHJ5JTIyJTJGJTNFJTNDJTJGbXhDZWxsJTNFJTNDbXhDZWxsJTIwaWQlM0QlMjIxNSUyMiUyMHZhbHVlJTNEJTIyJTI2bHQlM0JkaXYlMjBzdHlsZSUzRCUyNnF1b3QlM0J0ZXh0LWFsaWduJTNBJTIwY2VudGVyJTNCJTI2cXVvdCUzQiUyNmd0JTNCJTI2bHQlM0JzcGFuJTIwc3R5bGUlM0QlMjZxdW90JTNCYmFja2dyb3VuZC1jb2xvciUzQSUyMGluaXRpYWwlM0IlMjZxdW90JTNCJTI2Z3QlM0JTeXN0ZW0lMjZsdCUzQiUyRnNwYW4lMjZndCUzQiUyNmx0JTNCJTJGZGl2JTI2Z3QlM0IlMjZsdCUzQmRpdiUyMHN0eWxlJTNEJTI2cXVvdCUzQnRleHQtYWxpZ24lM0ElMjBjZW50ZXIlM0IlMjZxdW90JTNCJTI2Z3QlM0IlMjZsdCUzQmJyJTI2Z3QlM0IlMjZsdCUzQiUyRmRpdiUyNmd0JTNCJTI2bHQlM0JkaXYlMjBzdHlsZSUzRCUyNnF1b3QlM0IlMjZxdW90JTNCJTI2Z3QlM0IlMjZsdCUzQnVsJTI2Z3QlM0IlMjZsdCUzQmxpJTI2Z3QlM0JEYXRhJTIwY29sbGVjdGlvbiUyNmx0JTNCJTJGbGklMjZndCUzQiUyNmx0JTNCbGklMjZndCUzQkRhdGElMjBwcmVwcm9jZXNzJTI2bHQlM0IlMkZsaSUyNmd0JTNCJTI2bHQlM0JsaSUyNmd0JTNCRGF0YSUyMHNwbGl0dGluZyUyNmx0JTNCJTJGbGklMjZndCUzQiUyNmx0JTNCbGklMjZndCUzQiUyNmx0JTNCc3BhbiUyMHN0eWxlJTNEJTI2cXVvdCUzQmJhY2tncm91bmQtY29sb3IlM0ElMjBpbml0aWFsJTNCJTI2cXVvdCUzQiUyNmd0JTNCTW9kZWwlMjBidWlsZGluZyUyNmFtcCUzQm5ic3AlM0IlMjZsdCUzQmJyJTI2Z3QlM0IlMjZsdCUzQiUyRnNwYW4lMjZndCUzQiUyNmx0JTNCc3BhbiUyMHN0eWxlJTNEJTI2cXVvdCUzQmJhY2tncm91bmQtY29sb3IlM0ElMjBpbml0aWFsJTNCJTI2cXVvdCUzQiUyNmd0JTNCd2l0aCUyNmFtcCUzQm5ic3AlM0IlMjZsdCUzQiUyRnNwYW4lMjZndCUzQlNWQyUyQyUyNmFtcCUzQm5ic3AlM0IlMjZsdCUzQnNwYW4lMjBzdHlsZSUzRCUyNnF1b3QlM0JiYWNrZ3JvdW5kLWNvbG9yJTNBJTIwaW5pdGlhbCUzQiUyNnF1b3QlM0IlMjZndCUzQkRUJTJDJTI2YW1wJTNCbmJzcCUzQiUyNmx0JTNCJTJGc3BhbiUyNmd0JTNCJTI2bHQlM0JzcGFuJTIwc3R5bGUlM0QlMjZxdW90JTNCYmFja2dyb3VuZC1jb2xvciUzQSUyMGluaXRpYWwlM0IlMjZxdW90JTNCJTI2Z3QlM0JSRiUyQyUyNmFtcCUzQm5ic3AlM0IlMjZsdCUzQiUyRnNwYW4lMjZndCUzQiUyNmx0JTNCc3BhbiUyMHN0eWxlJTNEJTI2cXVvdCUzQmJhY2tncm91bmQtY29sb3IlM0ElMjBpbml0aWFsJTNCJTI2cXVvdCUzQiUyNmd0JTNCR05CJTJDJTI2YW1wJTNCbmJzcCUzQiUyNmx0JTNCYnIlMjZndCUzQiUyNmx0JTNCJTJGc3BhbiUyNmd0JTNCQWRhQm9vc3QlMkMlMjZhbXAlM0JuYnNwJTNCJTI2bHQlM0JzcGFuJTIwc3R5bGUlM0QlMjZxdW90JTNCYmFja2dyb3VuZC1jb2xvciUzQSUyMGluaXRpYWwlM0IlMjZxdW90JTNCJTI2Z3QlM0JYR0Jvb3N0JTJDJTI2YW1wJTNCbmJzcCUzQiUyNmx0JTNCJTJGc3BhbiUyNmd0JTNCJTI2bHQlM0JzcGFuJTIwc3R5bGUlM0QlMjZxdW90JTNCYmFja2dyb3VuZC1jb2xvciUzQSUyMGluaXRpYWwlM0IlMjZxdW90JTNCJTI2Z3QlM0JMUiUyNmx0JTNCJTJGc3BhbiUyNmd0JTNCJTI2bHQlM0IlMkZsaSUyNmd0JTNCJTI2bHQlM0JsaSUyNmd0JTNCJTI2bHQlM0JzcGFuJTIwc3R5bGUlM0QlMjZxdW90JTNCYmFja2dyb3VuZC1jb2xvciUzQSUyMGluaXRpYWwlM0IlMjZxdW90JTNCJTI2Z3QlM0JHZXQlMjBpbnB1dCUyMGRhdGElMjZsdCUzQiUyRnNwYW4lMjZndCUzQiUyNmx0JTNCJTJGbGklMjZndCUzQiUyNmx0JTNCbGklMjZndCUzQiUyNmx0JTNCc3BhbiUyMHN0eWxlJTNEJTI2cXVvdCUzQmJhY2tncm91bmQtY29sb3IlM0ElMjBpbml0aWFsJTNCJTI2cXVvdCUzQiUyNmd0JTNCTW9kZWwlMjBwcmVkaWN0aW9uJTI2bHQlM0IlMkZzcGFuJTI2Z3QlM0IlMjZsdCUzQiUyRmxpJTI2Z3QlM0IlMjZsdCUzQiUyRnVsJTI2Z3QlM0IlMjZsdCUzQiUyRmRpdiUyNmd0JTNCJTIyJTIwc3R5bGUlM0QlMjJyb3VuZGVkJTNEMSUzQndoaXRlU3BhY2UlM0R3cmFwJTNCaHRtbCUzRDElM0JhbGlnbiUzRGxlZnQlM0JmaWxsQ29sb3IlM0QlMjNmZmU2Y2MlM0JzdHJva2VDb2xvciUzRCUyM2Q3OWIwMCUzQiUyMiUyMHZlcnRleCUzRCUyMjElMjIlMjBwYXJlbnQlM0QlMjIyJTIyJTNFJTNDbXhHZW9tZXRyeSUyMHglM0QlMjIyMzUlMjIlMjB5JTNEJTIyMjQwJTIyJTIwd2lkdGglM0QlMjIyMDUlMjIlMjBoZWlnaHQlM0QlMjIxNzAlMjIlMjBhcyUzRCUyMmdlb21ldHJ5JTIyJTJGJTNFJTNDJTJGbXhDZWxsJTNFJTNDbXhDZWxsJTIwaWQlM0QlMjIxNiUyMiUyMHZhbHVlJTNEJTIyJTI2bHQlM0JkaXYlMjBzdHlsZSUzRCUyNnF1b3QlM0J0ZXh0LWFsaWduJTNBJTIwY2VudGVyJTNCJTI2cXVvdCUzQiUyNmd0JTNCJTI2bHQlM0JzcGFuJTIwc3R5bGUlM0QlMjZxdW90JTNCYmFja2dyb3VuZC1jb2xvciUzQSUyMGluaXRpYWwlM0IlMjZxdW90JTNCJTI2Z3QlM0IlMjZsdCUzQnNwYW4lMjBzdHlsZSUzRCUyNnF1b3QlM0J3aGl0ZS1zcGFjZSUzQSUyMHByZSUzQiUyNnF1b3QlM0IlMjZndCUzQiUyNiUyMzklM0IlMjZsdCUzQiUyRnNwYW4lMjZndCUzQiUyNmFtcCUzQm5ic3AlM0IlMjAlMjZhbXAlM0JuYnNwJTNCJTIwJTI2YW1wJTNCbmJzcCUzQlVzZXIlMjZsdCUzQiUyRnNwYW4lMjZndCUzQiUyNmx0JTNCJTJGZGl2JTI2Z3QlM0IlMjZsdCUzQmRpdiUyMHN0eWxlJTNEJTI2cXVvdCUzQnRleHQtYWxpZ24lM0ElMjBjZW50ZXIlM0IlMjZxdW90JTNCJTI2Z3QlM0IlMjZsdCUzQnNwYW4lMjBzdHlsZSUzRCUyNnF1b3QlM0JiYWNrZ3JvdW5kLWNvbG9yJTNBJTIwaW5pdGlhbCUzQiUyNnF1b3QlM0IlMjZndCUzQiUyNmx0JTNCYnIlMjZndCUzQiUyNmx0JTNCJTJGc3BhbiUyNmd0JTNCJTI2bHQlM0IlMkZkaXYlMjZndCUzQiUyNmx0JTNCZGl2JTI2Z3QlM0IlMjZsdCUzQmRpdiUyNmd0JTNCJTI2bHQlM0J1bCUyNmd0JTNCJTI2bHQlM0JsaSUyNmd0JTNCSW5wdXQlMjBkYXRhJTI2bHQlM0IlMkZsaSUyNmd0JTNCJTI2bHQlM0JsaSUyNmd0JTNCR2V0JTIwcmVzdWx0JTI2bHQlM0IlMkZsaSUyNmd0JTNCJTI2bHQlM0JsaSUyNmd0JTNCTG9nb3V0JTI2bHQlM0IlMkZsaSUyNmd0JTNCJTI2bHQlM0IlMkZ1bCUyNmd0JTNCJTI2bHQlM0IlMkZkaXYlMjZndCUzQiUyNmx0JTNCJTJGZGl2JTI2Z3QlM0IlMjIlMjBzdHlsZSUzRCUyMnJvdW5kZWQlM0QxJTNCd2hpdGVTcGFjZSUzRHdyYXAlM0JodG1sJTNEMSUzQmFsaWduJTNEbGVmdCUzQmZpbGxDb2xvciUzRCUyM2ZmZTZjYyUzQnN0cm9rZUNvbG9yJTNEJTIzZDc5YjAwJTNCJTIyJTIwdmVydGV4JTNEJTIyMSUyMiUyMHBhcmVudCUzRCUyMjIlMjIlM0UlM0NteEdlb21ldHJ5JTIweCUzRCUyMjU1JTIyJTIweSUzRCUyMjI4MCUyMiUyMHdpZHRoJTNEJTIyMTQ1JTIyJTIwaGVpZ2h0JTNEJTIyMTIwJTIyJTIwYXMlM0QlMjJnZW9tZXRyeSUyMiUyRiUzRSUzQyUyRm14Q2VsbCUzRSUzQ214Q2VsbCUyMGlkJTNEJTIyMTclMjIlMjB2YWx1ZSUzRCUyMlJlc3VsdCUyMChDbGFzc2lmaWNhdGlvbnMpJTIyJTIwc3R5bGUlM0QlMjJzd2ltbGFuZSUzQndoaXRlU3BhY2UlM0R3cmFwJTNCaHRtbCUzRDElM0JmaWxsQ29sb3IlM0QlMjNmZmU2Y2MlM0JzdHJva2VDb2xvciUzRCUyM2Q3OWIwMCUzQiUyMiUyMHZlcnRleCUzRCUyMjElMjIlMjBwYXJlbnQlM0QlMjIyJTIyJTNFJTNDbXhHZW9tZXRyeSUyMHglM0QlMjI1MDUlMjIlMjB5JTNEJTIyMjEwJTIyJTIwd2lkdGglM0QlMjIyMDAlMjIlMjBoZWlnaHQlM0QlMjIxMDAlMjIlMjBhcyUzRCUyMmdlb21ldHJ5JTIyJTJGJTNFJTNDJTJGbXhDZWxsJTNFJTNDbXhDZWxsJTIwaWQlM0QlMjIxOCUyMiUyMHZhbHVlJTNEJTIyJTI2bHQlM0JkaXYlMjBzdHlsZSUzRCUyNnF1b3QlM0IlMjZxdW90JTNCJTI2Z3QlM0IlMjZsdCUzQmRpdiUyNmd0JTNCJTI2bHQlM0Jmb250JTIwZmFjZSUzRCUyNnF1b3QlM0JDb25zb2xhcyUyQyUyMENvdXJpZXIlMjBOZXclMkMlMjBtb25vc3BhY2UlMjZxdW90JTNCJTI2Z3QlM0IlMjZsdCUzQnNwYW4lMjBzdHlsZSUzRCUyNnF1b3QlM0J3aGl0ZS1zcGFjZS1jb2xsYXBzZSUzQSUyMHByZXNlcnZlJTNCJTIwYmFja2dyb3VuZC1jb2xvciUzQSUyMHJnYigyNTUlMkMlMjAyNTUlMkMlMjAyNTUpJTNCJTI2cXVvdCUzQiUyNmd0JTNCJTIwMS5JcyUyMEZyYXVkJTIwb3IlMjBub3QlMjZsdCUzQiUyRnNwYW4lMjZndCUzQiUyNmx0JTNCJTJGZm9udCUyNmd0JTNCJTI2bHQlM0IlMkZkaXYlMjZndCUzQiUyNmx0JTNCZGl2JTI2Z3QlM0IlMjZsdCUzQmZvbnQlMjBmYWNlJTNEJTI2cXVvdCUzQkNvbnNvbGFzJTJDJTIwQ291cmllciUyME5ldyUyQyUyMG1vbm9zcGFjZSUyNnF1b3QlM0IlMjZndCUzQiUyNmx0JTNCc3BhbiUyMHN0eWxlJTNEJTI2cXVvdCUzQndoaXRlLXNwYWNlLWNvbGxhcHNlJTNBJTIwcHJlc2VydmUlM0IlMjBiYWNrZ3JvdW5kLWNvbG9yJTNBJTIwcmdiKDI1NSUyQyUyMDI1NSUyQyUyMDI1NSklM0IlMjZxdW90JTNCJTI2Z3QlM0IlMjZsdCUzQmJyJTI2Z3QlM0IlMjZsdCUzQiUyRnNwYW4lMjZndCUzQiUyNmx0JTNCJTJGZm9udCUyNmd0JTNCJTI2bHQlM0IlMkZkaXYlMjZndCUzQiUyNmx0JTNCJTJGZGl2JTI2Z3QlM0IlMjIlMjBzdHlsZSUzRCUyMnRleHQlM0JodG1sJTNEMSUzQmFsaWduJTNEbGVmdCUzQnZlcnRpY2FsQWxpZ24lM0RtaWRkbGUlM0JyZXNpemFibGUlM0QwJTNCcG9pbnRzJTNEJTVCJTVEJTNCYXV0b3NpemUlM0QxJTNCc3Ryb2tlQ29sb3IlM0QlMjNkNzliMDAlM0JmaWxsQ29sb3IlM0QlMjNmZmU2Y2MlM0IlMjIlMjB2ZXJ0ZXglM0QlMjIxJTIyJTIwcGFyZW50JTNEJTIyMTclMjIlM0UlM0NteEdlb21ldHJ5JTIweCUzRCUyMjIwJTIyJTIweSUzRCUyMjQ1JTIyJTIwd2lkdGglM0QlMjIxNDAlMjIlMjBoZWlnaHQlM0QlMjI0MCUyMiUyMGFzJTNEJTIyZ2VvbWV0cnklMjIlMkYlM0UlM0MlMkZteENlbGwlM0UlM0NteENlbGwlMjBpZCUzRCUyMjE5JTIyJTIwdmFsdWUlM0QlMjJMb2dpbiUyMiUyMHN0eWxlJTNEJTIycm91bmRlZCUzRDElM0J3aGl0ZVNwYWNlJTNEd3JhcCUzQmh0bWwlM0QxJTNCZmlsbENvbG9yJTNEJTIzZmZlNmNjJTNCc3Ryb2tlQ29sb3IlM0QlMjNkNzliMDAlM0IlMjIlMjB2ZXJ0ZXglM0QlMjIxJTIyJTIwcGFyZW50JTNEJTIyMiUyMiUzRSUzQ214R2VvbWV0cnklMjB4JTNEJTIyODAlMjIlMjB5JTNEJTIyMTEwJTIyJTIwd2lkdGglM0QlMjIxMjAlMjIlMjBoZWlnaHQlM0QlMjI0MCUyMiUyMGFzJTNEJTIyZ2VvbWV0cnklMjIlMkYlM0UlM0MlMkZteENlbGwlM0UlM0NteENlbGwlMjBpZCUzRCUyMjIwJTIyJTIwc3R5bGUlM0QlMjJlZGdlU3R5bGUlM0RvcnRob2dvbmFsRWRnZVN0eWxlJTNCcm91bmRlZCUzRDAlM0JvcnRob2dvbmFsTG9vcCUzRDElM0JqZXR0eVNpemUlM0RhdXRvJTNCaHRtbCUzRDElM0JlbnRyeVglM0QwLjUlM0JlbnRyeVklM0QxJTNCZW50cnlEeCUzRDAlM0JlbnRyeUR5JTNEMCUzQmVudHJ5UGVyaW1ldGVyJTNEMCUzQiUyMiUyMGVkZ2UlM0QlMjIxJTIyJTIwcGFyZW50JTNEJTIyMiUyMiUyMHNvdXJjZSUzRCUyMjglMjIlMjB0YXJnZXQlM0QlMjI0JTIyJTNFJTNDbXhHZW9tZXRyeSUyMHJlbGF0aXZlJTNEJTIyMSUyMiUyMGFzJTNEJTIyZ2VvbWV0cnklMjIlMkYlM0UlM0MlMkZteENlbGwlM0UlM0NteENlbGwlMjBpZCUzRCUyMjIxJTIyJTIwdmFsdWUlM0QlMjIlMjIlMjBzdHlsZSUzRCUyMmVuZEFycm93JTNEY2xhc3NpYyUzQnN0YXJ0QXJyb3clM0RjbGFzc2ljJTNCaHRtbCUzRDElM0Jyb3VuZGVkJTNEMCUzQiUyMiUyMGVkZ2UlM0QlMjIxJTIyJTIwcGFyZW50JTNEJTIyMiUyMiUzRSUzQ214R2VvbWV0cnklMjB3aWR0aCUzRCUyMjUwJTIyJTIwaGVpZ2h0JTNEJTIyNTAlMjIlMjByZWxhdGl2ZSUzRCUyMjElMjIlMjBhcyUzRCUyMmdlb21ldHJ5JTIyJTNFJTNDbXhQb2ludCUyMHglM0QlMjI0NTAlMjIlMjB5JTNEJTIyMjcwJTIyJTIwYXMlM0QlMjJzb3VyY2VQb2ludCUyMiUyRiUzRSUzQ214UG9pbnQlMjB4JTNEJTIyNTA2JTIyJTIweSUzRCUyMjI3MCUyMiUyMGFzJTNEJTIydGFyZ2V0UG9pbnQlMjIlMkYlM0UlM0MlMkZteEdlb21ldHJ5JTNFJTNDJTJGbXhDZWxsJTNFJTNDJTJGcm9vdCUzRSUzQyUyRm14R3JhcGhNb2RlbCUzRflHnAQAACAASURBVHhe7N0JlFxlmTfwp3pLujs7YQlb2EMCAVmEIIqKgNu4gcs44IImwIg4IzjMgCADCo6MwDfuJIiioM6I4PKBI6KiHygge4CwBgmQBLJ3ku6kt/rOrXSadLo7vVb1rapfndOnenmX5/09V05d5s+dTHgRIECAAAECBAgQIECAAAECBAgQIECAAAECBAgQIECAAAECBAgQIECAAAECBAgQIECAQE4gw4EAAQIECBAgQIAAAQIECBAgQIAAAQIECBAgQIAAAQIECBAgQIAAAQIECBAgQIAAAQIENgkIWLsSCBAgQIAAAQIECBAgQIAAAQIECBAgQIAAAQIECBAgQIAAAQIECBAgQIAAAQIECBAg0CEgYO1SIECAAAECBAgQIECAAAECBAgQIECAAAECBAgQIECAAAECBAgQIECAAAECBAgQIECAQIeAgLVLgQABAgQIECBAgAABAgQIECBAgAABAgQIECBAgAABAgQIECBAgAABAgQIECBAgAABAh0CAtYuBQIECBAgQIAAAQIECBAgQIAAAQIECBAgQIAAAQIECBAgQIAAAQIECBAgQIAAAQIECHQICFi7FAgQIECAAAECBAgQIECAAAECBAgQIECAAAECBAgQIECAAAECBAgQIECAAAECBAgQINAhIGDtUiBAgAABAgQIECBAgAABAgQIECBAgAABAgQIECBAgAABAgQIECBAgAABAgQIECBAgECHgIC1S4EAAQIECBAgQIAAAQIECBAgQIAAAQIECBAgQIAAAQIECBAgQIAAAQIECBAgQIAAAQIdAgLWLgUCBAgQIECAAAECBAgQIECAAAECBAgQIECAAAECBAgQIECAAAECBAgQIECAAAECBAh0CAhYuxQIECBAgAABAgQIECBAgAABAgQIECBAgAABAgQIECBAgAABAgQIECBAgAABAgQIECDQISBg7VIgQIAAAQIECBAgQIAAAQIECBAgQIAAAQIECBAgQIAAAQIECBAgQIAAAQIECBAgQIBAh4CAtUuBAAECBAgQIECAAAECBAgQIECAAAECBAgQIECAAAECBAgQIECAAAECBAgQIECAAAECHQIC1i4FAgQIECBAgAABAgQIECBAgAABAgQIECBAgAABAgQIECBAgAABAgQIECBAgAABAgQIdAgIWLsUCBAgQIAAAQIECBAgQIAAAQIECBAgQIAAAQIECBAgQIAAAQIECBAgQIAAAQIECBAg0CEgYO1SIECAAAECBAgQIECAAAECBAgQIECAAAECBAgQIECAAAECBAgQIECAAAECBAgQIECAQIeAgLVLgQABAgQIECBAgAABAgQIECBAgAABAgQIECBAgAABAgQIECBAgAABAgQIECBAgAABAh0CAtYuBQIECBAgQIAAAQIECBAgQIAAAQIECBAgQIAAAQIECBAgQIAAAQIECBAgQIAAAQIECHQICFi7FAgQIECAAAECBAgQIECAAAECBAgQIECAAAECBAgQIECAAAECBAgQIECAAAECBAgQINAhIGDtUiBAgAABAgQIECBAgAABAgQIECBAgAABAgQIECBAgAABAgQIECBAgAABAgQIECBAgECHgIC1S4EAAQIECBAgQIAAAQIECBAgQIAAAQIECBAgQIAAAQIECBAgQIAAAQIECBAgQIAAAQIdAgLWLgUCBAgQIECAAAECBAgQIECAAAECBAgQIECAAAECBAgQIECAAAECBAgQIECAAAECBAh0CAhYuxQIECBAgAABAgQIECBAgAABAgQIECBAgAABAgQIECBAgAABAgQIECBAgAABAgQIECDQISBg7VIgQIAAAQIECBAgQIAAAQIECBAgQIAAAQIECBAgQIAAAQIECBAgQIAAAQIECBAgQIBAh4CAtUuBAAECBAgQIECAAAECBAgQIECAAAECBAgQIECAAAECBAgQIECAAAECBAgQIECAAAECHQIC1i4FAgQIECBAgAABAgQIECBAgAABAgQIECBAgAABAgQIECBAgAABAgQIECBAgAABAgQIdAgIWLsUCBAgQIAAAQIECBAgQIAAAQIECBAgQIAAAQIECBAgQIAAAQIECBAgQIAAAQIECBAg0CEgYO1SIECAAAECBAgQIECAAAECBAgQIECAAAECBAgQIECAAAECBAgQIECAAAECBAgQIECAQIeAgLVLgQABAgQIECBAgAABAgQIECBAgAABAgQIECBAgAABAgQIECBAgAABAgQIECBAgAABAh0CAtYuBQIECBAgQIAAAQIECBAgQIAAAQIECBAgQIAAAQIECBAgQIAAAQIECBAgQIAAAQIECHQICFi7FAgQIECAAAECBAgQIECAAAECBAgQIECAAAECBAgQIECAAAECBAgQIECAAAECBAgQINAhIGDtUiBAgAABAgQIECBAgAABAgQIECBAgAABAgQIECBAgAABAgQIECBAgAABAgQIECBAgECHgIC1S4EAAQIECBAgQIAAAQIECBAgQIAAAQIECBAgQIAAAQIECBAgQIAAAQIECBAgQIAAAQIdAgLWLgUCBAgQIECAAAECBAgQIECAAAECBAgQIECAAAECBAgQIECAAAECBAgQIECAAAECBAh0CAhYuxQIECBAgAABAgQIECBAgAABAgQIECBAgAABAgQIECBAgAABAgQIECBAgAABAgQIECDQISBg7VIgQIAAAQIECBAgQIAAAQIECBAgQIAAAQIECBAgQIAAAQIECBAgQIAAAQIECBAgQIBAh4CAtUuBAAECBAgQIECAAAECBAgQIECAAAECBAgQIECAAAECBAgQIECAAAECBAgQIECAAAECHQIC1i4FAgQIECBAgAABAgQIECBAgAABAgQIECBAgAABAgQIECBAgAABAgQIECBAgAABAgQIdAgIWLsUCBAgQIAAAQIECBAgQIAAAQIECBAgQIAAAQIECBAgQIAAAQIECBAgQIAAAQIECBAg0CEgYO1SIECAAAECBAgQIECAAAECBAgQIECAAAECBAgQIECAAAECBAgQIECAAAECBAgQIECAQIeAgLVLgQABAgQIECBAgAABAgQIECBAgACBbgJPXx/jNjTH+NGtMa41Ynx7xPiqTIxL3iMT47IR4zPZGB8R47LZGJ+JqI6Or0wmqrJb/Lz5+2RMJqIqGbfl33PzshGRiZaIzq/Wzd9ns9Ga2eJv2YjWTMe45G9RES2ZbKzPZqMhUxFrIhsNyVe2IhoqItZk26MhKqOhvS0aajKxJmqjYd9TokHbCRAgQIAAAQIECBAgQIAAAQIECBAgQIAAAQI9CQhYuy4IECBAgAABAgQIECBAgAABAgQIlIHAwnmxY1M2plRWxE6RjSnZzKb3TCZ2am/PvSdh6fGZJDy9KThd+v/uMAliZ3JB6zXZiKWZiKWRfGViaSYbSysqY2lFeyxtqIiXD/1ELCuDy8QRCRAgQIAAAQIECBAgQIAAAQIECBAgQIAAgbL4P5JoMwECBAgQIECAAAECBAgQIECAAIESFnj26hi/MWLvyMTUiJhSkQSmI6ZkInZKfo5X3ytKmCHvR+t4ivamAPbmMHZHELs9G8+3t8fCulGxcM9TY0Pei7EBAQIECBAgQIAAAQIECBAgQIAAAQIECBAgkFeB0n8KTV75LE6AAAECBAgQIECAAAECBAgQIEAg/wKPXx1T2iP2rkyC1JWxV2Rj70i+3/S1ff4rsMMABF6MiIWRiYWZbCyMbCzMVsbCUe2xcK858fIA1jGUAAECBAgQIECAAAECBAgQIECAAAECBAgQGCEBAesRgrctAQIECBAgQIAAAQIECBAgQIAAgS0Fnvhu7JxtjQMzVbFXNglQvxqi3isixhRaq6KqLiqqxkRl1ZioqK7PfV9RVd/xc/fvMxU1kclURaaiKvceuffKzt/FFn9LxsQWf8uNj4hstjWy2bbItrdGJN+3Jz9v+or2tk3fd/xu09+3+F1bU7S1rov2lvXRnry3ro+21le/b29Z1/Hz5t81Fpo02W9tJhMLs0nwOmJhNuK5yMT8+tqYP/XkWDUSBdmTAAECBAgQIECAAAECBAgQIECAAAECBAgQ6C4gYO2qIECAAAECBAgQIECAAAECBAgQIFBAgewfomrBU3FQpjJmRjZmRsRBEbn3nfJZRmXN+KgaNTmqRm0Xlbn3yVE1ertXf1czviNEnYSq6yMyFfksZ+TXzmY3BbKTEHZLQ7RuXNHxtTzaOr/f9Lvk57aWtfmu+fnIxqNJ4DrT8T7tpXg08+/Rnu+NrU+AAAECBAgQIECAAAECBAgQIECAAAECBAh0FRCwdkUQIECAAAECBAgQIECAAAECBAgQyJPA/G/GbpU1MbMiGzOzmc4gdRKmHrZXpqI6qut2jZq6XaJq9PZdQ9RbBKiTJ0x7DV4g27axM4C9OXS9KZS9PJobX4qWxhejpXHx4DfoeWYSrn40EzE/G/FoZSbmt0Y8OmN2PD/cG1mPAAECBAgQIECAAAECBAgQIECAAAECBAgQeFVAwNrVQIAAAQIECBAgQIAAAQIECBAgQGAYBJ68Oia3V8ZR0R5HRSaO7Hgq9fbDsHRUVI/NBag3Bal3jeq6XaKmPnnfNaprpwzHFtYYBoFsti1acmHrTV+bgtebv38x97Ts4XhlI1ZlIu6JiLsjG3dvWB/3HPLZWD0ca1uDAAECBAgQIECAAAECBAgQIECAAAECBAgQiBCwdhUQIECAAAECBAgQIECAAAECBAgQGITAY9fGjExbHBURR2UiZkXEAYNYpnNKpnJ0jB67T9SM2aPzidS5QHX9rlFZM3EoS5ubEoG25pVdQtcb1/0tNq59NjaufSYimzysekivR5LAdSbi7oqIu/ebEwuGtJrJBAgQIECAAAECBAgQIECAAAECBAgQIECgjAUErMu4+Y5OgAABAgQIECBAgAABAgQIECDQP4GnvxajWmvjqMjGUZmKmJW8ZyMG/XTq5AnUo8buE6PG7ROjx+6b+z4JVnuVq0A2NjY80xm2TgLXSfC6pWnJUECWJ4HrbPKVibtba+Lugz8aw/MI7aFUZS4BAgQIECBAgAABAgQIECBAgAABAgQIECgCAQHrImiSEgkQIECAAAECBAgQIECAAAECBAov8Nh34i0VlXFcRLwpNj2hesCviqq6TUHqXJh6U5A6+aqsHjvgtUwoP4G2loZuoeskiN3eum5wGNm4J5uJ2zMRt0+fE3cMbhGzCBAgQIAAAQIECBAgQIAAAQIECBAgQIBA6QsIWJd+j52QAAECBAgQIECAAAECBAgQIECgHwKPfyf2jYo4PpPJhaqPj4gx/ZjWZcjo8dOjduLMqJ1wUIyeMCNq6ncf6BLGE+hToHnd36Jp9fxoWjU/mlY/GhsbnupzTrcBmWiIbNyejbg92uL2GWfE0wNfxAwCBAgQIECAAAECBAgQIECAAAECBAgQIFCaAgLWpdlXpyJAgAABAgQIECBAgAABAgQIEOhD4LH/iZrqhji+PeL4bBKozsaMgaAlT6EePfGgqJ0wc1OoeuJBUVFZO5AljCUwLALJE603h62T9w2r50dby9oBrZ2JWJCErTPZuH1dNm4//PRoHNACBhMgQIAAAQIECBAgQIAAAQIECBAgQIAAgRISELAuoWY6CgECBAgQIECAAAECBAgQIECAwLYFFlwdMyOTe0p18oTqJFhd2V+zmvqpHUHqTU+oHjVu3/5ONY5AwQU2rn2mI3Q9PzasejQ2rls40Bpuz2Ti9vaIW2bMjkcHOtl4AgQIECBAgAABAgQIECBAgAABAgQIECBQzAIC1sXcPbUTIECAAAECBAgQIECAAAECBAj0KfDI1bF/dUWcGJH7OqzPCR0DqkbvGPXbHxn1k4+Muu0Oi6pRk/s71TgCqRNo3bgiGpffE+uX3xvrl98TrRuWDaTG+yPipor2uGna6fHEQCYaS4AAAQIECBAgQIAAAQIECBAgQIAAAQIEilFAwLoYu6ZmAgQIECBAgAABAgQIECBAgACBbQo8dW3s1dYeJ0Y2ToqIWf3lqp98RNRN3hSqHj1+//5OM45A0QlsWLMgF7RuzAWu7+13/dls3BMVcVM24qYDZscz/Z5oIAECBAgQIECAAAECBAgQIECAAAECBAgQKCIBAesiapZSCRAgQIAAAQIECBAgQIAAAQIEeheYf23sVt0aJ2YzuSdVH9Mfq5r63XNh6uRJ1XWTZ0VF5ej+TDOGQEkJtLdt2OLp1vdG87rn+nW+TCbuzETcVB1x016z4/l+TTKIAAECBAgQIECAAAECBAgQIECAAAECBAgUgYCAdRE0SYkECBAgQIAAAQIECBAgQIAAAQI9Czx9fYxraYxTIhMnZiLe0h+n+u1fF2N2eF3UT54VNWP26M8UYwiUlUDz+kW5J1uvfflPsX7Zn/t79jsiGzfV1cf1U0+OVf2dZBwBAgQIECBAgAABAgQIECBAgAABAgQIEEijgIB1GruiJgIECBAgQIAAAQIECBAgQIAAgW0KPD4vZmUiTo1NX9V9cdVPPiLG7HRsjN3p2KgaNamv4f5OgECHQOvGFbF26R9i3dLfx/rl9/bHpT0TcW02G9+bflr0O53dn4WNIUCAAAECBAgQIECAAAECBAgQIECAAAEChRIQsC6UtH0IECBAgAABAgQIECBAgAABAgSGLPDEvE2h6mzEG/parG7SIblA9dgpx0bV6B37Gu7vBAj0IdC64ZVYu/T3ucB144r7++N1VyYT1+4/O67tz2BjCBAgQIAAAQIECBAgQIAAAQIECBAgQIBAWgQErNPSCXUQIECAAAECBAgQIECAAAECBAj0KPDk92L/bGt8IrvpadWTt8VUO3HmplD1TsdGdd0uRAkQyJNAS9PiWLvkD7nAddOqh/vaZUXyVOuWiO/NnBML+hrs7wQIECBAgAABAgQIECBAgAABAgQIECBAYKQFBKxHugP2J0CAAAECBAgQIECAAAECBAgQ6FFgwbw4MXladUT83baIqut2jQm7vSvG7vSWqBmzB00CBAos0Lz+hVi79Hex5oVfRvP6RX3t/n+z2bh2xmlxc18D/Z0AAQIECBAgQIAAAQIECBAgQIAAAQIECIyUgID1SMnblwABAgQIECBAgAABAgQIECBAoEeBx+fFJzPZODsyMWNbRGN2eEOMzwWrjyVJgEBKBNa+fEcuaL3u5T9ts6JsNp7OZOKr0+fE3JSUrgwCBAgQIECAAAECBAgQIECAAAECBAgQINApIGDtYiBAgAABAgQIECBAgAABAgQIEEiFwBPXxCeySbA64oDeCqqsmRDjd3137onVNWP2TEXdiiBAoLtA87q/xZoXfxmrX/hltDWv7p0oG09kK+KKGbPjGo4ECBAgQIAAAQIECBAgQIAAAQIECBAgQCAtAgLWaemEOggQIECAAAECBAgQIECAAAECZSrwxLw4tT3inMw2gtV1kw6J8bu+K8bv9u4yVXJsAsUrsObFX+Weat248sFeD5GNeCwbccUBc+J7xXtSlRMgQIAAAQIECBAgQIAAAQIECBAgQIBAqQgIWJdKJ52DAAECBAgQIECAAAECBAgQIFBkAo/Ni1MrIvfE6gN7K33C7ifG+N3eFbUTZhbZ6ZRLgMDWAk2r5m96qvWim7eF80gStJ4xJ35AkAABAgQIECBAgAABAgQIECBAgAABAgQIjJSAgPVIyduXAAECBAgQIECAAAECBAgQIFCmAgvmxscjkwtW95qanjD1/TFpz5Ojpn63MlVybAKlK9DStCRWLvxhrPrb//R6yGzEg9lsXHHAaXFD6Uo4GQECBAgQIECAAAECBAgQIECAAAECBAikVUDAOq2dURcBAgQIECBAgAABAgQIECBAoMQEHr82Ds20xWUR8dbejjZh6kkxac9TBKtLrPeOQ6AngZbGF2PFwutj9fM39gqUifhdJhvnTTst/kqRAAECBAgQIECAAAECBAgQIECAAAECBAgUSkDAulDS9iFAgAABAgQIECBAgAABAgQIlLHAk/Pi0vaI83sjmLD7STFpr+SJ1buXsZKjEyhPgeb1i3JPtF696ObeAbLx5emn9f7PkPKUc2oCBAgQIECAAAECBAgQIECAAAECBAgQyJeAgHW+ZK1LgAABAgQIECBAgAABAgQIECAQC+bGSZmKuDSbjWk9cUzY/cSYtFfyxGrBapcLgXIXaF73XO6J1mte+EWPFJmIBRFx3v5zoucB5Q7o/AQIECBAgAABAgQIECBAgAABAgQIECAwbAIC1sNGaSECBAgQIECAAAECBAgQIECAAIHNAgu+HXtEVVwWER/uSWXsTsfG9vufGTX1U6ERIECgi8DGtc/Gime+Gw2Lb+tN5rr2qvi3A06NpegIECBAgAABAgQIECBAgAABAgQIECBAgEA+BASs86FqTQIECBAgQIAAAQIECBAgQIBAGQssmBfnROTC1TVbM1TX7pwLVo/b+a1lLOToBAj0R6Bh8W9j2ZNfj5bGxd2GZyLWtEecN2NOfLs/axlDgAABAgQIECBAgAABAgQIECBAgAABAgQGIiBgPRAtYwkQIECAAAECBAgQIECAAAECBHoVePr6GNfaFN+NiPf3NGjSXh+J7ad9KjIV1RQJECDQL4Fse0sse+IbsfK5G3obf/OGqvjEIafG6n4taBABAgQIECBAgAABAgQIECBAgAABAgQIEOiHgIB1P5AMIUCAAAECBAgQIECAAAECBAgQ2LbAE9fE0dlsLlw9beuRddsdHttPOzNqJ87ESIAAgUEJNK58MBe0blr1cE/zn4yKOHX6J+Mvg1rcJAIECBAgQIAAAQIECBAgQIAAAQIECBAgsJWAgLVLggABAgQIECBAgAABAgQIECBAYEgCj82NMyoy8e2tF6moqs8Fqyfu8cEhrW8yAQIENgusXHh9LmidzbZ2Q8lGzJ4xJ/cfengRIECAAAECBAgQIECAAAECBAgQIECAAIEhCQhYD4nPZAIECBAgQIAAAQIECBAgQIBAeQssmBffiIgzt1aon3xE7HTQhVFdO6W8gZyeAIFhF2hpfDGWPvqVWL+sxwdWXzF9Tnxu2De1IAECBAgQIECAAAECBAgQIECAAAECBAiUlYCAdVm122EJECBAgAABAgQIECBAgAABAsMj8Ng1sU9FNvek2GO2XnHSnv8QO8w4e3g2sgoBAgR6EXjl8Stj5XM/6vbXbDZ+3ZaJU2fOiZfhESBAgAABAgQIECBAgAABAgQIECBAgACBwQgIWA9GzRwCBAgQIECAAAECBAgQIECAQBkLPHZNHFGRjVsiYvLWDFMOujDG7/aeMtZxdAIECimwetHNsXT+pd23zMTfWtvj5JmnxZ8LWY+9CBAgQIAAAQIECBAgQIAAAQIECBAgQKA0BASsS6OPTkGAAAECBAgQIECAAAECBAgQKIjA09fEIS3Z+HUmYsctNxw1dp9IwtWjJxxQkDpsQoAAgc0CTSsfiiWPXBzN61/YGmVZeybeesDseJAWAQIECBAgQIAAAQIECBAgQIAAAQIECBAYiICA9UC0jCVAgAABAgQIECBAgAABAgQIlLHAgqtjZqYibs1G7Lolw7id35YLV2cqR5WxjqMTIDCSAm0ta2LJwxfHupf/tHUZi1oj3jZzTiwYyfrsTYAAAQIECBAgQIAAAQIECBAgQIAAAQLFJSBgXVz9Ui0BAmUksGBeZMvouI5KgAABAgRSKTB9TrhnSmVnFEWAwEgIzJ8X06sycWtkY48t95+01ymxw/R/HomS7EmAAIFuAsue+HqsePa6rX//VFTFW6efGn9DRoAAAQIECBAgQIAAAQIECBAgQIAAAQIE+iMgLNAfJWMIECAwAgIC1iOAbksCBAgQILCVgIC1S4IAAQKbBB67JvbJZOPXmYh9tjSZuOeHY8cZ52AiQIBAqgRefvyKWPXcj7vUlMnEw22V8bYDTo2lqSpWMQQIECBAgAABAgQIECBAgAABAgQIECCQSgEB61S2RVEECBCIELB2FRAgQIAAgZEXELAe+R6ogACBkRdY8O3YI1MVt2Yjpm9ZzcSpH4gdD/zXkS9QBQQIEOhBYOn8y2L1opu6/iUT92yojLcdcmqshkaAAAECBAgQIECAAAECBAgQIECAAAECBLYlIGDt+iBAgEBKBQSsU9oYZREgQIBAWQkIWJdVux2WAIFeBBbMiz9ExJu2/POE3U+MnWaez4wAAQKpFljy8EWx5sVbtq7x9ulz4vhUF644AgQIECBAgAABAgQIECBAgAABAgQIEBhxAQHrEW+BAggQINCzwNYB6/3feR8qAgQIECBAIM8CT9xyeJcdBKzzDG55AgRSL7DgmrgisnH2loWO3+09MeWgC1NfuwIJECCQCLz0wHmxdslvu2Bks/FvM06LrxAiQIAAAQIECBAgQIAAAQIECBAgQIAAAQK9CQhYuzYIECCQUgEB65Q2RlkECBAgUNICAtYl3V6HI0BggAJPzItTshE/3HLauJ3fGjsfcukAVzKcAAECIyvw4n1nx7qX/9SliKpMHLrv7HhwZCuzOwECBAgQIECAAAECBAgQIECAAAECBAikVUDAOq2dURcBAmUvIGBd9pcAAAIECBAYAQEB6xFAtyUBAqkUeOyamFSRjScjYvLmAmvG7BF7HP2DqKiqS2XNiiJAgEBvAq0bV8Rzf/pgtDWv2XLIHdPnxJupESBAgAABAgQIECBAgAABAgQIECBAgACBngQErF0XBAgQSKmAgHVKG6MsAgQIEChpAQHrkm6vwxEgMACBBXPjO5GJ07ecsvtR86Ju0iEDWMVQAgQIpEdgzYu3xJKHL+paUCbOnz47vpyeKlVCgAABAgQIECBAgAABAgQIECBAgAABAmkRELBOSyfUQYAAga0EBKxdEgQIECBAoPACAtaFN7cjAQLpE3jq2jiurS1+u2Vl2087M7bb59T0Fasip2vIUgAAIABJREFUAgQIDEBg8UMXRsNLv+4yo7UtXjvzjLhvAMsYSoAAAQIECBAgQIAAAQIECBAgQIAAAQJlICBgXQZNdkQCBIpTQMC6OPumagIECBAobgEB6+Lun+oJEBgegQXz4ncRcezm1UaPnx57vP6Hw7O4VQgQIDCCAm3NK2PhHz8Ubc2rOqvIZuP2GafF8SNYlq0JECBAgAABAgQIECBAgAABAgQIECBAIIUCAtYpbIqSCBAgkAgIWLsOCBAgQIBA4QUErAtvbkcCBNIl8Pi8OD4TcduWVe12xDeifvtZ6SpUNQQIEBikQMNLt8bih77QZXYm4uD958Qjg1zSNAIECBAgQIAAAQIECBAgQIAAAQIECBAoQQEB6xJsqiMRIFAaAgLWpdFHpyBAgACB4hIQsC6ufqmWAIHhF1gwL34ZEe/avPKYHd8Yux5+xfBvZEUCBAiMoMAL95wZ65ffs2UFV0yfE58bwZJsTYAAAQIECBAgQIAAAQIECBAgQIAAAQIpExCwTllDlEOAAIHNAgLWrgUCBAgQIFB4AQHrwpvbkQCB9Ag8NS+mt0U8vmVFu8/6dtRt99r0FKkSAgQIDIPAmpdujSVbPMU6k4ll+8+OHYZhaUsQIECAAAECBAgQIECAAAECBAgQIECAQIkICFiXSCMdgwCB0hMQsC69njoRAQIECKRfQMA6/T1SIQEC+RN4Yl58Phvxpc071E8+MnY78pv529DKBAgQGEGBp397XLQ1r+6sIFMRp+z/ybhhBEuyNQECBAgQIECAAAECBAgQIECAAAECBAikSEDAOkXNUAoBAgS2FBCwdj0QIECAAIHCCwhYF97cjgQIpEdgwby4PyIO3VzRTgeeFxOmnpSeAlVCgACBYRR4ZcFVsXJhlzz1b6fPiROGcQtLESBAgAABAgQIECBAgAABAgQIECBAgEARCwhYF3HzlE6AQGkLCFiXdn+djgABAgTSKSBgnc6+qIoAgfwLLJgb+0Umntxyp32Pvy0qayblf3M7ECBAYAQENjY8Hc/9vw932bm1PfaZeXo8OwLl2JIAAQIECBAgQIAAAQIECBAgQIAAAQIEUiYgYJ2yhiiHAAECmwUErF0LBAgQIECg8AIC1oU3tyMBAukQePya+PtMNn68uZr6yUfEbkd+Kx3FqYIAAQJ5Elh09xnRuOK+ztWz7fF3M06PW/K0nWUJECBAgAABAgQIECBAgAABAgQIECBAoIgEBKyLqFlKJUCgvAQErMur305LgAABAukQELBORx9UQYBA4QUWzI3/jEx8bvPO2+39sdh+/7MKX4gdCRAgUECBpY98KVa/8PNXd8zEWdNnxzcKWIKtCBAgQIAAAQIECBAgQIAAAQIECBAgQCClAgLWKW2MsggQICBg7RogQIAAAQKFFxCwLry5HQkQSIfAgrnx+8jEmzdXs8uhX46xU45PR3GqIECAQJ4EVjxzbSx78tWn9WezcdWM0+LsPG1nWQIECBAgQIAAAQIECBAgQIAAAQIECBAoIgEB6yJqllIJECgvAQHr8uq30xIgQIBAOgQErNPRB1UQIFB4gQVz47HIxIzNO+95zH/HqLF7F74QOxIgQKCAAg2LfxOLH/x8546ZbPx8/9PifQUswVYECBAgQIAAAQIECBAgQIAAAQIECBAgkFIBAeuUNkZZBAgQELB2DRAgQIAAgcILCFgX3tyOBAikQ2DBvFgcEVM2V7PPW26NqtE7pKM4VRAgQCBPAk2rH43n7/p45+qZTDy8/+x4TZ62sywBAgQIECBAgAABAgQIECBAgAABAgQIFJGAgHURNUupBAiUl4CAdXn122kJECBAIB0CAtbp6IMqCBAovMCCedEUEaM377zf2+6MisrOHwtfkB0JECBQAIG2jSvj6dtP2HKntdPnxLgCbG0LAgQIECBAgAABAgQIECBAgAABAgQIEEi5gIB1yhukPAIEyldAwLp8e+/kBAgQIDByAgLWI2dvZwIERlZg6/uPvY/9VVTXdj7QemSLszsBAgTyJNDStDSe/f3fdVl9+pzw78zz5G1ZAgQIECBAgAABAgQIECBAgAABAgQIFJOAf1lcTN1SKwECZSUgYF1W7XZYAgQIEEiJgIB1ShqhDAIECi6w9f3H7kfNjbpJhxa8DhsSIECgkAJNqx6O5//8yS5bClgXsgP2IkCAAAECBAgQIECAAAECBAgQIECAQHoFBKzT2xuVESBQ5gIC1mV+ATg+AQIECIyIgID1iLDblACBFAhsff8x5eCLY/yu70xBZUogQIBA/gQaFv8mFj/4+S4bCFjnz9vKBAgQIECAAAECBAgQIECAAAECBAgQKCYBAeti6pZaCRAoKwEB67Jqt8MSIECAQEoEBKxT0ghlECBQcIGt7z8m73dGTN53dsHrsCEBAgQKKbDi2eti2RNf77KlgHUhO2AvAgQIECBAgAABAgQIECBAgAABAgQIpFdAwDq9vVEZAQJlLiBgXeYXgOMTIECAwIgICFiPCLtNCRBIgcDW9x8TdntP7HTQhSmoTAkECBDIn8DS+ZfF6kU3ddlAwDp/3lYmQIAAAQIECBAgQIAAAQIECBAgQIBAMQkIWBdTt9RKgEBZCQhYl1W7HZYAAQIEUiIgYJ2SRiiDAIGCC2x9/1E/+YjY7chvFbwOGxIgQKCQAi/c86lYv/zeLlsKWBeyA/YiQIAAAQIECBAgQIAAAQIECBAgQIBAegUErNPbG5URIFDmAgLWZX4BOD4BAgQIjIiAgPWIsNuUAIEUCGx9/5GUNPXo70fthANTUJ0SCBAgMPwCTasfjefv+ni3hQWsh9/aigQIECBAgAABAgQIECBAgAABAgQIEChGAQHrYuyamgkQKAsBAeuyaLNDEiBAgEDKBASsU9YQ5RAgUDCBngLWk/b8h9hhxtkFq8FGBAgQKKTAK49fGSuf+1G3LQWsC9kFexEgQIAAAQIECBAgQIAAAQIECBAgQCC9AgLW6e2NyggQKHMBAesyvwAcnwABAgRGREDAekTYbUqAQAoEegpYV43ePvY85n+isnpsCipUAgECBIZPoK1lbTz3pw9G64Zl3RYVsB4+ZysRIECAAAECBAgQIECAAAECBAgQIECgmAUErIu5e2onQKCkBQSsS7q9DkeAAAECKRUQsE5pY5RFgEDeBXoKWCeb7jTzvJiw+0l5398GBAgQKKTA6kU/i6Xzv9zjlgLWheyEvQgQIECAAAECBAgQIECAAAECBAgQIJBeAQHr9PZGZQQIlLmAgHWZXwCOT4AAAQIjIiBgPSLsNiVAIAUCvQWs67Y7PHaf9Z0UVKgEAgQIDJ/AorvPiMYV9/W4oID18DlbiQABAgQIECBAgAABAgQIECBAgAABAsUsIGBdzN1TOwECJS0gYF3S7XU4AgQIEEipgIB1ShujLAIE8i7QW8A62XjKQV+I8bu9O+812IAAAQKFEFjzwi9jySOX9LqVgHUhumAPAgQIECBAgAABAgQIECBAgAABAgQIpF9AwDr9PVIhAQJlKiBgXaaNd2wCBAgQGFEBAesR5bc5AQIjKLCtgHXV6B1i91lXR039biNYoa0JECAwdIHm9S/EortPj9YNr/S6mID10J2tQIAAAQIECBAgQIAAAQIECBAgQIAAgVIQELAuhS46AwECJSkgYF2SbXUoAgQIEEi5gIB1yhukPAIE8iawrYB1sum4nd8aOx9yad72tzABAgQKIbD4wc9Hw+LfbHMrAetCdMIeBAgQIECAAAECBAgQIECAAAECBAgQSL+AgHX6e6RCAgTKVEDAukwb79gECBAgMKICAtYjym9zAgRGUGDr+49Je30kVi78YZeKdjzwX2Pi1A+MYJW2JkCAwOAFVj3/03j50a90WaCnf9YJWA/e2EwCBAgQIECAAAECBAgQIECAAAECBAiUkoCAdSl101kIECgpAQHrkmqnwxAgQIBAkQgIWBdJo5RJgMCwC2x9/zHtbXfGorvPiKbVj3buVVkzIXaf9Z0YNXafYd/fggQIEMinwMa1z+T+mdbWvLpzm9oJB+b+mfbk/76+y9YC1vnshLUJECBAgAABAgQIECBAgAABAgQIECBQPAIC1sXTK5USIFBmAgLWZdZwxyVAgACBVAgIWKeiDYogQGAEBHq6/1i/7O544d5Pd6lm7E5vil0O++oIVGhLAgQIDF7gpfs/F2uX3tFlgd2O+EbUbz8rfP4bvKuZBAgQIECAAAECBAgQIECAAAECBAgQKGUBAetS7q6zESBQ1AIC1kXdPsUTIECAQJEKCNgUaeOUTYDAkAV6u/9Y9uS3Y8Uz3+2y/pgdj4ldD79yyHtagAABAoUQWPLQF2LNS7d22Wq7fT4Z20/7x9zvfP4rRBfsQYAAAQIECBAgQIAAAQIECBAgQIAAgeITELAuvp6pmACBMhEQsC6TRjsmAQIECKRKQMAmVe1QDAECBRTo9f4j2x6L7j4jGlc+0KWa5KmvydNfvQgQIJBmgaXzL43Vi27uUmLdpENj91nfichU5H7v81+aO6g2AgQIECBAgAABAgQIECBAgAABAgQIjJyAgPXI2duZAAEC2xQQsHaBECBAgACBwgsI2BTe3I4ECKRDYFv3HxvXPhMv3X9uNK9f1KXYukmHxO5HzUvHAVRBgACBrQQWP/SFaNjqydWjxu0XuxxyWdSM2aNztM9/Lh0CBAgQIECAAAECBAgQIECAAAECBAgQ6ElAwNp1QYAAgZQKCFintDHKIkCAAIGSFhCwKen2OhwBAtsQ6Ov+Y0PDk/HSfedES9PSLquMnnBA7HH0dWwJECCQKoGX7v9crF16R5eaRo3dJ3Y9/Mqortu5y+99/ktV6xRDgAABAgQIECBAgAABAgQIECBAgACB1AgIWKemFQohQIBAV4G+Ag68CBAgQIAAgeEXELAZflMrEiBQHAL9uf9InmC96C+zo3Xjyi6Hqp14cEx93XeL46CqJECg5AVeuOfMWL/8ni7nrK7bJffPqapRk7ud3+e/kr8kHJAAAQIECBAgQIAAAQIECBAgQIAAAQKDEhCwHhSbSQQIEMi/QH8CDvmvwg4ECBAgQKC8BARsyqvfTkuAwKsC/b3/aN3wSiz84wejvXVdF76a+t1jz2N+EpmKGqwECBAYEYH2tqZY+If3RuvGFV32rxo1KfZ840+jsnp8j3X5/Dci7bIpAQIECBAgQIAAAQIECBAgQIAAAQIEUi8gYJ36FimQAIFyFehvwKFcfZybAAECBAjkQ0DAJh+q1iRAoBgEBnL/0dayNp65/a2RbW/udrQ9Xn99jB6/fzEcWY0ECJSQwLqX/xQv3nd2txNVVNbGPsffFsl7by+f/0roQnAUAgQIECBAgAABAgQIECBAgAABAgQIDKOAgPUwYlqKAAECwykwkIDDcO5rLQIECBAgUM4CAjbl3H1nJ1DeAgO9/8i2t8aTv57VI9rOr7kkxu3yjvIGdXoCBAomsOyJb8SKZ7/f437T3nFPZDKV26zF57+CtcpGBAgQIECAAAECBAgQIECAAAECBAgQKCoBAeuiapdiCRAoJ4GBBhzKycZZCRAgQIBAvgQEbPIla10CBNIuMNj7j0V3nx6NK+7vdrzt9v54bL//p9N+bPURIFDkAkse+kKseenWbqeoGbNn7PXGn/brdD7/9YvJIAIECBAgQIAAAQIECBAgQIAAAQIECJSdgIB12bXcgQkQKBaBwQYciuV86iRAgAABAmkUELBJY1fURIBAIQSGcv+x/Km5sfzpud3KHLPjMbHDjLOjpm7XQhzBHgQIlJFA8/pFsXT+ZdG44r5upx6705tjl8P+s98aPv/1m8pAAgQIECBAgAABAgQIECBAgAABAgQIlJWAgHVZtdthCRAoJoGhBByK6ZxqJUCAAAECaRIQsElTN9RCgEAhBYZ6/9Gw5Lex+IHzupVcXbtTTNr74zFx6vsLeRx7ESBQwgKrnr8xVj77/WhpWtrtlNvt84nYftqnBnR6n/8GxGUwAQIECBAgQIAAAQIECBAgQIAAAQIEykZAwLpsWu2gBAgUm8BQAw7Fdl71EiBAgACBNAgI2KShC2ogQGAkBIbj/qNp5UOx+KEvREvT4m5HGLPD0bmgdd2kQ0biePYkQKAEBBpXPpgLVq975a5up6msmRA7zjgnxu3y9gGf1Oe/AZOZQIAAAQIECBAgQIAAAQIECBAgQIAAgbIQELAuizY7JAECxSgwHAGHYjy3mgkQIECAwEgKCNiMpL69CRAYSYHhuv9oaVwcS+dfFuuX393jcbbb+6O5oHVl9biRPK69CRAoIoG2loZcsHrFsz/oserkP9zYYcbZMXr89EGdyue/QbGZRIAAAQIECBAgQIAAAQIECBAgQIAAgZIXELAu+RY7IAECxSowXAGHYj2/ugkQIECAwEgICNiMhLo9CRBIg8Bw3n9k21ti2ZPfjpULew5Djhq7Vy5kPX6Xd6Th6GogQCDFAmteujUXrt64dmGPVU7a66Mxeb/ToqJy9KBP4fPfoOlMJECAAAECBAgQIECAAAECBAgQIECAQEkLCFiXdHsdjgCBYhYYzoBDMTuonQABAgQIFFJAwKaQ2vYiQCBNAvm4/2hc+WCsfPa6WPfKnT0eddyU42PS3h8d9FNn0+SnFgIEhldgw5oFsfLZH0TDkt/2uPCYHV4fk/b+WCRPrx7qy+e/oQqaT4AAAQIECBAgQIAAAQIECBAgQIAAgdIUELAuzb46FQECJSCQj4BDCbA4AgECBAgQyKuAgE1eeS1OgECKBfJ5/7F60U2x4tnroqXxpR4FJux+YkzY/X2C1im+PpRGoFACSbB69aKbI/nnRk+v6rpdYru9PxbJPzeG6+Xz33BJWocAAQIECBAgQIAAAQIECBAgQIAAAQKlJSBgXVr9dBoCBEpIIJ8BhxJichQCBAgQIDCsAgI2w8ppMQIEikgg3/cfrRuX50LWq577ca8qgtZFdMEolcAwC/QVrE62m7jnh3Ph6qpRk4d1d5//hpXTYgQIECBAgAABAgQIECBAgAABAgQIECgZAQHrkmmlgxAgUGoC+Q44lJqX8xAgQIAAgeEQELAZDkVrECBQjAKFuv9oXP7XXNB6/fK7e2UStC7GK0jNBAYn0J9gdf3kWblgdd3k1w5ukz5m+fyXF1aLEiBAgAABAgQIECBAgAABAgQIECBAoOgFBKyLvoUOQIBAqQoUKuBQqn7ORYAAAQIEBiMgYDMYNXMIECgFgULff6xedFOsfv7G2NDwVK98gtalcGU5A4GeBfoTrB49br+YMPX9kfyzIJ8vn//yqWttAgQIECBAgAABAgQIECBAgAABAgQIFK+AgHXx9k7lBAiUuEChAw4lzul4BAgQIECgXwICNv1iMogAgRIUGIn7j2y2LReyXr3oZ7Fx7cJeVcfv+q4Yt/MJUb/9USUo70gEyktg/bK/RMPi22LNi7/q9eCjxu4VE3Y/KReuzmQq8w7k81/eiW1AgAABAgQIECBAgAABAgQIECBAgACBohQQsC7KtimaAIFyEBiJgEM5uDojAQIECBDYloCAjeuDAIFyFRjJ+4/2tg25kPXq538WzesX9dqC2kmvyQWtx015a1TWjC/XVjk3gaITaGteEw1LfpMLVjetfKjX+mvqd48JU0/KhasrKkcX7Jw+/xWM2kYECBAgQIAAAQIECBAgQIAAAQIECBAoKgEB66Jql2IJECgngZEMOJSTs7MSIECAAIEtBQRsXA8ECJSrQBruP9pb18Wq55Og9Y3R0rSk11ZUjZqcC1qP3fmEqJ1wYLm2zLkJpF6gafWjsXbxbblgdevG5b3WW107Jfe06olTT4qKqjEFP5fPfwUntyEBAgQIECBAgAABAgQIECBAgAABAgSKQkDAuijapEgCBMpRIA0Bh3J0d+Z0CDRt2BifveiKuPqHN3UWdMm/nBEXfnb2kAu84aZfxymfvrBznYNn7Bf/ffWXY9reU4e8tgUIECh+AQGb4u+hExAgMDiBNN1/tDWvjlXP35h7qnXrhmXbPNCYHd7QGbbOZCoHd3izCBAYNoFstq0zVL3ulf+3zXWrRm+fe1r1xKnvj8qaCcNWw0AX8vlvoGLGEyBAgAABAgQIECBAgAABAgQIECBAoDwEBKzLo89OSYBAEQqkKeBQhHxKLnIBAesib6DyCRSxgIBNETdP6QQIDEkgjfcfbc2romHJ72LtktujccV92zxfzZg9YtyUE2LMjq+P0eNnDMnCZAIEBi6wYc3jse7lO6NhyW3RvO5v21ygbrvDY+yU42LclLdEZc3EgW82zDN8/htmUMsRIECAAAECBAgQIECAAAECBAgQIECgRAQErEukkY5BgEDpCaQx4FB6yk6UVgEB67R2Rl0ESl9AwKb0e+yEBAj0LJD2+4/GlQ/G2iRsvfR3fT7VunbSa2LMDkfHmB1eH6PG7qvlBAjkSWDj2qdj3St3xrpX7oqmlQ9tc5fkadVjd3pLjJ3ylqibdEieKhrcsj7/Dc7NLAIECBAgQIAAAQIECBAgQIAAAQIECJS6gIB1qXfY+QgQKFqBtAccihZW4UUhIGBdFG1SJIGSFBCwKcm2OhQBAv0QKJb7j7aWtbmQdfJU6/XL7u7zZHWTX5sLWidfNfVT+xxvAAEC2xZoXv98R6j6zmhc/tc+ueq3n5V7WnUSrq6sHtvn+JEY4PPfSKjbkwABAgQIECBAgAABAgQIECBAgAABAukXELBOf49USIBAmQoUS8ChTNvj2HkWELDOM7DlCRDoVUDAxsVBgEC5ChTj/UfT6vmbnmq95HfR0rSkz9bV7/C6GLP962PMjq+P6tqd+xxvAAECmwRamhbHupfvjHXL7oz1r/y5T5bq2im5J1UnX7UTZvY5fqQH+Pw30h2wPwECBAgQIECAAAECBAgQIECAAAECBNIpIGCdzr6oigABAlGMAQdtIzBcAgLWwyVpHQIEBiogYDNQMeMJECgVgWK+/2hva4p1S++Ida/cFeuW3RXtLWu32ZZMRVXuidb1HU+2rho1uVTa6BwEhk2gdePy3JOq179yZ+492966zbUrqsfGmO2PjjE7HB1jdnpTVFTWDlst+V7I5798C1ufAAECBAgQIECAAAECBAgQIECAAAECxSkgYF2cfVM1AQJlIFDMAYcyaI8j5llAwDrPwJYnQKBXAQEbFwcBAuUqUCr3H23Nq3JB6/Wbw9atjdtsaUVVXS4QujlsXVk9vlwvAecmEG0ta7YIVd8V7f3538/2yf9+NgWrK2smFqWiz39F2TZFEyBAgAABAgQIECBAgAABAgQIECBAIO8CAtZ5J7YBAQIEBidQKgGHwZ3erHIXELAu9yvA+QmMnICAzcjZ25kAgZEVKMX7j9aNKzqevrvpydbZto3bRK6oqo/aCQfG6IkHRu2EmVE38eBInsrrRaBUBdpb10fTqkeiadX8aFo9P/d98rttvTKVozqfVJ38hwlVo7Yreh6f/4q+hQ5AgAABAgQIECBAgAABAgQIECBAgACBvAgIWOeF1aIECBAYukApBhyGrmKFchEQsC6XTjsngfQJCNikrycqIkCgMAKlfv/RuuGVLk+2zra39AmbqajpDFzXTTwo6iYdJnDdp5oBaRboGqh+JBpXPBjZ9m3/hwfJeTIV1blQ9eYnVVeN3iHNxxxwbT7/DZjMBAIECBAgQIAAAQIECBAgQIAAAQIECJSFgIB1WbTZIQkQKEaBUg84FGNP1Fw4gbQGrNc3NsVdf304fvGbP8YD85+Iu++fn0MZO6YuXnPAtJg5fZ94x7FHxxuOPCTGja0fNFhy/nseeDRu/vUf4t6HHuvcZ9KEcfHa1xwQR7/24Hjf298cM/bbMyoqKvq1z4pVa+LkMy+I39zxl9z40z9yYlx18TkxelRNPLLg6fiveT+JX/zmjli5uiFmHTYzjnvDEfGhd58woD36VYhBBFIuIGCT8gYpjwCBvAmU0/1HS9OSWP/KXbnAdfJk68i299M10xm4rt/uMIHrfqoZNnICrwaqH47GFQ9E48oHIyLbv4IyFVs8qfroqK6d0r95RTjK578ibJqSCRAgQIAAAQIECBAgQIAAAQIECBAgUAABAesCINuCAAECgxEop4DDYHzMKW2BtAWsk3rmXn9TXDX3R/H8i0v6xE+C0Bf88+w47ZT3RX1dbZ/jNw/Y2NwcP7vl93HJlfPiyWef73Pe3x3/hrj4c6fHIQdOi0xm2x/regpYX37BP8UPbrwlzv/yN2LtusZu+03ZcXL86rqr4rCDpvdZiwEESkVAwKZUOukcBAgMVKBc7z9aGl/cFLR+5a5oWvlgtLc1DYhu9Pj9o3bSISFwPSA2g/MkkASqkxB148oHomnFA9G0+tEB7VRRVRe1E18TY3Y4OvdVXbfrgOYX62Cf/4q1c+omQIAAAQIECBAgQIAAAQIECBAgQIBAfgUErPPra3UCBAgMWqBcAw6DBjOxpATSFLBOgsf/eunX4tvX3Thg43ce9/r45mX/GlN37ftpb0tfWRHnfum/4oc33jqgfZKnZ1923qfjjI+cFFVVlb3O3TpgPefk98XhB0+Pz13yf3oMVycLffxD74pvXHrugELiAyreYAIpFBCwSWFTlESAQEEE3H9EtLWsiaaVD0fjqoeiaeVD0bTqkQHbjxq3X9ROmBGjxk2L0eP2j9Hjp0WmombA65hAoC+BbHtzbFjzZGxoeCI2NjwZG1YviA0NT/Y1rdvf67Y7PGonHhS1Ew/OvVdWjx3wGsU+wee/Yu+g+gkQIECAAAECBAgQIECAAAECBAgQIJAfAQHr/LhalQABAkMWEHAYMqEFilggLQHr1ta2uOLq6+PfLv16F80kMH3koQfGwTP2jcrKymhubok/3/dI3PXXh7qFlZMg81UXn73NkPLLy1bG6edeGr/4zR+77JOEp494zYEx67ADY+yY+lj5YS9wAAAgAElEQVS7bn3cee9D8ce/PNCtu//x+bPinNNP6TVkvXXAetreU6Nh3fpY8vLy3Fpvef0R8cajDs19n6z/uzvvjZ9dc3mc+I5ji/hKUjqBgQsI2AzczAwCBEpDwP1H9z62blwejcv/2hG4fjg2rn1mUM2uGbNnjE4C1+OnbQpej58WldXjB7WWSeUpkIT/kzB1LkidC1U/Gc3rnhsUxujx02PLUHXVqEmDWqeUJvn8V0rddBYCBAgQIECAAAECBAgQIECAAAECBAgMn4CA9fBZWokAAQLDKiDgMKycFisygbQErB967Kl476nnxPMvLskJJoHnKy76bJxy0juidvSobqpJWPlL//Xd+Nb3f9r5t2TOzdd+NRdg7um1vrEpzv3S17rN+dTHPhD/NPvDMWXHyV2mZbPZeG7R4rjgK9+KH//8N132mfufF8Tfv+eEHvfZOmC9eVASFv/PC/8pTnrnsVFRUZH7dbLHkleWx9j6+tyZvQiUk4CATTl121kJENhSwP1H39dDS+PiaFzx11i/4r7cE65bmjZ9RhzMq7p2pxjV8YTrJHw9avy0qB6942CWMqfEBFo2vBwbO0LUm0LVT0RL09JBn7Kmbreom3xE1G13WO4p1dW1rrOtMX3+G/TlZSIBAgQIECBAgAABAgQIECBAgAABAgRKWkDAuqTb63AECBSzgIBDMXdP7UMVSEvA+qq5P4qz//3KzuMk4erPnvYPkcn0/hEqCUx/9qIrY94NN3fOS+YkT5iuqa7uRnPDTb+OUz59Yefvk0Dzt778b/EP73tbZ+C5J8/E6PJvXhf/fsXczj+/+ejD44dfvyR22WmHblN6C1gn408+8e3bPNNQ+2k+gWISELAppm6plQCB4RRw/zFwzeZ1f4v1K/4ajSvui8bl90XylOGhvCprJuSedJ2ErZP3mjF7RPXonaKyxtOuh+Ka1rltzWuiZcPSSK6j5InUm0PVbc2rh1RyZc3EqE8C1R2h6pq6XYe0XjlM9vmvHLrsjAQIECBAgAABAgQIECBAgAABAgQIEBi4gID1wM3MIECAQEEEBBwKwmyTlAqkIWC9YWNznHPxVV2eLH3nL74bR7/24D7V7n3wsXjvJ86J5InWyetNrzssbvjml2LnHbfvMnfVmob45NlfjJt//YfO3ydB7HNOPyWqqir73Kdh7fo464LL4wc/vaVz7DVXXBif/PB7us3tKWB93BuOiB987ZJuT8nuc2MDCJSwgIBNCTfX0QgQ2KaA+4+hXyAbG56KDWueiI1rn+n4ejZaN64Y8sIVlbVRVbtjJE+9TgLXVcl7x1fu+9E7Rqai+3/IN+SNLTBogWx7SyRPom5tWpp7+nTylft+w+bvX472tqZBr795YtWo7WLU2L1j1Nh9cl+jx0+PUeP2HfK65baAz3/l1nHnJUCAAAECBAgQIECAAAECBAgQIECAQP8EBKz752QUAQIECi4g4FBwchumSCANAeuearjtJ9+M4485sk+pZStWxSfOviQ2bNgYh8zcP/bZY9f44LuPjwnjxnaZ+7s77433feJzsXZdY+7323oCdW+bbr3G+//uLXHNVy+M8ePGdJnSU8D6vLNOjS+e+49RWVnR55kMIFAuAgI25dJp5yRAYGsB9x/5uSbamlfFxobNgetN7xvWPhvZtg3DumEStO0MXneGsDeFsquSn0dNGtb9yn2x1o0ro7UjLN3S1BGk7gxPLx2WYP2WxpnK0TF6iyB1LlA9bp9InlbtNXQBn/+GbmgFAgQIECBAgAABAgQIECBAgAABAgQIlKKAgHUpdtWZCBAoCQEBh5Joo0MMUiANAetsNhsXXzkvLr5ibucp3nnc6+Obl/1rTN11yiBP9uq0ZP1L/+vauPDyb3f+Mgk7f/6fPhGZTP8/oi1+eVmcfOYFccef78+ts++eu8eN13wlDpre9cl1PQWsr/uvi+OjH3jnkM9iAQKlJCBgU0rddBYCBAYi4P5jIFpDH9vc+GK34HXzur8NfeFeVshkqqKyZvymr+qu7xXVE3r8fTI2mVfKr2y2Ndqa12z6aun63t6yusffJ2OTefl61YzZo/OJ1JuD1DV1u+ZrO+tGhM9/LgMCBAgQIECAAAECBAgQIECAAAECBAgQ6Emg/+kdfgQIECBQUAEBh4Jy2yxlAmkIWCckWz8dOvldEq4+5aS3x7tPeGO85sD9oqZ6cP/v2JOnVp95/n/ED2+8tVP/J9+5LD707hMG1I3Gpg3xTxd+Na750c875/3i+1fGu084pss6PQWs7/zFd+Po1x48oP0MJlDqAgI2pd5h5yNAoDcB9x8jf21ks225J1wnT7xuXrcwWhoXR3PT4tx78iTskXhVVNV3hK+7h7AzFdWRqaiK3Hsm+f7Vn2Orn7f+e28/J2fMtrdENtuy6b29tV8/Rx/jtw5Pt3WEp9tb148Ea+7J09V1O0dN7c6b3sfslXsidRKozmQqR6Smct7U579y7r6zEyBAgAABAgQIECBAgAABAgQIECBAoHcBAWtXBwECBFIqIOCQ0sYoqyACaQlYN6xdH2ddcHn84Ke39HjuSRPGxVvecES86/hj4phZh8RuO+8YFRUV/TLa+snTyaRPn/rB2HXnHfs1f/OglpbW+N8//Dnu+uvDnfO+85Xz4/SPnNhlna0D1r096XpAmxtMoAQFegjY3FGCx3SkVwUujgg9dkUQiAj3H+m+DNrbmnJB69xX00sd74ujueN37a3r0n2AMquuomrMpuB03c5R3RGirq7dJfe75KuisrbMRNJ9XAHrdPdHdQQIECBAgAABAgQIECBAgAABAgQIEBgpAQHrkZK3LwECBPoQEHBwiZSzQFoC1kkPnnz2+fjk2Zd0CTD31ptpe0+ND7zruNzTrQ85cFpUVfX+9Llk3Q+dfl48/PhTw97qS/7ljLjws7O7rLt1wPrgGfvFf1/95Uhq9iJA4FWBHgI2eEpb4M0C1qXdYKfrv4D7j/5bpXFkW0tDtDS+GrzeFMR+NYCdbd+YxrKLtqZMxageAtSbwtPVdbtEZfW4oj1bORYuYF2OXXdmAgQIECBAgAABAgQIECBAgAABAgQI9C0gYN23kREECBAYEQEBhxFht2lKBNIUsE5Ilq1YFVd85/r41nU/jbXrGvulNHXXKXHWJz4UH//Qu2K7ieO7zRGw7hejQQQKLiBgXXDykd5QwHqkO2D/1Ai4/0hNK/JSSHvr+mhrXhNtLWu2+d7e0rDFmIa81JK2RZMwdGXN+KisHh8VW3y/+Xc9vVdU1aftGOoZgoCA9RDwTCVAgAABAgQIECBAgAABAgQIECBAgEAJCwhYl3BzHY0AgeIWEHAo7v6pfmgCPQWszzvr1Pjiuf8YlZUVQ1r8hpt+Had8+sLONd76pqPihm9+qccQ9NYbvbJ8ZfzPr26P6392a9zzwKP9quPo1x4cX/vSv8ShM/fvMl7Aul98BhEouICAdcHJR3pDAeuR7oD9UyPg/iM1rUhRIdlew9jtLesi294S2WxLZNtbN32f+7nr97H598mY3NjNX1v+/Or3yeEzFdWRyVRHpqKq+/db/S1yP3eM2/r7ZH5uneqoqB6TC1D3FJaO8K9HU3TRjUgpAtYjwm5TAgQIECBAgAABAgQIECBAgAABAgQIpF7A/wUh9S1SIAEC5Sog4FCunXfuRCCbzcbFV86Li6+Y2wly+kdOjKsuPidqR48aEtKXv/69OP/L3+xcYyAB682TkvpeXrYy7n3osbjp1t/HHX++P55/cUmvdR156IHxw69fEvvuuXvnmK0D1gfP2C/+++ovx7S9pw7pfL1NXrFqTZx85gXxmzv+khuS7/3ycgiLEiiAQA8BmySA61U6AhdFxJu2OI6Aden01kmGKOD+Y4iAphMgULQCAtZF2zqFEyBAgAABAgQIECBAgAABAgQIECBAIK8CAtZ55bU4AQIEBi8g4DB4OzNLQ+CquT+Ks//9ys7DvPO41+dCyhPHjxv0AZtbWuLfLv16JGtvfg1HcLu1tS1eXPJy/Pr3f46f3fL7+N2d93ar8YqLPhufPe0fIpPZ9PHrmb+9EH9/xvlx/yMLcj+PHVMXt/34mzHrsJmDPt+2JgpY54XVoiUoIGBTgk3teqQ/CFiXfI8dcJAC7j8GCWcaAQJFL+DzX9G30AEIECBAgAABAgQIECBAgAABAgQIECCQFwEB67ywWpQAAQJDFxBwGLqhFYpb4Je3/Sne8/GzOw8xHE9cXr5ydXzkrC/E//7hz53rXnTOaXHR2XM6g89DVUuebn3fwwvirAsuj3seeLRzua0D4qvWNORqueX2OzvHXP+NL8bJJ759qCX0OF/AOi+sFi1BAQGbEmxq1yMJWJd8ix1wsALuPwYrZx4BAsUu4PNfsXdQ/QQIECBAgAABAgQIECBAgAABAgQIEMiPgIB1flytSoAAgSELCDgMmdACRS7wyIKn4/2z/zWefm5R50l+ds3lceI7jh30ye598LF47yfOiSUvL+9c4xffvzLefcIx3dZ8/sUlcddfH46HHnsq7nv48Xjd4QfFxZ87IyorK/q1f/I063ec8pnOsVsHxHt6mvZnPvn3cfmFn4lRNTX92iMZlAS1Tz/3skjC49P33TP22WO3eNcJb8i9b/kSsO43qYFlLiBgU/IXgIB1ybfYAQcr4P5jsHLmESBQ7AI+/xV7B9VPgAABAgQIECBAgAABAgQIECBAgACB/AgIWOfH1aoECBAYsoCAw5AJLVDkAmsa1sXsz30xbvy/v+s8yQfedVxcffn5MXH8uAGfrrW1LS766tVx2deu7Zy7radiJ+Hqt598Vqxd15gb/7Y3vy5++PVLYvKkCf3a+8lnn48PnX5ePPz4U7nxPe11062/j5Nmn9u5XhKQ/sl3LouDpu/brz2SQbf98e54/5xzO+ucsuPk+NV1V8VhB03vsoaAdb9JDSxzAQGbkr8ABKxLvsUOOFgB9x+DlTOPAIFiF/D5r9g7qH4CBAgQIECAAAECBAgQIECAAAECBAjkR0DAOj+uViVAgMCQBQQchkxogRIQ+O6PfxGzz/lil5P8x+fPinNOPyWqqioHdMI//uWB+Ng/XRTJk6k3v7b1xOjFLy+Lk8+8IO748/254WPH1MWN8y6PE944q1/7bh3QPu4NR8SPvnVpbL/dxM75f3thcZzy6QtzT8re/PrUxz8Ql1/wmaivq+1zn2UrVuWeXn3zr5O84KbXh959Qsz9z8/HuLH1XeYLWPfJaQCBnICATclfCALWJd9iBxysgPuPwcqZR4BAsQv4/FfsHVQ/AQIECBAgQIAAAQIECBAgQIAAAQIE8iMgYJ0fV6sSIEBgyAICDkMmtEAJCPQUQE6O9bl//Eic+6mPdgkr93bcjc3N8dNf3R4XfOXbXcLVU3edEjfO+0ocfvCMHqe2tbXHxVfOjS9edU3n34889MD43lUXRfKk6W291jc2xWcvujLm3XBz57Dzzjo1vnjuP0ZlZUXn77LZbHztuz+Jf/7CFV2W+/dzTotzz/xY1I4e1es2ybmuvPqGOP/L3+wck4TAf/j1L8Z73vrGbvMErEvgfxCOUBABAZuCMI/kJgLWI6lv71QLuP9IdXsUR4BAHgV8/ssjrqUJECBAgAABAgQIECBAgAABAgQIECBQxAIC1kXcPKUTIFDaAgIOpd1fp+u/wE9+cVuc9i9firXrGrtMSgLSn/zwe+J9b39z7LHblBhTX9f593XrG+OFxS/nnj7945//Jv7fPQ9227A/T8J+ZMHT8fdnnB8Lnn6uc/5rXzMjLv23M+PNrzu8x6doJ6HwJPSc7Lv5ta0wd09PoU7mffi9b40LPzs79t9nj8hkun5kS/a46KtXxw9+ekuXc23r6dcC1v2/5owsbwEBm5Lvv4B1ybfYAQcr4P5jsHLmESBQ7AI+/xV7B9VPgAABAgQIECBAgAABAgQIECBAgACB/AgIWOfH1aoECBAYsoCAw5AJLVAiAq2tbXHV3Bvii//nmm4h68Ee8fzPfCLO/8ypUV9Xu80lenvCdDJp2t5T46jDD8oFoJNXEmBOgtx33z+/25p9hbmTAPepn7047nng0W5zDzlwWhx3zJGx3cTx0dzcEn/8ywPxuzvv7TbuhDfOim//x3mx19RdejyTgPVgrxbzyk1AwKbkOy5gXfItdsDBCrj/GKyceQQIFLuAz3/F3kH1EyBAgAABAgQIECBAgAABAgQIECBAID8CAtb5cbUqAQIEhiwg4DBkQguUkEASsv6fX/0292To519cMuiTTZowLi75lzNi9snvjVE1Nf1ap2nDxrj8m9fFv18xt1/jtxw0dkxdnPupj8U5Z5wStaNHbXP+088tik+ff3nc9se7B7xPEq7+xmXnxr577t7rXAHrAbOaUKYCAjYl33gB65JvsQMOVsD9x2DlzCNAoNgFfP4r9g6qnwABAgQIECBAgAABAgQIECBAgAABAvkRELDOj6tVCRAgMGQBAYchE1qgBAUWvbQ0vvX9n8a8G26Olasb+n3CJOj8/nceF184e3bssdvO/Z63eWB7e3v8/H/vyIWs5y94pl/z33DkIfGFs+fEsUcfHhUVFf2as76xKeZef3P81zU/7leQPAmMX/DPs+O0U97X59O4Baz71QKDCISATclfBALWJd9iBxysgPuPwcqZR4BAsQv4/FfsHVQ/AQIECBAgQIAAAQIECBAgQIAAAQIE8iMgYJ0fV6sSIEBgyAICDkMmtEAJCyRB5Iceeyru+uvD8Zf7HsmFkR989MnOE0/ddUrsu+duccjM/eONsw6N1732oJg4ftyQRZInaSf7/O8f/hx3PzA/HntyYWcQOtnzgGl7xaxDZ8Z73/ammL7vnlFVVTmoPZPzJWf7xW/+mAt0P/TYk7F2XWNurVmHzYz999kj3v/Ot0QS4h43tr5fewhY94vJIAIC1qV/DQhYl36PnXCQAu4/BglnGgECRS8gYF30LXQAAgQIECBAgAABAgQIECBAgAABAgQI5EVAwDovrBYlQIDA0AUEHIZuaAUCBAgQIDBQAQGbgYoV3XgB66JrmYILJeD+o1DS9iFAIG0CPv+lrSPqIUCAAAECBAgQIECAAAECBAgQIECAQDoEBKzT0QdVECBAoJuAgIOLggABAgQIFF5AwKbw5gXeUcC6wOC2Kx4B9x/F0yuVEiAwvAI+/w2vp9UIECBAgAABAgQIECBAgAABAgQIECBQKgIC1qXSSecgQKDkBAQcSq6lDkSAAAECRSAgYFMETRpaiQLWQ/Mzu4QF3H+UcHMdjQCBbQr4/OcCIUCAAAECBAgQIECAAAECBAgQIECAAIGeBASsXRcECBBIqYCAQ0oboywCBAgQKGkBAZuSbm9yOAHrkm+xAw5WwP3HYOXMI0Cg2AV8/iv2DqqfAAECBAgQIECAAAECBAgQIECAAAEC+REQsM6Pq1UJECAwZAEBhyETWoAAAQIECAxYQMBmwGTFNkHAutg6pt6CCbj/KBi1jQgQSJmAz38pa4hyCBAgQIAAAQIECBAgQIAAAQIECBAgkBIBAeuUNEIZBAgQ2FpAwME1QYAAAQIECi8gYFN48wLvKGBdYHDbFY+A+4/i6ZVKCRAYXgGf/4bX02oECBAgQIAAAQIECBAgQIAAAQIECBAoFQEB61LppHMQIFByAgIOJddSByJA4P+zcx9gcpXl34Cf2RQggYQqRXpPIHQpIirdhgW74KdCAiiChiBqICK9KKBiEJIoKqD8BbGDVAtIlRqS0LsUqQmkkLLzeSbZJbvZMpudmT3lnuvKFcyc877Pcz+HfGf5/76XAIEMCAjYZGBIvStRwLp3fu7OsYCfP3I8XK0RINClgPc/DwgBAgQIECBAgAABAgQIECBAgAABAgQIdCQgYO25IECAQEoFBBxSOhhlESBAgECuBQRscj3epDkB69yPWINLK+Dnj6WVcx8BAlkX8P6X9QmqnwABAgQIECBAgAABAgQIECBAgAABAvURELCuj6tVCRAg0GsBAYdeE1qAAAECBAj0WEDApsdkWbtBwDprE1NvwwT8/NEwahsRIJAyAe9/KRuIcggQIECAAAECBAgQIECAAAECBAgQIJASAQHrlAxCGQQIEGgvIODgmSBAgAABAo0XELBpvHmDdxSwbjC47bIj4OeP7MxKpQQI1FbA+19tPa1GgAABAgQIECBAgAABAgQIECBAgACBvAgIWOdlkvogQCB3AgIOuRuphggQIEAgAwICNhkYUu9KFLDunZ+7cyzg548cD1drBAh0KeD9zwNCgAABAgQIECBAgAABAgQIECBAgAABAh0JCFh7LggQIJBSAQGHlA5GWQQIECCQawEBm1yPN2lOwDr3I9bg0gr4+WNp5dxHgEDWBbz/ZX2C6idAgAABAgQIECBAgAABAgQIECBAgEB9BASs6+NqVQIECPRaQMCh14QWIECAAAECPRYQsOkxWdZuELDO2sTU2zABP380jNpGBAikTMD7X8oGohwCBAgQIECAAAECBAgQIECAAAECBAikREDAOiWDUAYBAgTaCwg4eCYIECBAgEDjBQRsGm/e4B0FrBsMbrvsCPj5IzuzUikBArUV8P5XW0+rESBAgAABAgQIECBAgAABAgQIECBAIC8CAtZ5maQ+CBDInYCAQ+5GqiECBAgQyICAgE0GhtS7EgWse+fn7hwL+Pkjx8PVGgECXQp4//OAECBAgAABAgQIECBAgAABAgQIECBAgEBHAgLWngsCBAikVEDAIaWDURYBAgQI5FpAwCbX402aE7DO/Yg1uLQCfv5YWjn3ESCQdQHvf1mfoPoJECBAgAABAgQIECBAgAABAgQIECBQHwEB6/q4WpUAAQK9FhBw6DWhBQgQIECAQI8FBGx6TJa1GwSsszYx9TZMwM8fDaO2EQECKRPw/peygSiHAAECBAgQIECAAAECBAgQIECAAAECKREQsE7JIJRBgACB9gICDp4JAgQIECDQeAEBm8abN3hHAesGg9suOwJF+/nj5VenxwGHHxdX//2WHg9p5RWHxNZbbBpDV1g+dtlhq3jvLtvHNltuGgMHDOjxWm54S6D9TLYevmn83wWnxWYbrYeJQF0FvP/VldfiBAgQIECAAAECBAgQIECAAAECBAgQyKyAgHVmR6dwAgTyLlC0gEPe56k/AgQIEMiGgIBNNubUiyoFrHuB59Z8CxTt54/eBKw7ehLWW3vNOOTAj8WoAz4Wq62yUuoflubm5vjHLXfFI088Xak5DR8B6zRMoZg1eP8r5tx1TYAAAQIECBAgQIAAAQIECBAgQIAAge4EBKy7E/I9AQIE+kigaAGHPmK2LQECBAgQaCMgYJP7B0LAOvcj1uDSChTt549aB6xb3JPTln9w4pjY9727RKmUvv/sVi6X44FHnojTf/zz+OVlf4kTv3FYjBs9cmkfm5reJ2BdU06L9UDA+18PsFxKgAABAgQIECBAgAABAgQIECBAgACBAgmk7//SUyB8rRIgQKArgaIFHDwNBAgQIEAgDQICNmmYQl1rELCuK6/FsyxQtJ8/6hWwTp6BFZYfFOecMCa+8MkPRf/+/VL1WFz+5+vjoKNOiNffmFWpS8A6VeNRTB8JeP/rI3jbEiBAgAABAgQIECBAgAABAgQIECBAIOUCAtYpH5DyCBAorkDRAg7FnbTOCRAgQCBNAgI2aZpGXWoRsK4Lq0XzIFC0nz86ClhXGzaePefNeGPmrHjosafiqhv+FRf/9qp48pnn2jwGScj6/DPGxmc/um+qTrK+5Iqr4sCvjmuttdqeG/GMO8G6Ecr26EjA+5/nggABAgQIECBAgAABAgQIECBAgAABAgQ6EhCw9lwQIEAgpQJFCzikdAzKIkCAAIGCCQjY5H7gAta5H7EGl1agaD9/9CZg3d74xZdfje+eNSHO+/llbb5ab+0145LxJ8eu79h6acdS8/sErGtOasEcCHj/y8EQtUCAAAECBAgQIECAAAECBAgQIECAAIE6CAhY1wHVkgQIEKiFQNECDrUwswYBAgQIEOitgIBNbwVTf7+AdepHpMC+Eijazx+1DFgnM3tz7tw4+4JLYuxp49uM8JP77RUXnDk2Vho6pK9G22ZfAetUjEERKRPw/peygSiHAAECBAgQIECAAAECBAgQIECAAAECKREQsE7JIJRBgACB9gJFCzh4AggQIECAQBoEBGzSMIW61iBgXVdei2dZoGg/f9Q6YJ3Mfuas2XHMyT9a4iTr3046M/b/wB6peDwErFMxBkWkTMD7X8oGohwCBAgQIECAAAECBAgQIECAAAECBAikREDAOiWDUAYBAgTaCxQt4OAJIECAAAECaRAQsEnDFOpag4B1XXktnmWBov38UY+AdTL/hx9/Kj5/xHfitrvub30cvvjp/eLHpxwTgwct1+ePiIB1n49AASkU8P6XwqEoiQABAgQIECBAgAABAgQIECBAgAABAikQELBOwRCUQIAAgY4EihZw8BQQIECAAIE0CAjYpGEKda1BwLquvBbPskDRfv6oV8C6XC7Hj356aXz9O2e1Pg5rrr5q/OkX58T2Ww2r6hGZP39BPPTYk3H9TXfEzXfcGw8++mTcff+Drfeut/aascVmG8bO242I9+3+zth2y82if/9+na590jmT4jvfO7+qvQ/9/P5xzgljYrlll+n0+lrX17JR+5lsPXzT+L8LTovNNlovEtfHn3o2Lvy/P8Z1N94et945uXJb0vsuO2wVH9n3PbHbTtt2WXdXAMn6L7z4Svz9ljvjxtvujsnTHol7pjwYr78xq3LbCssPim222CxGDNs4PrDHrpW9hqwwuCrTxS9KTjn/1x33xh+u/kfcNfmB1j5qtX7LXrPnvFkJ+f/uqr/F7fdMad1n5RWHxDu22SJ2fcfW8bH37x7DN90gmpqaetxH3m7w/pe3ieqHAAECBJyn0X4AACAASURBVAgQIECAAAECBAgQIECAAAECtREQsK6No1UIECBQc4GiBRxqDmhBAgQIECCwFAICNkuBlq1bBKyzNS/VNlCgaD9/1CtgnYxsyoOPxScP+WZMe/jx1gmef8bYSMLLXX3enDs3/nztTXHG+J/HHfdMrXr679hmeJz67a/GHrvu0GFYtlYB63rV19JoZwHrtVZfLU7/8c/j3J9d2hp47ggnCT+PPfKg+MQH9+wycL74vUmw+r5pD8cZP/5F/Pr3V1dtngSVj/v6yDjkwI9VdTJ5EniecPEVcc6EX8WTzzzX7T49Xb9lwWRGv/3LDXHi2RMrwfzuPh/ae7c44ehDK0H1Uqm4/5nY+193T4rvCRAgQIAAAQIECBAgQIAAAQIECBAgUEyB4v6X82LOW9cECGRIoGgBhwyNRqkECBAgkGMBAZscD3dhawLWuR+xBpdWoGg/f9QzYJ2cenz42NPjosuvbB1HdydDv/jyqzHmhHPa3NOTWSYnII/7+sgYfcgBS4SLaxGwrmd9LX12FLD+wYlj4rxfXBaX/em6qjmSkPXYI7/UbfA5OYn7/It+G2NP+3GXwe2uNv7kfnvFuScfE6uvtnKnlyXPwzdP+VH85BeXV91Dy4Uf3OtdMf7Ub0Zyanl3n+f/+3Icc/IPe/wMJc9OEtA/7PMfrzqY3l0tWfve+1/WJqZeAgQIECBAgAABAgQIECBAgAABAgQINEZAwLoxznYhQIBAjwWKFnDoMZAbCBAgQIBAHQQEbOqAmq4lBazTNQ/VpEigaD9/1DNgnYz1tHMvjLGnjW+d8F677Ri/Ou+UWG2VlZaY+sxZs+OYk38U5/38sjbfJcHXbbbYLHbefkSsstLQyndJ3TfednfceufkJdZZc/VV49KfnBrv3nm7Nt/95bqb4v4HH6382f0PPBoX//at4PcH9ty1zfXrvn2N+PgH94iBAwa0rlHv+lo2aj+TpJ81Vlsl7r7/wdZakqBxUnPy++tvzIzrbrw9brvr/iUsTj/2iBhz6IGdBoaTk6uTE6sP++apS4Srk9Oct95i09h84/Ur686dOy9uv2dK3HzHvfHKazOW2OvUbx8ex3zlC9GvX9MS3yUh7rMuuDi+dcq5bb5L6t9puy1j6+GbRL9+/Sp73Pzv++Jfd9yzRD2jDvhYnHPCUV0Gxl948ZU49JhT4g9X/2OJZ2jHbbaMnbffMlZYfnDF7Kbb74l/3HJXj81S9NdVzUvx/ldzUgsSIECAAAECBAgQIECAAAECBAgQIEAgFwIC1rkYoyYIEMijQNECDnmcoZ4IECBAIHsCAjbZm1kPKxaw7iGYy4sjULSfP+odsL7kiqviwK+Oa32Ath6+afzfBafFZhutt8RD1f7a5IKjv/z5OOqQAyIJGXf0eeo/z8cpP/xZTLj4ijZfH3nwZ+LMcUfGMgMHdnhf+71O/MZhMW70yC4f9EbV19FMWgpLAsknf/PLkZwYvXhvzc3Nccc9Uyunf//rjntb+0jC6Rede1J8ZN/3dNjbg48+GZ8+9Ntx79SHWr/f5z07xynf+kpsN2LzaGpaMiydBM2TU8mPPX18m6B1EpT+9XmnxgbrrrXEXvdMeSg++qUx8eQzz1W+S+o66/jRceDHPxDLLbvMEtc/98JLcfIPf9ombJ/c87uffT/2fNeOHfbSUQA+uecrX/hkfG3kZ5d4hpJw+eNPPRvHnXFeJWTe8knumfC94+IzH9mnOH/xLerU+1/hRq5hAgQIECBAgAABAgQIECBAgAABAgQIVCUgYF0Vk4sIECDQeIGiBRwaL2xHAgQIECCwpICATe6fCgHr3I9Yg0srULSfP+odsE7Cvu/6yMFtxnHTH34au75j6zZ/9ur0GXHwUSfF765K/npa+Bl75EFxwtGHdnr6cst1b86dGyecNbFyWnbL573v3D4uGX9yrLX6ah0+Cj0NWDeyvs4C1km4+hc/PCHes0vbk7kXb/A/z/83Dv/2GW1OcP7wPu+Oid8/Lt626sptLJKA8TkTflUJZbd8dt91h7jo3BPj7Wu8rct/hZJ7//q3W+LTh32rzUnT11w6PvZ+905L3Jvsc9R3z2798yRcPfqQz0Wp1Pl/kk0C06OPPzsmXvK71vuSe5JTuRc/Wbzly/YzTYLS5532rfjcx97XYVC85b7Zc96MM8f/Ir571oQeOyzt3zNpvc/7X1onoy4CBAgQIECAAAECBAgQIECAAAECBAj0rYCAdd/6250AAQKdChQt4OBRIECAAAECaRAQsEnDFOpag4B1XXktnmWBov38kZaA9Z33TYv9vjA6kpOLk09XpyF39HzdN+3h+MTIb8bDjz9V+XrEsI3jNxecHptvvH6Hj2NPA9aNrK+jmSRh4fPPGBuf/ei+XYaSk2YTi88cNjamPfx4a++/nXRm7P+BPdpYTJ/xRow8+qS4/M/Xd3ldZ/8+v/7GrDh87OmV06xbPkkA/P998oNtbpnz5txKiPu8n1/W+ucdhew72uf2u6fERw8a0/pcdBac7ygAnwSxxxx6YLcB/WTfGa/PjCOOOzN+edlfWsuYdNa4OPizH8nyX2c9rt37X4/J3ECAAAECBAgQIECAAAECBAgQIECAAIFCCAhYF2LMmiRAIIsCRQs4ZHFGaiZAgACB/AkI2ORvpu06ErDO/Yg1uLQCRfv5o94B6/bB52Qul55/anz6w/u0GdEjTzwdf7rmxko4+NEnnonddto2TvzGYdGvX1NVo+yoj65CvD0NWDeyvo56+eKn94sfn3JMDB60XLceCxY0xwlnT4iTzpnUeu2RB38mzhx3ZCwzcGDrnyUB6SuuvCGmPPRY3D35gejfv3/89OxxnZ763dHGyR7f+d75rV8lMxs3emSbS5MTokcff1ZccNEVrX/e2UnX7fd48eVX46CjTow5c96MbUdsHhuvv3Z86sN7x4pDVmhz6fU33R4fO+jo1tO0qz2Je/FF2q/xiQ/tGZO+Py6GDlm+W/O8XOD9Ly+T1AcBAgQIECBAgAABAgQIECBAgAABAgRqKyBgXVtPqxEgQKBmAkULONQMzkIECBAgQKAXAgI2vcDLxq0C1tmYkyr7QKBoP3/UO2D9wCNPxKcO/VZMnvZI6zQv/vFJccD+76/pdOsdsO5tsT2pr6NrOzqBuqua/nXHvfH+A45oDRx3dvJzb/uqJmBdLpfjhLMnxglnTWjd7oN7vSvGn/rNWG/tNXtbQiTrn/LDn8W4M3/SutZJx3w5jv3aQd2e9r345s++8GIccPhx8feb76z88SYbrBuXTzojthq2Sa9rzMoC3v+yMil1EiBAgAABAgQIECBAgAABAgQIECBAoLECAtaN9bYbAQIEqhYoWsChahgXEiBAgACBOgoI2NQRNx1LC1inYw6qSKFA0X7+qHfAOgn6vusjB7eZ9B9+fnZ8eJ9313T6PQkwJxv39ATr3hbbk/raXzti2MbxmwtOj803Xr/qMtqHhVdYflBc8+vxsfP2I6peo5oLqwlYJ+u0Px06+bMkXH3gx98fH97nPbHNlpvGwAEDqtlyiWuSk7gPH3t6XHT5la3fdXRKeneLz5o9J7427vsx6Ve/b720Hs9qd3X05ffe//pS394ECBAgQIAAAQIECBAgQIAAAQIECBBIr4CAdXpnozICBAouULSAQ8HHrX0CBAgQSImAgE1KBlG/MgSs62dr5YwLFO3nj74IWN/0h5/Gru/YutdPyvz5C+KZ516IG2+7J6648oZKiDcJ27Z8utqnEQHrpa2v/Uz2fe8uccn4k2OVlYZWbVar0HH7DZPTol95bUbced+0+PO1N8Yfr/lnPPnMc62XnfiNw2Lc6JFL1Dnj9ZlxxHFnxi8v+0uHPay84pDYc7cdY7+93x3v3nnbWGet1aOpqamqftuHyZObvvqlT8Xaa61e1f0tF82bNz/++rebI/n/FNDyOf+MsXHo5/fv0TpZvtj7X5anp3YCBAgQIECAAAECBAgQIECAAAECBAjUT0DAun62ViZAgECvBIoWcOgVlpsJECBAgECNBARsagSZ3mUErNM7G5X1sUDRfv6od8D62n/eFvt85vDWqfb0JOUk0JuEc5MQbfLrwUeejCkPPRZ3TX4gbr1zcpdPSyMC1vWor/1MRn7uo/HDk46OQcstW/W/HbPnvBmjjz8rLrjoitZ7Lv7xSXHA/u+vao3k/qSOx5/6Tzz97Asx9aHH4t/3Tos77plSCVh39uksYJ1c/+CjT8bBR53YJsDc2TqbbbRefHK/vSqnW2+75WbRv3+/TvdM1v30od+Oe6c+VFVvPbmoq356sk5WrvX+l5VJqZMAAQIECBAgQIAAAQIECBAgQIAAAQKNFRCwbqy33QgQIFC1QNECDlXDuJAAAQIECNRRQMCmjrjpWFrAOh1zUEUKBYr280e9A9ZJwPewb57aOumth28a/3fBaZEEaDv7JCc/33b3/XHhpX+M6268vc0JyT15ZOoVsK53fe1nkpygfM4JY2K5ZZepuv0k+H3C2RPjhLMmtN7TVcA6uT45ifri315VOQ387vsfrHqvxS/sLpD84suvxlnnXxzn/eKyNqeNd7XZemuvGUcc9On44qf36/AUbwHrpRpVhzd5/6udpZUIECBAgAABAgQIECBAgAABAgQIECCQJwEB6zxNUy8ECORKoGgBh1wNTzMECBAgkFkBAZvMjq7awgWsq5VyXeEEivbzRz0D1gsWNMe4M38Sp517Yetz9MG93hUXnXtirDR0yBLPVhLyTYK9x3//gvjztTdW/ewlp2LvuM2W8cgTT7cJY9c6YN2o+moRsO7IvrOA9dKEnpPh7LTdltHc3Bx33DO1dVbdBaxbLvzvS6/Eb/50XVz82yvjtrvur2rWu75j6/jRyd+I7UZs3uZ6Aeuq+Kq6yPtfVUwuIkCAAAECBAgQIECAAAECBAgQIECAQOEEBKwLN3INEyCQFYGiBRyyMhd1EiBAgEC+BQRs8j3fiBCwzv2INbi0AkX7+aOeAeuXXnktPn/Ed+Kvf7u5dRyjD/lcnH7sETFwwIA2I0rCy7+76m9x1HfP6fLE6pVXHBJbb7Fp7LD18Nhmi01j2y03i43WX7tyGvIBhx8XV//9ltZ1axmwbmR97Wcy8nMfjR+edHQMWm7Zqh/r2XPejNHHnxXJCeItn44C1g8//lR8deyZcc0/bu1y7Z23HxGbb7x+vGPr4ZWA87BNNoihQ5aPk86ZFN/53vmt91YbsG65IXF94cVX4vZ7plROzv77zXd2Of8k1J0E9DfZYN3WPdsHrKs5Jb1qyIJd6P2vYAPXLgECBAgQIECAAAECBAgQIECAAAECBKoUELCuEsplBAgQaLRA0QIOjfa1HwECBAgQ6EhAwCb3z4WAde5HrMGlFSjazx/1DFjffveU+OhBY+K5F15qHUdnpyhPe/jx+OyXj417pz7Uem1yMvWH9totPrnfXrHNFpvFGm9bJZZbdpkOR9tRH7UMWDeyvva97PveXeKS8SfHKisNrfqxTgLnh489PS66/MrWe665dHzs/e6dWv/3zFmzY/TxZ8fES37XZt3ddto2PvvRfWOXHbaKDdZZK4asMDhKpY7/02lvA9btG5o/f0E889wLcdUNN8dv/3JDXH/T7Uv0fNbxoyMJ6rfUlJxc/pnDxsad902rXJs8N9f8enwkoXCfngl4/+uZl6sJECBAgAABAgQIECBAgAABAgQIECBQFAEB66JMWp8ECGROoGgBh8wNSMEECBAgkEsBAZtcjnXxpgSscz9iDS6tQNF+/qhXwHrBguY44ewJlROOWz6dnSzc0bWbbbRenH/G2HjPLtt1Gu5dfMb1DFg3ur72vWy/1bC49PxTY+P116n6sX7ymefic185Nm7+932Ve5ITny+fdEZsNWyT1jWS8PLHDjq6cvp38kmCycd9fWR8beRnYpmBA6vaq9YB68U3TU63/ve90+KI486M2+66v/WrD+71rsop1isNHVL5s1enz6iclP6X625qvaazIH9VTRX4Iu9/BR6+1gkQIECAAAECBAgQIECAAAECBAgQINCFgIC1x4MAAQIpFShawCGlY1AWAQIECBRMQMAm9wMXsM79iDW4tAJF+/mjXgHrBx99Mj596LfbnEh95MGfiTPHHblEePfZF16MAw4/Lv5+852tY5vwvWNj5Oc+WlW4OrnpgUeeiE8d+q2YPO2R1jVqdYJ1o+vraCbtT5/u7vluH55+3+7vrISSV115xcqtSWh83Jk/idPOvbB1qf/3yQ/GuScfUzmxuprPrNlz4mvjvh+TfvX71stP/MZhMW70yDa3J2Hvf91xb9wz5aH4971T4507bBUnHH1Y9OvXVM02ldOsP3Dgka3Xtg/qz503L751yrlxzoRftV7T2bPW1YZJUPvQY06Nl155LYZtskEl0L7fPrv1KNheVUMpvsj7X4qHozQCBAgQIECAAAECBAgQIECAAAECBAj0oYCAdR/i25oAAQJdCRQt4OBpIECAAAECaRAQsEnDFOpag4B1XXktnmWBov38UY+A9cxZs+OYk38U5/38stZHYc3VV41Lf3JqvHvn7ZZ4PO6b9nB8YuQ34+HHn6p8l1z7p1+cE8nJzdV+rrjyhvj4yGPaXF6rgHWj6+toJklo+fijDqkqlPzm3LlxzEk/ih/99NJWj/b3J6dWHz729Ljo8itbrzn7u0fF6EM+Vy15PP7Us/HZr4xtc7p0RwHrJFz9/gOOaD0pu33Yu7sN24f1OzoJvf38k4B0cur34id2d7fPNf+4NT4x6pjWOpfmOexuj7R/7/0v7RNSHwECBAgQIECAAAECBAgQIECAAAECBPpGQMC6b9ztSoAAgW4FihZw6BbEBQQIECBAoAECAjYNQO7bLQSs+9bf7ikWKNrPH7UOWM+fvyDOuuDiyonCi3+++qVPxZnjvhbLLbvMEtO/875psd8XRsdzL7xU+W6F5QfFNb8eHztvP6KqJ+U/z/83Pn/Ed+Jv//p3m+trFbBudH0dzWS9tdeMyyeeETtsPbxbkxtuuiMOPGJcq2cSFP79z86KHbfdovXe6TPeiJFHnxSX//n61j879duHx7eP+FK36ycXJHM+/vsXxKk/+lmb6zsKWLc/ATyZ7+UTz4x93rNzVXu1D2jvtduO8avzTonVVlmp9f4nnn42DvzquMpJ2S2fr3zxk3HmcUfG4EHLdbvPiy+/Wjm9+ndXJf/P48LPpz+8TyQnqVd7one3m2TgAu9/GRiSEgkQIECAAAECBAgQIECAAAECBAgQINAHAgLWfYBuSwIECFQjULSAQzUmriFAgAABAvUWELCpt3Cfry9g3ecjUEBaBaZNjNkRsWxLfZu+76Zo6tf6P9Na9lLXVcuAdRKQPvmHP21zcnVS2E7bbRkXnnN8JKcKd/R55Imn4zOHjY0kyNzyOemYL8e3vvrF6N+/X5e9JeHq0cefHZf96bolrvvHFRM6PDE7ufCSK66qBHJbPkmwONmzX7+mJdZpdH0dzSQp6iP7vifGn/bNePsab+vU5P4HHq0Ep2+76/7Waw79/P5xzglj2oTb57w5N8accE6bWX1wr3fFpO+PizXetkqX5skJ2T+cdGmc/INJrac9t9xw/JhD4vijRkWp9NZ/al2woDlOOHtCnHTOpNZ1u3smWi5MTkNP5jvxkt91OatyuVw5sfvr3zmrTe3fHXNIHHP4FzoM9rdcmPRz9gWXxNjTxrfem4TALzr3pIp5UT7NC+bEQ3991+Ltzhk2KrpPpxcFSJ8ECBAgQIAAAQIECBAgQIAAAQIECBAosICAdYGHr3UCBNItIGCd7vmojgABAgTyKSBgnc+5LtaVgHXuR6zBpRWYNjGejYg1W+7feM8ro/+ynQdal3aftNzXm4D1GzNnxWsz3oj7H3gkfvPH6+IPV/89XnltRpvWkpOXf/HDE+I9u2zXactJiParx54ZP/+/P7VekwRcvzN6VHz5C5/o8ATiGa/PjN9eeX2c8eNfxIOPPtnh2hf/+KQ4YP/3d/jdH6/5Z3zki0e1fpcEfpNw8Zabb7TE9Y2ur7OAdVLYru/YOs46fnS8Y5vh0dT0Vhg8OVH66r/fUglNL+6x9fBN49c/OaXDcPtPf/2HGDnmpDb9fvaj+0ZykvX666y1hEOyxy133hdnnvfL+PO1N3bo2lGYO7nwvmkPV0L00x5+vPW+pIdTvnV47P7OHToM0ienUieh51///urWe7o6ybujU6iTG5Oexo0eGZtvvH6b4HfyXbJHchL3Ly/7S5t+enL6dVr+Xe5tHfPn/Dceuf4Diy/z3LBRseSD0NuN3E+AAAECBAgQIECAAAECBAgQIECAAAECmRMQsM7cyBRMgEBRBASsizJpfRIgQIBAmgQErNM0jbrUImBdF1aL5kFg2qSYEuUY3tLLBu++NJZZYeM8tNZhD12FeXvbdBKGPfu7o+Nj7999iWBr+7Wv+cet8YlRxyxxInKyRhJ+3nr4JtGvX794/Y2Zceud98ft99zf5trNNlovNlj37fHXv93cunQS7P5/n/xgh20kp2Xv94XRkZy63fJJQt3bbLFZ5bTjTTZcN0791uExZIXBla8bWV/7mXxyv70qfr/547WttSYme+22Y6yw/OBIrv/j1f9YImjenX9y+vfnj/hO/O1f/25jlDjsuM2WsfP2W1bWX7BgQdw79eHKqdhPPvNcG68kHH3HvVNbHUd+7qPxw5OOjkHLtT31vbMTppPFktntssNWlQB08kn6ufG2u+PWOycvMbvTjz0ixhx6YKcnmycB7i+NPqHNCd4ti2y75Wax17t3ilVWGhpz586Lf9xyV1x/0+1L7LHPe3aOn5z+7dhwvbf39l+BTN3/5uuPxOP//MxbNZdj6rBDYotMNaFYAgQIECBAgAABAgQIECBAgAABAgQIEKiLgIB1XVgtSoAAgd4LCFj33tAKBAgQIECgpwIC1j0Vy9z1AtaZG5mCGyUwbULcEKXYvWW/t293Wqyw5t6N2r7h+9QrYJ2cTvyDE4+OXbYf0W24Omk6OR35nAmXxEk/mLREyLo7lA/tvVt8b9zX4t6pD1VOSW75HD/mkDj+qFEd7v/q9Blx6DGnxmV/uq7D5d/7zu3jkvEnx1qrr1b5vpH1tZ9Jcip0cqLyN078YSXoXc0nCS3/4MQxse97d+nS/5+33hWHfOOUTk8B72yvZP2Tv/mV2Gr4JvG5rxwbSWA9+SSh71+dd0qstspKS9w6e86bceb4X8R3z5pQTQttrklC38d85Qsx5rADKwH4rj4PP/5UfHXsmVVbLb5WEq7+8anHxCYbrNvjGrN+w+vPXRv/uevbb7VRjr8NOyT2yHpf6idAgAABAgQIECBAgAABAgQIECBAgACB3gsIWPfe0AoECBCoi4CAdV1YLUqAAAECBLoUELDO/QMiYJ37EWtwaQWmTYjvRSmObrl/lY2+EKttfsTSLpf6+2odsB4xbOPKCcOf+NCeMXjQcj3qPwkxX/bn6+KEsyZUFfhNQtzfPPyL8aG93xXLDBxYCfkufir1+3Z/Z1x07omx6sordlhHcv3hY8/o8LTjJGB7+aQzYqthm7Te26j6OgpYn3PCmJg+44049vTx8bNL/9ila3Jq9wlHHxrrr7NWVf73THkoxp35k/jztTd2e/3KKw6J0YccEEnoOwlRJzWNPPqkuPzP11fuTYLQV11ybuz6jq07XKu5uTl+/9e/V0LWk6c90u1+yQW77bRtfOeoUbHHrjtEU1NTVffMnDU7Jlz8u/jhpF+3OXW7s5uTvo77+sg45MCP9fi5raqgDFz04gPnxsuP/uKtSsvx/WGHxDcyULoSCRAgQIAAAQIECBAgQIAAAQIECBAgQKDOAgLWdQa2PAECBJZWQMB6aeXcR4AAAQIEll5AwHrp7TJyp4B1RgalzMYLTJ0UnymV49ctOw9edcdYZ6fzGl9Ig3bsTcB6vbXXjE02WCc23Wi9SqA2+bXOWqtXHYLtrMUZr8+Mq/9+S1x5w7/i3ikPxd33P1i5NAnBvmObLSr7JOHpbbfcLPr379e6THIq9cFHnRS/uyr5K25h2PfyiWdGcipxZ58XX341fnnZX+KqG26O2++5v83p2ddcOj72fvdOS9xa7/o6C1gnJzcnAeXb7r4/Lv39NXHjbXe32uy8/YjK6dGf/vA+MXzTDXo8gyQ8nqz7l+tuiptuvyfumfJgq0Wy9nYjNo8P7LFrJew8ZIXBrSblcjnOmfCrGHPCOa1/NvbIgyoB78Vn0x4x2S+Z61//dnPcetfkmPLgY61B6OS52mKzDWPn7UbER9/33hi2yQZdrtXVvypJ0Ppfd9wbf7j6H5VAd/u+Nt94/fjEB/dcoq8G/euXqm2evu0rMfOl29+abSk+O3xkXJqqIhVDgAABAgQIECBAgAABAgQIECBAgAABAn0iIGDdJ+w2JUCAQPcCAtbdG7mCAAECBAjUWkDAutaiqVtPwDp1I1FQWgSmTYhNoxQLE72LPpvsfU30G7hyWkpUBwECBGoqsGDuK/Hwtfu0XbMcmw07JB6q6UYWI0CAAAECBAgQIECAAAECBAgQIECAAIFMCghYZ3JsiiZAoAgCAtZFmLIeCRAgQCBtAgLWaZtIzesRsK45qQXzJDBtYtwZEdu19LTGlt+OFdf7eJ5a1AsBAgRaBV578rfx/P2nLS5y17BRsT0iAgQIECBAgAABAgQIECBAgAABAgQIECCQCAhYew4IECCQUgEB65QORlkECBAgkGsBAetcjzdpTsA69yPWYG8Epk6I40qlOKlljcGr7hTr7DS+N0u6lwABAqkVePq2w2PmS7e11leKOG7zUXFKagtWGAECBAgQIECAAAECBAgQIECAAAECBAg0VEDAuqHcNiNAgED1AgLW1Vu5kgABAgQI1EpAwLpWkqldR8A6taNRWBoEHpoYwxZETvGJCQAAIABJREFUTF28lnV3/kkMWuUdaShPDQQIEKiZwKyX74inbv1ym/X6RQzfdFRMq9kmFiJAgAABAgQIECBAgAABAgQIECBAgACBTAsIWGd6fIonQCDPAgLWeZ6u3ggQIEAgrQIC1mmdTM3qErCuGaWF8iowbWL8MSL2a+lv+dXfE2vvcFZe29UXAQIFFXjm32PijRf+sXj3fxo2Kj5cUA5tEyBAgAABAgQIECBAgAABAgQIECBAgEAHAgLWHgsCBAikVEDAOqWDURYBAgQI5FpAwDrX402aE7DO/Yg12FuBh34Wey1YENcuvs46O/44Bq+2c2+Xdj8BAgRSITDzxVvj6du/2qaWcsQ+w0e1/bsvFcUqggABAgQIECBAgAABAgQIECBAgAABAgT6TEDAus/obUyAAIGuBQSsPSEECBAgQKDxAgLWjTdv8I4C1g0Gt102BaZNjOsjYo+W6pcdOizWf9dF2WxG1QQIEGgn8MRNn48506ct/qc3DBsVe4IiQIAAAQIECBAgQIAAAQIECBAgQIAAAQKLCwhYex4IECCQUgEB65QORlkECBAgkGsBAetcjzdpTsA69yPWYC0Epk6MvUsR1yy+1mqbHR6rbPylWixvDQIECPSZwMuPXBgvPji+zf79+sXemx4U1/VZUTYmQIAAAQIECBAgQIAAAQIECBAgQIAAgVQKCFinciyKIkCAQISAtaeAAAECBAg0XkDAuvHmDd5RwLrB4LbLrsC0CXF+lOLQxTtYd5eJMWjlbbPblMoJECi0wKxX7o6nbhnV1qAcFww7JA4rNIzmCRAgQIAAAQIECBAgQIAAAQIECBAgQKBDAQFrDwYBAgRSKiBgndLBKIsAAQIEci0gYJ3r8SbNCVjnfsQarJXAlEmxclM5HoyIVVvWHLj8+rH+rr+Mpv6DarWNdQgQINAQgeb5s+KJf/2/mPvGE4vv91JzKTbbYmS80pAibEKAAAECBAgQIECAAAECBAgQIECAAAECmRIQsM7UuBRLgECRBASsizRtvRIgQIBAWgQErNMyibrVIWBdN1oL51Fg6oT4fKkUv1y8tyFr7RtrbXtKHtvVEwECORZ49u5jY8azV7fpsBTx+c1HxcU5bltrBAgQIECAAAECBAgQIECAAAECBAgQINALAQHrXuC5lQABAvUUELCup661CRAgQIBAxwIC1rl/MgSscz9iDdZaYOqEOLtUitGLrzt0nY/EmluNq/VW1iNAgEBdBJ6776SY/vQf2q5dirOHjYwxddnQogQIECBAgAABAgQIECBAgAABAgQIECCQCwEB61yMURMECORRoH3AOo896okAAQIECKRdYNio8DNT2ofUs/oErHvm5WoCFYFpE6P9vzux4rr7xxojxhIiQIBAqgWen3xqvPbUFe1r/PuwUbF7qgtXHAECBAgQIECAAAECBAgQIECAAAECBAj0uYCwQJ+PQAEECBDoWEDA2pNBgAABAgT6XkDAuu9nUOMKBKxrDGq5YghM+0msX+ofV5Yjhi3e8UrrfTJW3/KbxUDQJQECmRN44f4z4tUnL2tTdyliWnl+fGDYl+OJzDWkYAIECBAgQIAAAQIECBAgQIAAAQIECBBoqICAdUO5bUaAAIHqBQSsq7dyJQECBAgQqJeAgHW9ZPtsXQHrPqO3cdYFpkyKjUvluKoUsfHivay0wWdj9eFjst6e+gkQyJnAC1PPilcf/3WbrsoRj5RL8f4tRsYjOWtXOwQIECBAgAABAgQIECBAgAABAgQIECBQBwEB6zqgWpIAAQK1EBCwroWiNQgQIECAQO8EBKx755fCuwWsUzgUJWVHYPLEGNa/FFdGOdZfvOqVNzww3jbs69lpRKUECORa4L/TfhCvPHZx2x5L8cT8cnxgxKiYluvmNUeAAAECBAgQIECAAAECBAgQIECAAAECNRMQsK4ZpYUIECBAgAABAq0C5XYW3rk8HAQIEEiHgIB1OuagigwLTLsgRpSa4spyxNqLtzFkrffFmluNi1K/ZTLcndIJEMiyQHnBm/HcfSfFjGf/2qaNUsQz5eb4wLBDY3KW+1M7AQIECBAgQIAAAQIECBAgQIAAAQIECDRWQNinsd52I0CAAAECBIohIGBdjDnrkgCB7AkIWGdvZipOocDDk2LbeeW4qhSx+uLlLbPCxpWQ9bIrbpHCqpVEgECeBea8NqUSrn7z9UfatFmOeGFAKd6/yci4O8/9640AAQIECBAgQIAAAQIECBAgQIAAAQIEai8gYF17UysSIECAAAECBASsPQMECBBIp4CAdTrnoqoMCkyZFDs2leMvEbFq+/LX3Oo7MXSdD2ewKyUTIJBFgelP/6ESru7g81JzKT64xci4PYt9qZkAAQIECBAgQIAAAQIECBAgQIAAAQIE+lZAwLpv/e1OgAABAgQI5FNAwDqfc9UVAQLZFxCwzv4MdZAigSmTYuOmcvw0It7dvqyVN/hcvG34USmqVikECORR4L9Tz45XHv9VR639s7kUB28xMtoeaZ1HBD0RIECAAAECBAgQIECAAAECBAgQIECAQF0EBKzrwmpRAgQIECBAoOACAtYFfwC0T4BAagUErFM7GoVlWWDaxPhxRBzevofBq+4Ua2x1XAxYbs0st6d2AgRSKDBv9nPx/H0nxcyXOjycevywUfHVFJatJAIECBAgQIAAAQIECBAgQIAAAQIECBDIkICAdYaGpVQCBAgQIEAgMwIC1pkZlUIJECiYgIB1wQau3cYJTJkQhzWV4iftd2zqPzhW2+zwWGn9TzWuGDsRIJBrgVef+E28+OD4aJ4/c4k+m8vx5S0OifNzDaA5AgQIECBAgAABAgQIECBAgAABAgQIEGiIgIB1Q5htQoAAAQIECBRMQMC6YAPXLgECmREQsM7MqBSaRYEHJsWu5XL8NCI2a1//oFV2qAStl1tpRBZbUzMBAikQmP3q5EqwetbL/+6omgdLpTh485HxrxSUqgQCBAgQIECAAAECBAgQIECAAAECBAgQyIGAgHUOhqgFAgQIECBAIHUCAtapG4mCCBAgUBEQsPYgEKizwMMXx5D5sysh6090tNXKGx5YCVqXmgbUuRLLEyCQF4Fy87x48cHz4pXHLuqspcv7LxcHb3JgzMhLz/ogQIAAAQIECBAgQIAAAQIECBAgQIAAgb4XELDu+xmogAABAgQIEMifgIB1/maqIwIE8iEgYJ2POeoiAwIP/jSOam6O0yJiYPtyByy3Vqy2+eExZK19M9CJEgkQ6EuBGc9eHS8+MD7mzX62ozLmRsTYYaPirL6s0d4ECBAgQIAAAQIECBAgQIAAAQIECBAgkE8BAet8zlVXBAgQIECAQN8KCFj3rb/dCRAg0JmAgLVng0ADBaZOivWaIk4tl+NzHW27whp7VILWAwev18CqbEWAQBYE5s58shKsfv35Gzor99cxP8YO+3I8kYV+1EiAAAECBAgQIECAAAECBAgQIECAAAEC2RMQsM7ezFRMgAABAgQIpF9AwDr9M1IhAQLFFBCwLubcdd3HAtMmxv6lUiVovVlHpay47v6x8oYHxsDB6/ZxpbYnQKCvBebOfCpeeezieO2pKzospVSKB8vNceywQ+K3fV2r/QkQIECAAAECBAgQIECAAAECBAgQIEAg3wIC1vmer+4IECBAgACBvhEQsO4bd7sSIECgOwEB6+6EfE+gjgLTJsYpETG2sy1WXPfjsfKGBwha13EGliaQVoGFwepL4rWnOs9NJyfibzYqjk1rD+oiQIAAAQIECBAgQIAAAQIECBAgQIAAgXwJCFjna566IUCAAAECBNIhIGCdjjmoggABAu0FBKw9EwT6WGDqBbFdqSlOjYh9OytlxfU+HitvkJxovU4fV2t7AgTqLTB35tPxyuMXx2tPdnkg9dXlfjF2+EFxV73rsT4BAgQIECBAgAABAgQIECBAgAABAgQIEGgRELD2LBAgQIAAAQIEai8gYF17UysSIECgFgIC1rVQtAaBGghMmxBfjFIcFREjOltuxfU+EStvkJxoLWhdA3JLEEiVwMJg9SXx2pOXd1XX5CjH2cMOiZ+nqnjFECBAgAABAgQIECBAgAABAgQIECBAgEAhBASsCzFmTRIgQIAAAQINFhCwbjC47QgQIFClgIB1lVAuI9AogSkT40tNUQlab9nZniuuu38MXWe/WG7FTrPYjSrXPgQI9FJg9muTY/rTf4rXnrqiq5Xub444e4tRcWEvt3M7AQIECBAgQIAAAQIECBAgQIAAAQIECBBYagEB66WmcyMBAgQIECBAoFMBAWsPBwECBNIpIGCdzrmoikA8MDG+1BwxphSxRWccg1beNoauvV8MXefDxAgQyJjA9Kf/GNOf+VPMeuXurn6ImtIUcdbmgtUZm65yCRAgQIAAAQIECBAgQIAAAQIECBAgkE8BAet8zlVXBAgQIECAQN8KCFj3rb/dCRAg0JmAgLVng0DKBR6YFAeVy5UTrTsNWvcbuGIMXfvDseI6+8XA5TdIeUfKI1BcgblvPB6vPf2nmP7MH2PB3Ne6gphSKsXZm4+MnxVXS+cECBAgQIAAAQIECBAgQIAAAQIECBAgkDYBAeu0TUQ9BAgQIECAQB4EBKzzMEU9ECCQRwEB6zxOVU+5FJg6MQ4uJUHrUgzvqsHl37ZbDF1nv1hhjT1y6aApAlkUeP35G2L603+KN/57Y9fll2NquRRnDx8VP81in2omQIAAAQIECBAgQIAAAQIECBAgQIAAgXwLCFjne766I0CAAAECBPpGQMC6b9ztSoAAge4EBKy7E/I9gZQJTJsY+0fElyLiQ12VNmDQ2pUTrVdYY88YuPz6KetCOQTyLzD3jSfi9eevr5xYPW/WM901/OeIuHDYqLiiuwt9T4AAAQIECBAgQIAAAQIECBAgQIAAAQIE+kpAwLqv5O1LgAABAgQI5FlAwDrP09UbAQJZFhCwzvL01F5ogQcvjM0XzI+DSgvD1qt2hbHcSiMqJ1onvwYMenuh3TRPoJ4C82b9J5LTqpNfs1+d3N1WL5UiLiz1j59t9qV4oLuLfU+AAAECBAgQIECAAAECBAgQIECAAAECBPpaQMC6rydgfwIECBAgQCCPAgLWeZyqnggQyIOAgHUepqiHwgtM+2l8sdxcCVvv1h3GoJW3XRi2XnOP6L/s6t1d7nsCBLoRmD/nhXj9uYWh6lmv3N2tVynixuS06s1HxYXdXuwCAgQIECBAgAABAgQIECBAgAABAgQIECCQIgEB6xQNQykECBAgQIBAbgQErHMzSo0QIJAzAQHrnA1UO8UWeOhnsVNzc3ypXI6DImJAdxqDV90xll90snX/ZVbu7nLfEyCwSGD+m69UAtVvPH9DzHzp9mpc5iWh6nLEhcNHxa3V3OAaAgQIECBAgAABAgQIECBAgAABAgQIECCQNgEB67RNRD0ECBAgQIBAHgQErPMwRT0QIJBHAQHrPE5VT4UXePjiGLJgdhzQHPHx/52Wu2c1IINXe2cs/7Z3xuBVd46By69fzS2uIVAogblvPBEzX7o13vjvzTHzxZur6r0ccX2U44oBg+LiTQ6MGVXd5CICBAgQIECAAAECBAgQIECAAAECBAgQIJBSAQHrlA5GWQQIECBAgECmBQSsMz0+xRMgkGMBAescD1drBBKBhyfG2vPK8fFSKfaPiHdXozJw8LoxeNWdYvBqO8WgVXeOpn7LVnObawjkSqB5wZyY9dKtMfPF22LmS7fF3JlPVdvfP0vluGJe/7hixEHxdLU3uY4AAQIECBAgQIAAAQIECBAgQIAAAQIECKRdQMA67RNSHwECBAgQIJBFAQHrLE5NzQQIFEFAwLoIU9YjgUUCD/0sNlzQHPtHOT4eETtXCzN41R1jUBK4XnWnWHbo5tXe5joCmROYM/2BSph61ktJqPr2ntR/a5Tit/2a4opND4rHenKjawkQIECAAAECBAgQIECAAAECBAgQIECAQFYEBKyzMil1EiBAgAABAlkSELDO0rTUSoBAkQQErIs0bb0SWEzgvgti8wFNsX954enW21WL03/Z1SsnWydh60GrbB/9l1m12ltdRyB1AvPffClmvXxnJVSdnFQ9f84LPanxzoi4Yl5zXLHVofFAT250LQECBAgQIECAAAECBAgQIECAAAECBAgQyKKAgHUWp6ZmAgQIECBAIO0CAtZpn5D6CBAoqoCAdVEnr28CiwlMuyBGRP/Yu9Qce0fE3uWIftUCDRy8Xiy30ohYbqWtYrkVR8QyQzap9lbXEWi4wJszHo7Zr90Xs1+dXPk1d+aTVddQilgQEdeWy3FtlOPaYYfG5KpvdiEBAgQIECBAgAABAgQIECBAgAABAgQIEMiBgIB1DoaoBQIECBAgQCB1AgLWqRuJgggQIFARELD2IBAg0EZgym9iYGlG7N20MGi9d5RjeE+I+g1YIZZdFLZuCV439VuuJ0u4lkBNBJoXzI7Zry4KU782Oea8el8smPd6z9YuxdRSxLVNEdfOGxLXbvGpmNuzBVxNgAABAgQIECBAgAABAgQIECBAgAABAgTyIyBgnZ9Z6oQAAQIECBBIj4CAdXpmoRICBAgsLiBg7XkgQKBLgUcmxcbzy4vC1kngOmL5npItO3TYwlOuV9wqll1xeAwcvG5Pl3A9gW4F5s58Kua8NrX1hOo506d1e08HF7yx6JTq66I5rh1+WDy8NIu4hwABAgQIECBAgAABAgQIECBAgAABAgQI5FFAwDqPU9UTAQIECBAg0NcCAtZ9PQH7EyBAoGMBAWtPBgECPRJ4YGLskZxsXS7H7qVS7NSjmxdd3NR/UCyzwsYLfw3ZpPWfk9OvfQh0J5CcQv3m648s/DXj4dZ/bp4/q7tbO/v+1oj4e/OCuG6Lw+L6pV3EfQQIECBAgAABAgQIECBAgAABAgQIECBAIO8CAtZ5n7D+CBAgQIAAgb4QELDuC3V7EiBAoHsBAevujVxBgEAnAo9fGMvOnBu79OsXO0c5dilF7FyOWG1pwQYMevui0PXGsewKC4PXA5dff2mXc18OBOa+8UQlQD3n9YfjzRkLQ9XzZv1nqTsrRbwYpbil3By3Jr/3nx23bHJkvLnUC7qRAAECBAgQIECAAAECBAgQIECAAAECBAgUSEDAukDD1ioBAgQIECDQMAEB64ZR24gAAQI9EhCw7hGXiwkQ6E7g4Z/F8AULYpfmiF0qoetSDO/unq6+L/VbNpZdFLQeMGjtGDjo7VH5ffDa0W/gSr1Z2r0pEVgw99WYO/OZmDfrmZg76z8Lf3/jiZjz+iNRXjCnt1VOKUckJ1TfUu4Xt2xxUEzt7YLuJ0CAAAECBAgQIECAAAECBAgQIECAAAECRRUQsC7q5PVNgAABAgQI1FNAwLqeutYmQIDA0gsIWC+9nTsJEKhC4MELYtXmfrFLNMcuUYqdImJE9OKU68W3bBqwwluB60FrLwpeLwxgD1huzSqqc0mjBObNfm5hcLoSpP5PzJ31VqC6ed7rtSrjxYiYHOW4LZrilqYFcctmh8ZLtVrcOgQIECBAgAABAgQIECBAgAABAgQIECBAoOgCAtZFfwL0T4AAAQIECNRDQMC6HqrWJECAQO8FBKx7b2gFAgR6KDB5fKzTb2CMiHKMKJViq0Wh6yR4XbNPqWnAwsD1oLdH/2VXi/7LrBL9l1k1+i36vf+yq1b+rNQ0sGZ7FnGhcvPcmP/myzH/zZdi/pyXY0Hye+v/frH1ROpy87xa80xOwtSlctzXXIrJC+bG5BGHx9O13sR6BAgQIECAAAECBAgQIECAAAECBAgQIECAwFsCAtaeBgIECBAgQIBA7QUErGtvakUCBAjUQkDAuhaK1iBAoNcC5b9F/2kPxValfguD1xGtwes1er14Fwv0Gzi0ErxOwtb9Fv2+MHy96M8GDo2m/stXfvXrPzii1FTPcvp+7XJzLJg/M5rnv1H5tWDu9DYB6iRIvXiIOvm+zp/nK6dSR9wXpZhcXhCTh20a95V2j/l13tfyBAgQIECAAAECBAgQIECAAAECBAgQIECAQDsBAWuPBAECBAgQIECg9gIC1rU3tSIBAgRqISBgXQtFaxAgUDeBqRfEmtEUWzaVY6NyLPzV1BQblsuxUUQsX7eNO1m4qf+gRWHr5aNpwOC3wteL/3P/wdE0IAllD66ckF0q9Y9SU//K79HUb+H/XvRnsdh3yTVRWvR9y/URUS7Pj3Lz/MrvUV7Q+s/Jn8Vi35XLCyIWXddyfXLCdHMSmJ73RiyohKbb/XPyZ/NmLvou+X5Wo0mT/d6IiMci4tEoxaOlUjxanh+PlfrH/ZsfHM/2RUH2JECAAAECBAgQIECAAAECBAgQIECAAAECBJYUELD2VBAgQIAAAQIEai8gYF17UysSIECgFgIC1rVQtAYBAn0ikISvm/rFhs1J+LocG/UrxYZJADuS8HUp3tYnRdm0M4EXKwHqRSHqWBCPLYh4tCni0eGHxnPYCBAgQIAAAQIECBAgQIAAAQIECBAgQIAAgfQLCFinf0YqJECAAAECBLInIGCdvZmpmACBYggIWBdjzrokUDiBf18QQ4f2iw3nNcf6EbFmUynWKJdijSjHmpH83hxrlpI/i+hXOJzaNtwcUQlIP5/8Xo54viniuebywv8d5XhymYhHNzo0ptd2W6sRIECAAAECBAgQIECAAAECBAgQIECAAAECjRYQsG60uP0IECBAgACBIggIWBdhynokQCCLAgLWWZyamgkQqJnAYxNj9dnlWLNfU6yxoLwwiF0qV4LXa5ai8vuKETG08qsUQ6IcDftvh3c8FNHcHLHT5jVrt5qFyqVSTC+XY0ZE5ffpTU3xXDkJTJfiudKi3xc0x/PLleK5DUfFC9Us6hoCBAgQIECAAAECBAgQIECAAAECBAgQIEAg+wIN+z+SZJ9KBwQIECBAgACBqgUErKumciEBAgQaKiBg3VBumxEgkHWBhy+OIXPmxtB+zTG01BxDmiOG9i8t/D0JYJcjhpbKlUD2kHLyeykGlkrRPyIGlCMGRHMMSP65afE/S/48YkApon/lmkW//t/3YuCceVH6zdh4MyLmJb9Ki34vR8wvt/uzlu/L5Zjfcn1yTRKYjogZ5VJML0VMj3LMaIqYPn/R7/0jps/pHzOWHRjTNzmwEqz2IUCAAAECBAgQIECAAAECBAgQIECAAAECBAgsISBg7aEgQIAAAQIECNReQMC69qZWJECAQC0EBKxroWgNAgQI1F5g54i4ZdGy+0TEtbXfwooECBAgQIAAAQIECBAgQIAAAQIECBAgQIAAgeoFBKyrt3IlAQIECBAgQKBaAQHraqVcR4AAgcYKCFg31ttuBAgQqFbghojYfdHFd0TEjtXe6DoCBAgQIECAAAECBAgQIECAAAECBAgQIECAQD0EBKzroWpNAgQIECBAoOgCAtZFfwL0T4BAWgUErNM6GXURIFBkgV0j4qZ2AO+PiL8WGUXvBAgQIECAAAECBAgQIECAAAECBAgQIECAQN8KCFj3rb/dCRAgQIAAgXwKCFjnc666IkAg+wIC1tmfoQ4IEMifwPURsUe7tm6NiF3y16qOCBAgQIAAAQIECBAgQIAAAQIECBAgQIAAgawICFhnZVLqJECAAAECBLIkIGCdpWmplQCBIgkIWBdp2nolQCALAjtHxC2dFPq+/4Wsr85CE2okQIAAAQIECBAgQIAAAQIECBAgQIAAAQIE8icgYJ2/meqIAAECBAgQ6HsBAeu+n4EKCBAg0JGAgLXnggABAukSaP/38uLVOcU6XbNSDQECBAgQIECAAAECBAgQIECAAAECBAgQKJSAgHWhxq1ZAgQIECBAoEECAtYNgrYNAQIEeiggYN1DMJcTIECgjgK7RsRN3ay/d0RcV8caLE2AAAECBAgQIECAAAECBAgQIECAAAECBAgQ6FBAwNqDQYAAAQIECBCovYCAde1NrUiAAIFaCAhY10LRGgQIEKiNwPURsUc3SznFujbWViFAgAABAgQIECBAgAABAgQIECBAgAABAgR6KCBg3UMwlxMgQIAAAQIEqhAQsK4CySUECBDoAwEB6z5AtyUBAgQ6ENg5Im6pUsYp1lVCuYwAAQIECBAgQIAAAQIECBAgQIAAAQIECBConYCAde0srUSAAAECBAgQaBEQsPYsECBAIJ0CAtbpnIuqCBAonsANEbF7lW07xbpKKJcRIECAAAECBAgQIECAAAECBAgQIECAAAECtRMQsK6dpZUIECBAgAABAi0CAtaeBQIECKRTQMA6nXNRFQECxRLoyenVLTJ7RcT1xWLSLQECBAgQIECAAAECBAgQIECAAAECBAgQINCXAgLWfalvbwIECBAgQCCvAgLWeZ2svggQyLqAgHXWJ6h+AgTyINCT06tb+nWKdR4mrwcCBAgQIECAAAECBAgQIECAAAECBAgQIJAhAQHrDA1LqQQIECBAgEBmBASsMzMqhRIgUDABAeuCDVy7BAikTmBpTq9uaWLPiEjC2T4ECBAgQIAAAQIECBAgQIAAAQIECBAgQIAAgboLCFjXndgGBAgQIECAQAEFBKwLOHQtEyCQCQEB60yMSZEECORYYGlOr27hcIp1jh8MrREgQIAAAQIECBAgQIAAAQIECBAgQIAAgbQJCFinbSLqIUCAAAECBPIgIGCdhynqgQCBPAoIWOdxqnoiQCArAr05vbqlxz0iIvm73IcAAQIECBAgQIAAAQIECBAgQIAAAQIECBAgUFcBAeu68lqcAAECBAgQKKiAgHVBB69tAgRSLyBgnfoRKZAAgRwL9Ob06hYWp1jn+AHRGgECBAgQIECAAAECBAgQIECAAAECBAgQSJOAgHWapqEWAgQIECBAIC8CAtZ5maQ+CBDIm4CAdd4mqh8CBLIiUIvTq1t63T0i/p6VxtVJgAABAgQIECBAgADezHrsAAAgAElEQVQBAgQIECBAgAABAgQIZFNAwDqbc1M1AQIECBAgkG4BAet0z0d1BAgUV0DAuriz1zkBAn0rcH1E7FGjEpJwdRKy9iFAgAABAgQIECBAgAABAgQIECBAgAABAgQI1E1AwLputBYmQIAAAQIECiwgYF3g4WudAIFUCwhYp3o8iiNAIKcCtTy9uoVol4i4Nade2iJAgAABAgQIECBAgAABAgQIECBAgAABAgRSICBgnYIhKIEAAQIECBDInYCAde5GqiECBHIiIGCdk0FqgwCBTAnU8vTqlsaTv89rdSJ2pjAVS4AAAQIECBAgQIAAAQIECBAgQIAAAQIECDRGQMC6Mc52IUCAAAECBIolIGBdrHnrlgCB7AgIWGdnViolQCAfAvU4vbpFxinW+XhGdEGAAAECBAgQIECAAAECBAgQIECAAAECBFIpIGCdyrEoigABAgQIEMi4gIB1xgeofAIEcisgYJ3b0WqMAIGUClwXEXvWqbbkZOy96rS2ZQkQIECAAAECBAgQIECAAAECBAgQIECAAIGCCwhYF/wB0D4BAgQIECBQFwEB67qwWpQAAQK9FhCw7jWhBQgQIFC1QD1Pr24pwinWVY/DhQQIECBAgAABAgQIECBAgAABAgQIECBAgEBPBASse6LlWgIECBAgQIBAdQIC1tU5uYoAAQKNFhCwbrS4/QgQKLJAPU+vbnG9NiL2KTKy3gkQIECAAAECBAgQIECAAAECBAgQIECAAIH6CAhY18fVqgQIECBAgECxBQSsiz1/3RMgkF4BAev0zkZlBAjkS6ARp1e3iDnFOl/Pjm4IECBAgAABAgQIECBAgAABAgQIECBAgEAqBASsUzEGRRAgQIAAAQI5ExCwztlAtUOAQG4EBKxzM0qNECCQcoFGnF7dQnB1RLwv5R7KI0CAAAECBAgQIECAAAECBAgQIECAAAECBDImIGCdsYEplwABAgQIEMiEgIB1JsakSAIECiggYF3AoWuZAIGGC+waETf1YNeXI2KVdtd39GddLekU6x6Au5QAAQIECBAgQIAAAQIECBAgQIAAAQIECBDoXkDAunsjVxAgQIAAAQIEeiogYN1TMdcTIECgMQIC1o1xtgsBAsUWqPb06hcj4nsRMT4iZrYjGxwRX/3fn38jIlatgvOaiNi3iutcQoAAAQIECBAgQIAAAQIECBAgQIAAAQIECBCoSkDAuiomFxEgQIAAAQIEeiQgYN0jLhcTIECgYQIC1g2jthEBAgUVqOb06uR06jMWBatnLXLq7P15UEQcGRFHd3DKdXtip1gX9KHTNgECBAgQIECAAAECBAgQIECAAAECBAgQqIeAgHU9VK1JgAABAgQIFF1AwLroT4D+CRBIq4CAdVonoy4CBPIi0NXp1Umw+qz/BaXP/V9g+o12DXf3/rz8oqD1mIhYuROsqyPifXmB1AcBAgQIECBAgAABAgQIECBAgAABAgQIECDQtwIC1n3rb3cCBAgQIEAgnwLdBUTy2bWuCBAgkH4BAev0z0iFBAhkV+CdEfGvDsp/ZVGw+kcdBKtbLq/2/TkJWh8VEV+PiJU62GuHiLgzu4QqJ0CAAAECBAgQIECAAAECBAgQIECAAAECBNIiIGCdlkmogwABAgQIEMiTQLUBkTz1rBcCBAhkQUDAOgtTUiMBAlkVaH969fSI+H5E/KCLYHVLrz19fx6y6ETroyNi6GJgV0bEB7MKqG4CBAgQIECAAAECBAgQIECAAAECBAgQIEAgPQIC1umZhUoIECBAgACB/Aj0NCCSn851QoAAgXQLCFinez6qI0AguwI7R8Qti8p/7X+h53MWBatnVNnS0r4/J0HrlhOtW4LW20XE3VXu6zICBAgQIECAAAECBAgQIECAAAECBAgQIECAQIcCAtYeDAIECBAgQIBA7QWWNiBS+0qsSIAAAQKLCwhYex4IECBQH4Hk9OodFgWrk3B1tcHqlmp6+/68YkSMjoivR8RNTrGuz5CtSoAAAQIECBAgQIAAAQIECBAgQIAAAQIEiiQgYF2kaeuVAAECBAgQaJRAbwMijarTPgQIECiagIB10SauXwIEGiGwZUR8KiLO/l/AOTm9emk+tXp/XikixkTEr/5X09SlKcQ9BAgQIECAAAECBAgQIECAAAECBAgQIECAAIFEQMDac0CAAAECBAgQqL1ArQIita/MigQIECi2gIB1seevewIE0ivg/Tm9s1EZAQIECBAgQIAAAQIECBAgQIAAAQIECBAopICAdSHHrmkCBAgQIECgzgICInUGtjwBAgSWUkDAeinh3EaAAIE6C3h/rjOw5QkQIECAAAECBAgQIECAAAECBAgQIECAAIGeCQhY98zL1QQIECBAgACBagQERKpRcg0BAgQaLyBg3XhzOxIgQKAaAe/P1Si5hgABAgQIECBAgAABAgQIECBAgAABAgQIEGiYgIB1w6htRIAAAQIECBRIQECkQMPWKgECmRIQsM7UuBRLgECBBLw/F2jYWiVAgAABAgQIECBAgAABAgQIECBAgAABAlkQELDOwpTUSIAAAQIECGRNQEAkaxNTLwECRREQsC7KpPVJgEDWBLw/Z21i6iVAgAABAgQIECBAgAABAgQIECBAgAABAjkXELDO+YC1R4AAAQIECPSJgIBIn7DblAABAt0KCFh3S+QCAgQI9ImA9+c+YbcpAQIECBAgQIAAAQIECBAgQIAAAQIECBAg0JmAgLVngwABAgQIECBQewEBkdqbWpEAAQK1EBCwroWiNQgQIFB7Ae/PtTe1IgECBAgQIECAAAECBAgQIECAAAECBAgQINALAQHrXuC5lQABAgQIECDQiYCAiEeDAAEC6RQQsE7nXFRFgAAB78+eAQIECBAgQIAAAQIECBAgQIAAAQIECBAgQCBVAgLWqRqHYggQIECAAIGcCAiI5GSQ2iBAIHcCAta5G6mGCBDIiYD355wMUhsECBAgQIAAAQIECBAgQIAAAQIECBAgQCAvAgLWeZmkPggQIECAAIE0CQiIpGkaaiFAgMBbAgLWngYCBAikU8D7czrnoioCBAgQIECAAAECBAgQIECAAAECBAgQIFBYAQHrwo5e4wQIECBAgEAdBQRE6ohraQIECPRCQMC6F3huJUCAQB0FvD/XEdfSBAgQIECAAAECBAgQIECAAAECBAgQIECAQM8FBKx7buYOAgQIECBAgEB3AgIi3Qn5ngABAn0jIGDdN+52JUCAQHcC3p+7E/I9AQIECBAgQIAAAQIECBAgQIAAAQIECBAg0FABAeuGctuMAAECBAgQKIiAgEhBBq1NAgQyJyBgnbmRKZgAgYIIeH8uyKC1SYAAAQIECBAgQIAAAQIECBAgQIAAAQIEsiIgYJ2VSamTAAECBAgQyJKAgEiWpqVWAgSKJCBgXaRp65UAgSwJeH/O0rTUSoAAAQIECBAgQIAAAQIECBAgQIAAAQIECiAgYF2AIWuRAAECBAgQaLiAgEjDyW1IgACBqgQErKtichEBAgQaLuD9ueHkNiRAgAABAgQIECBAgAABAgQIECBAgAABAgS6EhCw9nwQIECAAAECBGovICBSe1MrEiBAoBYCAta1ULQGAQIEai/g/bn2plYkQIAAAQIECBAgQIAAAQIECBAgQIAAAQIEeiEgYN0LPLcSIECAAAECBDoREBDxaBAgQCCdAgLW6ZyLqggQIOD92TNAgAABAgQIECBAgAABAgQIECBAgAABAgQIpEpAwDpV41AMAQIECBAgkBMBAZGcDFIbBAjkTkDAOncj1RABAjkR8P6ck0FqgwABAgQIECBAgAABAgQIECBAgAABAgQI5EVAwDovk9QHAQIECBAgkCYBAZE0TUMtBAgQeEtAwNrTQIAAgXQKeH9O51xURYAAAQIECBAgQIAAAQIECBAgQIAAAQIECisgYF3Y0WucAAECBAgQqKOAgEgdcS1NgACBXggIWPcCz60ECBCoo4D35zriWpoAAQIECBAgQIAAAQIECBAgQIAAAQIECBDouYCAdc/N3EGAAAECBAgQ6E5AQKQ7Id8TIECgbwQErPvG3a4ECBDoTsD7c3dCvidAgAABAgQIECBAgAABAgQIECBAgAABAgQaKiBg3VBumxEgQIAAAQIFERAQKcigtUmAQOYEBKwzNzIFEyBQEAHvzwUZtDYJECBAgAABAgQIECBAgAABAgQIECBAgEBWBASsszIpdRIgQIAAAQJZEhAQydK01EqAQJEEBKyLNG29EiCQJQHvz1malloJECBAgAABAgQIECBAgAABAgQIECBAgEABBASsCzBkLRIgQIAAAQINFxAQaTi5DQkQIFCVgIB1VUwuIkCAQMMFvD83nNyGBAgQIECAAAECBAgQIECAAAECBAgQIECAQFcCAtaeDwIECBAgQIBA7QUERGpvakUCBAjUQkDAuhaK1iBAgEDtBbw/197UigQIECBAgAABAgQIECBAgAABAgQIECBAgEAvBASse4HnVgIECBAgQIBAJwICIh4NAgQIpFNAwDqdc1EVAQIEvD97BggQIECAAAECBAgQIECAAAECBAgQIECAAIFUCQhYp2ociiFAgAABAgRyIiAgkpNBaoMAgdwJCFjnbqQaIkAgJwLen3MySG0QIECAAAECBAgQIECAAAECBAgQIECAAIG8CAhY52WS+iBAgAABAgTSJCAgkqZpqIUAAQJvCQhYexoIECCQTgHvz+mci6oIECBAgAABAgQIECBAgAABAgQIECBAgEBhBQSsCzt6jRMgQIAAAQJ1FBAQqSOupQkQINALAQHrXuC5lQABAnUU8P5cR1xLEyBAgAABAgQIECBAgAABAgQIECBAgAABAj0XELDuuZk7CBAgQIAAAQLdCQiIdCfkewIECPSNgIB137jblQABAt0JeH/uTsj3BAgQIECAAAECBAgQIECAAAECBAgQIECAQEMFBKwbym0zAgQIECBAoCACAiIFGbQ2CRDInICAdeZGpmACBAoi4P25IIPWJgECBAgQIECAAAECBAgQIECAAAECBAgQyIqAgHVWJqVOAgQIECBAIEsCAiJZmpZaCRAokoCAdZGmrVcCBLIk4P05S9NSKwECBAgQIECAAAECBAgQIECAAAECBAgQKICAgHUBhqxFAgQIECBAoOECAiINJ7chAQIEqhIQsK6KyUUECBBouID354aT25AAAQIECBAgQIAAAQIECBAgQIAAAQIECBDoSkDA2vNBgAABAgQIEKi9gIBI7U2tSIAAgVoICFjXQtEaBAgQqL2A9+fam1qRAAECBAgQIECAAAECBAgQIECAAAECBAgQ6IWAgHUv8NxKgAABAgQIEOhEQEDEo0GAAIF0CghYp3MuqiJAgID3Z88AAQIECBAgQIAAAQIECBAgQIAAAQIECBAgkCoBAetUjUMxBAgQIECAQE4EBERyMkhtECCQOwEB69yNVEMECOREwPtzTgapDQIECBAgQIAAAQIECBAgQIAAAQIECBAgkBcBAeu8TFIfBAgQIECAQJoEBETSNA21ECBA4C0BAWtPAwECBNIp4P05nXNRFQECBAgQIECAAAECBAgQIECAAAECBAgQKKyAgHVhR69xAgQIECBAoI4CAiJ1xLU0AQIEeiEgYN0LPLcSIECgjgLen+uIa2kCBAgQIECAAAECBAgQIECAAAECBAgQIECg5wIC1j03cwcBAgQIECBAoDsBAZHuhHxPgACBvhEQsO4bd7sSIECgOwHvz90J+Z4AAQIECBAgQIAAAQIECBAgQIAAAQIECBBoqICAdUO5bUaAAAECBAgUREBApCCD1iYBApkTELDO3MgUTIBAQQS8Pxdk0NokQIAAAQIECBAgQIAAAQIECBAgQIAAAQJZERCwzsqk1EmAAAECBAhkSUBAJEvTUisBAkUSELAu0rT1SoBAlgS8P2dpWmolQIAAAQIECBAgQIAAAQIECPx/9u47zLKi2hvwumSGIQxBlIuEi2QBJSgz5IyACSMCF68iInlmSBJEQKIEBckokhQVMVyQJEGJKiIGxBxQQSQpSUBgvmef+/WRzqe76/SuXf2e5/EP6L2rVr2rxBr5dR0CBAgQIEBgAgg0IWDd91+wTIC2WCIBAgQIECBAgAABAgQIECBAgAABAgQIECBAgAABAv9foAn/TlOzCBAgQIAAAQIECBAgQIAAgYIEmvB/RghYF7ThLIUAAQIECBAgQIAAAQIECBAgQIAAAQIECBAgQIDACAWa8O80R7gkjxMgQIAAAQIECBAgQIAAAQI5CzTh/4wQsM55B6mNAAECBAgQIECAAAECBAgQIECAAAECBAgQIECAQHcFmvDvNLsrYHQCBAgQIECAAAECBAgQIEBgXAWa8H9GCFiP65YwGQECBAgQIECAAAECBAgQIECAAAECBAgQIECAAIGsBJrw7zSzAlMMAQIECBAgQIAAAQIECBAgMDaBJvyfEb0C1rNmyVuPreXeJkCAAAECBLot8B//0fuI5fzSbXHjEyBAoDOBTTbZJG6++eb2wzfddFNsvPHGnb3sKQIECBDomoDzc9doDUyAAAECBBor0Pd8EBFN+HeajfVWOAECBAgQIECAAAECBAgQINBfoAn/Z4SAtZ1LgAABAgQINEpAQKRR7VIsAQITSEDAegI121IJEGiUgPNzo9qlWAIECBAgMC4CAtbjwmwSAgQIECBAgAABAgQIECBAYAgBAWvbgwABAgQIECCQWEBAJDGo4QgQIJBIQMA6EaRhCBAgkFjA+TkxqOEIECBAgEABAgLWBTTREggQIECAAAECBAgQIECAQMMFBKwb3kDlEyBAgAABAvkJCIjk1xMVESBAoBIQsLYPCBAgkKeA83OefVEVAQIECBCoU0DAuk59cxMgQIAAAQIECBAgQIAAAQKVgIC1fUCAAAECBAgQSCwgIJIY1HAECBBIJCBgnQjSMAQIEEgs4PycGNRwBAgQIECgAAEB6wKaaAkECBAgQIAAAQIECBAgQKDhAgLWDW+g8gkQIECAAIH8BARE8uuJiggQIFAJCFjbBwQIEMhTwPk5z76oigABAgQI1CkgYF2nvrkJECBAgAABAgQIECBAgACBSkDA2j4gQIAAAQIECCQWEBBJDGo4AgQIJBIQsE4EaRgCBAgkFnB+TgxqOAIECBAgUICAgHUBTbQEAgQIECBAgAABAgQIECDQcAEB64Y3UPkECBAgQIBAfgICIvn1REUECBCoBASs7QMCBAjkKeD8nGdfVEWAAAECBOoUELCuU9/cBAgQIECAAAECBAgQIECAQCUgYG0fECBAgAABAgQSCwiIJAY1HAECBBIJCFgngjQMAQIEEgs4PycGNRwBAgQIEChAQMC6gCZaAgECBAgQIECAAAECBAgQaLiAgHXDG6h8AgQIECBAID8BAZH8eqIiAgQIVAIC1vYBAQIE8hRwfs6zL6oiQIAAAQJ1CghY16lvbgIECBAgQIAAAQIECBAgQKASELC2DwgQIECAAAECiQUERBKDGo4AAQKJBASsE0EahgABAokFnJ8TgxqOAAECBAgUICBgXUATLYEAAQIECBAgQIAAAQIECDRcQMC64Q1UPgECBAgQIJCfgIBIfj1REQECBCoBAWv7gAABAnkKOD/n2RdVESBAgACBOgUErOvUNzcBAgQIECBAgAABAgQIECBQCQhY2wcECBAgQIAAgcQCAiKJQQ1HgACBRAIC1okgDUOAAIHEAs7PiUENR4AAAQIEChAQsC6giZZAgAABAgQIECBAgAABAgQaLiBg3fAGKp8AAQIECBDIT0BAJL+eqIgAAQKVgIC1fUCAAIE8BZyf8+yLqggQIECAQJ0CAtZ16pubAAECBAgQIECAAAECBAgQqAQErO0DAgQIECBAgEBiAQGRxKCGI0CAQCIBAetEkIYhQIBAYgHn58SghiNAgAABAgUICFgX0ERLIECAAAECBAgQIECAAAECDRcQsG54A5VPgAABAgQI5CcgIJJfT1REgACBSkDA2j4gQIBAngLOz3n2RVUECBAgQKBOAQHrOvXNTYAAAQIECBAgQIAAAQIECFQCAtb2AQECBAgQIEAgsYCASGJQwxEgQCCRgIB1IkjDECBAILGA83NiUMMRIECAAIECBASsC2iiJRAgQIAAAQIECBAgQIAAgYYLCFg3vIHKJ0CAAAECBPITEBDJrycqIkCAQCUgYG0fECBAIE8B5+c8+6IqAgQIECBQp4CAdZ365iZAgAABAgQIECBAgAABAgQqAQFr+4AAAQIECBAgkFhAQCQxqOEIECCQSEDAOhGkYQgQIJBYwPk5MajhCBAgQIBAAQIC1gU00RIIECBAgAABAgQIECBAgEDDBQSsG95A5RMgQIAAAQL5CQiI5NcTFREgQKASELC2DwgQIJCngPNznn1RFQECBAgQqFNAwLpOfXMTIECAAAECBAgQIECAAAEClYCAtX1AgAABAgQIEEgsICCSGNRwBAgQSCQgYJ0I0jAECBBILOD8nBjUcAQIECBAoAABAesCmmgJBAgQIECAAAECBAgQIECg4QIC1g1voPIJECBAgACB/AQERPLriYoIECBQCQhY2wcECBDIU8D5Oc++qIoAAQIECNQpIGBdp765CRAgQIAAAQIECBAgQIAAgUpAwNo+IECAAAECBAgkFhAQSQxqOAIECCQSELBOBGkYAgQIJBZwfk4MajgCBAgQIFCAgIB1AU20BAIECBAgQIAAAQIECBAg0HABAeuGN1D5BAgQIECAQH4CAiL59URFBAgQqAQErO0DAgQI5Cng/JxnX1RFgAABAgTqFBCwrlPf3AQIECBAgAABAgQIECBAgEAlIGBtHxAgQIAAAQIEEgsIiCQGNRwBAgQSCQhYJ4I0DAECBBILOD8nBjUcAQIECBAoQEDAuoAmWgIBAgQIECBAgAABAgQIEGi4gIB1wxuofAIECBAgQCA/AQGR/HqiIgIECFQCAtb2AQECBPIUcH7Osy+qIkCAAAECdQoIWNepb24CBAgQIECAAAECBAgQIECgEhCwtg8IECBAgAABAokFBEQSgxqOAAECiQQErBNBGoYAAQKJBZyfE4MajgABAgQIFCAgYF1AEy2BAAECBAgQIECAAAECBAg0XEDAuuENVD4BAgQIECCQn4CASH49UREBAgQqAQFr+4AAAQJ5Cjg/59kXVREgQIAAgToFBKzr1Dc3AQIECBAgQIAAAQIECBAgUAkIWNsHBAgQIECAAIHEAgIiiUENR4AAgUQCAtaJIA1DgACBxALOz4lBDUeAAAECBAoQELAuoImWQIAAAQIECBAgQIAAAQIEGi4gYN3wBiqfAAECBAgQyE9AQCS/nqiIAAEClYCAtX1AgACBPAWcn/Psi6oIECBAgECdAgLWdeqbmwABAgQIECBAgAABAgQIEKgEBKztAwIECBAgQIBAYgEBkcSghiNAgEAiAQHrRJCGIUCAQGIB5+fEoIYjQIAAAQIFCAhYF9BESyBAgAABAgQIECBAgAABAg0XELBueAOVT4AAAQIECOQnICCSX09URIAAgUpAwNo+IECAQJ4Czs959kVVBAgQIECgTgEB6zr1zU2AAAECBAgQIECAAAECBAhUAgLW9gEBAgQIECBAILGAgEhiUMMRIEAgkYCAdSJIwxAgQCCxgPNzYlDDESBAgACBAgQErAtooiUQIECAAAECBAgQIECAAIGGCwhYN7yByidAgAABAgTyExAQya8nKiJAgEAlIGBtHxAgQCBPAefnPPuiKgIECBAgUKeAgHWd+uYmQIAAAQIECBAgQIAAAQIEKgEBa/uAAAECBAgQIJBYQEAkMajhCBAgkEhAwDoRpGEIECCQWMD5OTGo4QgQIECAQAECAtYFNNESCBAgQIAAAQIECBAgQIBAwwUErBveQOUTIECAAAEC+QkIiOTXExURIECgEhCwtg8IECCQp4Dzc559URUBAgQIEKhTQMC6Tn1zEyBAgAABAgQIECBAgAABApWAgLV9QIAAAQIECBBILCAgkhjUcAQIEEgkIGCdCNIwBAgQSCzg/JwY1HAECBAgQKAAAQHrAppoCQQIECBAgAABAgQIECBAoOECAtYNb6DyCRAgQIAAgfwEBETy64mKCBAgUAkIWNsHBAgQyFPA+TnPvqiKAAECBAjUKSBgXae+uQkQIECAAAECBAgQIECAAIFKQMDaPiBAgAABAgQIJBYQEEkMajgCBAgkEhCwTgRpGAIECCQWcH5ODGo4AgQIECBQgICAdQFNtAQCBAgQIECAAAECBAgQINBwAQHrhjdQ+QQIECBAgEB+AgIi+fVERQQIEKgEBKztAwIECOQp4PycZ19URYAAAQIE6hQQsK5T39wECBAgQIAAAQIECBAgQIBAJSBgbR8QIECAAAECBBILCIgkBjUcAQIEEgkIWCeCNAwBAgQSCzg/JwY1HAECBAgQKEBAwLqAJloCAQIECBAgQIAAAQIECBBouICAdcMbqHwCBAgQIEAgPwEBkfx6oiICBAhUAgLW9gEBAgTyFHB+zrMvqiJAgAABAnUKCFjXqW9uAgQIECBAgAABAgQIECBAoBIQsLYPCBAgQIAAAQKJBQREEoMajgABAokEBKwTQRqGAAECiQWcnxODGo4AAQIECBQgIGBdQBMtgQABAgQIECBAgAABAgQINFxAwLrhDVQ+AQIECBAgkJ+AgEh+PVERAQIEKgEBa/uAAAECeQo4P+fZF1URIECAAIE6BQSs69Q3NwECBAgQIECAAAECBAgQIFAJCFjbBwQIECBAgACBxAICIolBDUeAAIFEAgLWiSANQ4AAgcQCzs+JQQ1HgAABAgQKEBCwLqCJlkCAAAECBAgQIECAAAECBBouIGDd8AYqnwABAgQIEMhPQEAkv56oiAABApWAgLV9QIAAgTwFnJ/z7IuqCBAgQGNQWmMAACAASURBVIBAnQIC1nXqm5sAAQIECBAgQIAAAQIECBCoBASs7QMCBAgQIECAQGIBAZHEoIYjQIBAIgEB60SQhiFAgEBiAefnxKCGI0CAAAECBQgIWBfQREsgQIAAAQIECBAgQIAAAQINFxCwbngDlU+AAAECBAjkJyAgkl9PVESAAIFKQMDaPiBAgECeAs7PefZFVQQIECBAoE4BAes69c1NgAABAgQIECBAgAABAgQIVAIC1vYBAQIECBAgQCCxgIBIYlDDESBAIJGAgHUiSMMQIEAgsYDzc2JQwxEgQIAAgQIEBKwLaKIlECBAgAABAgQIECBAgACBhgsIWDe8gconQIAAAQIE8hMQEMmvJyoiQIBAJSBgbR8QIEAgTwHn5zz7oioCBAgQIFCngIB1nfrmJkCAAAECBAgQIECAAAECBCoBAWv7gAABAgQIECCQWEBAJDGo4QgQIJBIQMA6EaRhCBAgkFjA+TkxqOEIECBAgEABAgLWBTTREggQIECAAAECBAgQIECAQMMFBKwb3kDlEyBAgAABAvkJCIjk1xMVESBAoBIQsLYPCBAgkKeA83OefVEVAQIECBCoU0DAuk59cxMgQIAAAQIECBAgQIAAAQKVgIC1fUCAAAECBAgQSCwgIJIY1HAECBBIJCBgnQjSMAQIEEgs4PycGNRwBAgQIECgAAEB6wKaaAkECBAgQIAAAQIECBAgQKDhAgLWDW+g8gkQIECAAIH8BARE8uuJiggQIFAJCFjbBwQIEMhTwPk5z76oigABAgQI1CkgYF2nvrkJECBAgAABAgQIECBAgACBSkDA2j4gQIAAAQIECCQWEBBJDGo4AgQIJBIQsE4EaRgCBAgkFnB+TgxqOAIECBAgUICAgHUBTbQEAgQIECBAgAABAgQIECDQcAEB64Y3UPkECBAgQIBAfgICIvn1REUECBCoBASs7QMCBAjkKeD8nGdfVEWAAAECBOoUELCuU9/cBAgQIECAAAECBAgQIECAQCUgYG0fECBAgAABAgQSCwiIJAY1HAECBBIJCFgngjQMAQIEEgs4PycGNRwBAgQIEChAQMC6gCZaAgECBAgQIECAAAECBAgQaLiAgHXDG6h8AgQIECBAID8BAZH8eqIiAgQIVAIC1vYBAQIE8hRwfs6zL6oiQIAAAQJ1CghY16lvbgIECBAgQIAAAQIECBAgQKASELC2DwgQIECAAAECiQUERBKDGo4AAQKJBASsE0EahgABAokFnJ8TgxqOAAECBAgUICBgXUATLYEAAQIECBAgQIAAAQIECDRcQMC64Q1UPgECBAgQIJCfgIBIfj1REQECBCoBAWv7gAABAnkKOD/n2RdVESBAgACBOgUErOvUNzcBAgQIECBAgAABAgQIECBQCQhY2wcECBAgQIAAgcQCAiKJQQ1HgACBRAIC1okgDUOAAIHEAs7PiUENR4AAAQIEChAQsC6giZZAgAABAgQIECBAgAABAgQaLiBg3fAGKp8AAQIECBDIT0BAJL+eqIgAAQKVgIC1fUCAAIE8BZyf8+yLqggQIECAQJ0CAtZ16pubAAECBAgQIECAAAECBAgQqAQErO0DAgQIECBAgEBiAQGRxKCGI0CAQCIBAetEkIYhQIBAYgHn58SghiNAgAABAgUICFgX0ERLIECAAAECBAgQIECAAAECDRcQsG54A5VPgAABAgQI5CcgIJJfT1REgACBSkDA2j4gQIBAngLOz3n2RVUECBAgQKBOAQHrOvXNTYAAAQIECBAgQIAAAQIECFQCAtb2AQECBAgQIEAgsYCASGJQwxEgQCCRgIB1IkjDECBAILGA83NiUMMRIECAAIECBASsC2iiJRAgQIAAAQIECBAgQIAAgYYLCFg3vIHKJ0CAAAECBPITEBDJrycqIkCAQCUgYG0fECBAIE8B5+c8+6IqAgQIECBQp4CAdZ365iZAgAABAgQIECBAgAABAgQqAQFr+4AAAQIECBAgkFhAQCQxqOEIECCQSEDAOhGkYQgQIJBYwPk5MajhCBAgQIBAAQIC1gU00RIIECBAgAABAgQIECBAgEDDBQSsG95A5RMgQIAAAQL5CQiI5NcTFREgQKASELC2DwgQIJCngPNznn1RFQECBAgQqFNAwLpOfXMTIECAAAECBAgQIECAAAEClYCAtX1AgAABAgQIEEgsICCSGNRwBAgQSCQgYJ0I0jAECBBILOD8nBjUcAQIECBAoAABAesCmmgJBAgQIECAAAECBAgQIECg4QIC1g1voPIJECBAgACB/AQERPLriYoIECBQCQhY2wcECBDIU8D5Oc++qIoAAQIECNQpIGBdp765CRAgQIAAAQIECBAgQIAAgUpAwNo+IECAAAECBAgkFhAQSQxqOAIECCQSELBOBGkYAgQIJBZwfk4MajgCBAgQIFCAgIB1AU20BAIECBAgQIAAAQIECBAg0HABAeuGN1D5BAgQIECAQH4CAiL59URFBAgQqAQErO0DAgQI5Cng/JxnX1RFgAABAgTqFBCwrlPf3AQIECBAgAABAgQIECBAgEAlIGBtHxAgQIAAAQIEEgsIiCQGNRwBAgQSCQhYJ4I0DAECBBILOD8nBjUcAQIECBAoQEDAuoAmWgIBAgQIECBAgAABAgQIEGi4gIB1wxuofAIECBAgQCA/AQGR/HqiIgIECFQCAtb2AQECBPIUcH7Osy+qIkCAAAECdQoIWNepb24CBAgQIECAAAECBAgQIECgEhCwtg8IECBAgAABAokFBEQSgxqOAAECiQQErBNBGoYAAQKJBZyfE4MajgABAgQIFCAgYF1AEy2BAAECBAgQIECAAAECBAg0XEDAuuENVD4BAgQIECCQn4CASH49UREBAgQqAQFr+4AAAQJ5Cjg/59kXVREgQIAAgToFBKzr1Dc3AQIECBAgQIAAAQIECBAgUAkIWNsHBAgQIECAAIHEAgIiiUENR4AAgUQCAtaJIA1DgACBxALOz4lBDUeAAAECBAoQELAuoImWQIAAAQIECBAgQIAAAQIEGi4gYN3wBiqfAAECBAgQyE9AQCS/nqiIAAEClYCAtX1AgACBPAWcn/Psi6oIECBAgECdAgLWdeqbmwABAgQIECBAgAABAgQIEKgEBKztAwIECBAgQIBAYgEBkcSghiNAgEAiAQHrRJCGIUCAQGIB5+fEoIYjQIAAAQIFCAhYF9BESyBAgAABAgQIECBAgAABAg0XELBueAOVT4AAAQIECOQnICCSX09URIAAgUpAwNo+IECAQJ4Czs959kVVBAgQIECgTgEB6zr1zU2AAAECBAgQIECAAAECBAhUAgLW9gEBAgQIECBAILGAgEhiUMMRIEAgkYCAdSJIwxAgQCCxgPNzYlDDESBAgACBAgQErAtooiUQIECAAAECBAgQIECAAIGGCwhYN7yByidAgAABAgTSCvz85z+Pyy67LGbMmBELLbTQqAZPFRD5+9//HieffHLssMMOscoqq4yqFi8RIECAwL8FBKztBgIECOQpkOr8nOfqVEWAAAECBAiMRkDAejRq3iFAgAABAgQIECBAgAABAgRSCghYp9Q0FgECBAgQIFCEwFZbbRXf+973Yr/99msFrRdYYIERrWusAZEqWH3qqafGpz71qZg6dWpcc801I5rfwwQIECAwsICAtZ1BgACBPAXGen7Oc1WqIkCAAAECBMYiIGA9Fj3vEiBAgAABAgQIECBAgAABAikEBKxTKBqDAAECBAgQKErgzjvvbAWbq091i/X06dNbYetOg9ajDYg88cQTrWB19Z9//OMfrfnvuOOOWHfddYvytRgCBAjUJSBgXZe8eQkQIDC0wGjPz1wJECBAgACBcgUErMvtrZURIECAAAECBAgQIECAAIGmCAhYN6VT6iRAgAABAgTGVaC6xfq6665rzzllypTWbdb77LPPsEHrkQZEqmD1aaedFieffHJUt1f3fKoa3F49rm03GQEChQsIWBfeYMsjQKCxAiM9Pzd2oQonQIAAAQIEOhYQsO6YyoMECBAgQIAAAQIECBAgQIBAlwQErLsEa1gCBAgQIECg2QLVzdHTpk3rt4gFF1wwDjzwwFbQevLkyQMustOAyFNPPRWnnHJK6z89N1a/fEC3Vzd7D6meAIH8BASs8+uJiggQIFAJdHp+pkWAAAECBAhMHAEB64nTayslQIAAAQIECBAgQIAAAQK5CghY59oZdREgQIAAAQK1C2y++eZxww03DFjHIossEjNnzoy99967X9B6uIBIFazuubH6scceG3D8LbfcMq699traDRRAgACBkgQErEvqprUQIFCSwHDn55LWai0ECBAgQIBAZwIC1p05eYoAAQIECBAgQIAAAQIECBDonoCAdfdsjUyAAAECBAg0XOD222+P9dZbb8hVVEHr6kbrvfbaKyZNmtR6drCASE+wurqx+tFHHx1yXLdXN3zzKJ8AgSwFBKyzbIuiCBAg4AZre4AAAQIECBDoJyBgbVMQIECAAAECBAgQIECAAAECdQsIWNfdAfMTIECAAAECWQtsttlmceONNw5b42KLLRYHHHBA7LnnnjHffPP1ev7pp5+O008/PU466aR45JFHhh3L7dXDEnmAAAECoxIQsB4Vm5cIECDQdQE3WHed2AQECBAgQKBxAgLWjWuZggkQIECAAAECBAgQIECAQHECAtbFtdSCCBAgQIAAgZQCt912W6y//vodD1kFrR9++OFezy+66KIdBat7XnJ7dcfcHiRAgMCIBASsR8TlYQIECIybgID1uFGbiAABAgQINEZAwLoxrVIoAQIECBAgQIAAAQIECBAoVkDAutjWWhgBAgQIECCQSmDzzTePG264IdVwQ46z1VZbxTXXXDMuc5mEAAECE01AwHqiddx6CRBoioCAdVM6pU4CBAgQIDB+AgLW42dtJgIECBAgQIAAAQIECBAgQGBgAQFrO4MAAQIECBAgMIzAnXfeGVOnTh0XJ7dXjwuzSQgQmKACAtYTtPGWTYBA9gIC1tm3SIEECBAgQGDcBQSsx53chAQIECBAgAABAgQIECBAgEAfAQFrW4IAAQIECBAg0IHApptuGjfddFMHT47+kS233DKuvfba0Q/gTQIECBAYUkDA2gYhQIBAngIC1nn2RVUECBAgQKBOAQHrOvXNTYAAAQIECBAgQIAAAQIECFQCAtb2AQECBAgQIECgA4Gbb745qmBeNz9ur+6mrrEJECAQrX+OV/887/lUvziz8cYboyFAgACBmgUErGtugOkJECBAgECGAgLWGTZFSQQIECBAgAABAgQIECBAYIIJCFhPsIZbLgECBAgQIDB6gQ033DBuueWW0Q8wxJtbbbVVXHPNNV0Z26AECBAg8H8CAtZ2AgECBPIUELDOsy+qIkCAAAECdQoIWNepb24CBAgQIECAAAECBAgQIECgEhCwtg8IECBAgAABAh0KVDedbrrpph0+PbLH3F49Mi9PEyBAYDQCAtajUfMOAQIEui8gYN19YzMQIECAAIGmCQhYN61j6iVAgAABAgQIECBAgAABAuUJCFiX11MrIkCAAAECBLooMHXq1LjzzjuTzrD55pvH9ddfn3RMgxEgQIBAfwEBa7uCAAECeQoIWOfZF1URIECAAIE6BQSs69Q3NwECBAgQIECAAAECBAgQIFAJCFjbBwQIECBAgACBEQjceOONsdlmm43gjeEfdXv18EaeIECAQAoBAesUisYgQIBAegEB6/SmRiRAgAABAk0XELBuegfVT4AAAQIECBAgQIAAAQIEmi8gYN38HloBAQIECBAgMM4CKW+xdnv1ODfPdAQITGgBAesJ3X6LJ0AgYwEB64ybozQCBAgQIFCTgIB1TfCmJUCAAAECBAgQIECAAAECBNoCAtY2AwECBAgQIEBghALf/va3Y4stthjhWwM/7vbqJIwGIUCAQEcCAtYdMXmIAAEC4y4gYD3u5CYkQIAAAQLZCwhYZ98iBRIgQIAAAQIECBAgQIAAgeIFBKyLb7EFEiBAgAABAt0QSHGL9WabbRZVWNuHAAECBMZHQMB6fJzNQoAAgZEKCFiPVMzzBAgQIECgfAEB6/J7bIUECBAgQIAAAQIECBAgQCB3AQHr3DukPgIECBAgQCBLgeuvvz623HLLMdXm9uox8XmZAAECIxYQsB4xmRcIECAwLgIC1uPCbBICBAgQINAoAQHrRrVLsQQIECBAgAABAgQIECBAoEgBAesi22pRBAgQIECAwHgIjOUWa7dXj0eHzEGAAIHeAgLWdgQBAgTyFBCwzrMvqiJAgAABAnUKCFjXqW9uAgQIECBAgAABAgQIECBAoBIQsLYPCBAgQIAAAQKjFLjuuutiq622GtXbbq8eFZuXCBAgMCYBAesx8XmZAAECXRMQsO4arYEJECBAgEBjBQSsG9s6hRMgQIAAAQIECBAgQIAAgWIEBKyLaaWFECBAgAABAnUIjOYW60033TRuuOGGOso1JwECBCa0gID1hG6/xRMgkLGAgHXGzVEaAQIECBCoSUDAuiZ40xIgQIAAAQIECBAgQIAAAQJtAQFrm4EAAQIECBAgMAaBa6+9NrbeeusRjeD26hFxeZgAAQLJBASsk1EaiAABAkkFBKyTchqMAAECBAgUISBgXUQbLYIAAQIECBAgQIAAAQIECDRaQMC60e1TPAECBAgQIJCDwJprrhk/+tGPOirF7dUdMXmIAAECXREQsO4Kq0EJECAwZgEB6zETGoAAAQIECBQnIGBdXEstiAABAgQIECBAgAABAgQINE5AwLpxLVMwAQIECBAgkJvANddcE29605s6Ksvt1R0xeYgAAQJdERCw7gqrQQkQIDBmAQHrMRMagAABAgQIFCcgYF1cSy2IAAECBAgQIECAAAECBAg0TkDAunEtUzABAgQIECCQo0Ant1hXwb4bb7wxx/LVRIAAgQkhIGA9IdpskQQINFBAwLqBTVMyAQIECBDosoCAdZeBDU+AAAECBAgQIECAAAECBAgMKyBgPSyRBwgQIECAAAECwwtcffXVsc022wz54G233RbTpk0bfjBPECBAgEBXBASsu8JqUAIECIxZQMB6zIQGIECAAAECxQkIWBfXUgsiQIAAAQIECBAgQIAAAQKNExCwblzLFEyAAAECBAjkKjDULdZur861a+oiQGAiCQhYT6RuWysBAk0SELBuUrfUSoAAAQIExkdAwHp8nM1CgAABAgQIECBAgAABAgQIDC4gYG13ECBAgAABAgQSCVx11VWx3XbbDTjaHXfcEeuuu26imQxDgAABAqMRELAejZp3CBAg0H0BAevuG5uBAAECBAg0TUDAumkdUy8BAgQIECBAgAABAgQIEChPQMC6vJ5aEQECBAgQIFCjwDrrrBN33XVXrwo23XTTuOGGG2qsytQECBAgUAkIWNsHBAgQyFNAwDrPvqiKAAECBAjUKSBgXae+uQkQIECAAAECBAgQIECAAIFKQMDaPiBAgAABAgQIJBS48sor481vfnOvEW+77baYNm1awlkMRYAAAQKjERCwHo2adwgQINB9AQHr7hubgQABAgQINE1AwLppHVMvAQIECBAgQIAAAQIECBAoT0DAuryeWhEBAgQIECBQs8DLb7Guwnw33nhjzRWZngABAgQqAQFr+4AAAQJ5CghY59kXVREgQIAAgToFBKzr1Dc3AQIECBAgQIAAAQIECBAgUAkIWNsHBAgQIECAAIHEAtdee21svfXWrVHvuOOOWHfddRPPYDgCBAgQGI2AgPVo1LxDgACB7gsIWHff2AwECBAgQKBpAgLWTeuYegkQIECAAAECBAgQIECAQHkCAtbl9dSKCBAg0E/gucd+HM88dHs898jd8fw/fhn/eur+ePHZR+KlF56JiFnECBAgQIBAAwX+I2abY1LMPs+iMefkpWKuBVeMuRddMyYtPi3mXniNBq5HyeMhIGA9HsplzOH8XEYfraI5Ait/qHet953XnNpVSqA5As7PzemVSgkQqAQErO0DAgQIECBAgAABAgQIECBAoG4BAeu6O2B+AgQIdEngn3+7I5747WXx1B+/Ef966o9dmsWwBAgQIEAgP4E5Jy8dk5d+ayyw3Htj3ldMza9AFdUmIGBdG30jJnZ+bkSbFFmogIB1oY21rMYIOD83plUKJTChBASsJ1S7LZYAAQIECBAgQIAAAQIECGQpIGCdZVsURYAAgdELPPm7L8fjP/9MPPPXW0Y/iDcJECBAgEAhApNeuUFMWWWvmP+/3l3IiixjLAIC1mPRK/dd5+dye2tlBAgQIDByAefnkZt5gwCB7ggIWHfH1agECBAgQIAAAQIECBAgQIBA5wIC1p1beZIAAQJZCzzzwI3xyN0fF6zOukuKI0CAAIG6BKqgyKJrfjwmLbFpXSWYNwMBAesMmpBRCc7PGTVDKQQIECCQnYDzc3YtURCBCScgYD3hWm7BBAgQIECAAAECBAgQIEAgOwEB6+xaoiACBAiMXOChO/aNx+89bdAXZ5t9npi06Btj3imrxzwLLB9zTloy5ph7kZhtjkkR0YT/KRi5iTcIECBAoHSBWfHSC8/EC889Gv965s/x7BO/jn8+/pN45pHvxUsvPjvo4qesuk8sPvXTpeNY3yACAta2Ro+A87O9QIAAAQITT8D5eeL13IoJNFtAwLrZ/VM9AQIECBAgQIAAAQIECBAoQaAJqbpZL4eeNavXX5bQA2sgQIDAqAWee+zH8eB3PxjPPvLDAceYvPhGseB/bhPzv6q6rbMJ/8gfNYUXCRAgQIDA/xeYFU8+eGP84y/fiqce+s6AKvMsula8asPPxtwLr0FtggkIWE+whg+wXOdne4AAAQIECPQVcH62JwgQyFNAwDrPvqiKAAECBAgQIECAAAECBAhMJIEmpO0ErCfSjrRWAgQ6Fnjq/ivjgRvfGy+98HS/dxZYYutYeLmdY54FVux4PA8SIECAAIHSBJ594pfx2G8vjiceuKbf0mabY75YYtPLYvJS25W2bOsZQkDAemJvD+fnid1/qydAgACB4QWcn4c38gQBAuMnIGA9ftZmIkCAAAECBAgQIECAAAECBAYWELC2MwgQINBAgSd/9+X4y43v6Vf53PMvF69Yed+Yb7FpDVyVkgkQIECAQHcEnn749vjbfZ+O5578bb8J/nPTL8X8//Xu7kxs1OwEBKyza8m4FeT8PG7UJiJAgACBAgScnwtooiUQKEBAwLqAJloCAQIECBAgQIAAAQIECBBouICAdcMbqHwCBCaeQHXz3p+ve3O/hS+01NvjlasdEhFN+Ef7xOubFRMgQIBA3QKz4q8/PTb+fv/X+hWy5Jb/6ybrutszTvMLWI8TdGbTOD9n1hDlECBAgEBDBJyfG9IoZRIoVkDAutjWWhgBAgQIECBAgAABAgQIEGiMQBNSeLNerjlrVq+/bAy0QgkQIJBC4LnHfhx//OZ68dILT/cabrGV9o5FltslxRTGIECAAAECRQs8+tsL4+FfnN5rjbPNMV8s/ZbbYu6F1yh67RYXIWA98XaB8/PE67kVEyBAgEBaAefntJ5GI0CgcwEB686tPEmAAAECBAgQIECAAAECBAh0R0DAujuuRiVAgEBXBP7w9bXj2Ud+2GvsxVc9MKYs8+6uzGdQAgQIECBQosDjf/hyPHTvib2WNs+ia8Uyb7urxOVa08sEBKwn3nZwfp54PbdiAgQIEEgv4Pyc3tSIBAgMLyBgPbyRJwgQIECAAAECBAgQIECAAIHuCghYd9fX6AQIEEgm8NAd+8bj957Wazw3VyfjNRABAgQITDCBgW7im7LqPrH41E9PMImJtVwB64nVb+fnidVvqyVAgACB7go4P3fX1+gECPQXELC2KwgQIECAAAECBAgQIECAAIG6BQSs6+6A+QkQINCBwDMP3Bj3f2uzXk8utNTb45WrHdrB2x4hQIAAAQIEBhL460+Pib/f/7VeP1pqmxti0hKbAitUQMC60MYOsCzn54nTayslQIAAgfETcH4eP2szESAQIWBtFxAgQIAAAQIECBAgQIAAAQJ1CwhY190B8xMgQKADgfuv3DCe+est7Sfnnn+5WHbDyyKiCf8Y72CBHiFAgAABArUIzIrff/e98dyTv23PPumVG8RS2323lmpM2n0BAevuG+cyg/NzLp1QBwECBAiUJeD8XFY/rYZA3gIC1nn3R3UECBAgQIAAAQIECBAgQGAiCDQhmTfr5Y2YNavXX06EHlkjAQITXODJ3305/nLje3opvPoNp8V8i02b4DKWT4AAAQIExi7w9MO3x5++v0+vgf5z0y/F/P/17rEPboTsBASss2tJVwpyfu4Kq0EJECBAgEBLwPnZRiBAYLwEBKzHS9o8BAgQIECAAAECBAgQIECAwGACAtb2BgECBDIX6Hv73gJLbB1LvP4TmVetPAIECBAg0ByBB350WDzxwDXtgt1i3ZzejbRSAeuRijXzeefnZvZN1QQIECDQHAHn5+b0SqUEmiwgYN3k7qmdAAECBAgQIECAAAECBAiUISBgXUYfrYIAgUIF/vm3O+KP3+x9U/UyG1wa8yywYqErtiwCBAgQIDD+As8+8cv4wy079pp46bfcHvO+Yur4F2PGrgoIWHeVN4vBnZ+zaIMiCBAgQKBwAefnwhtseQQyERCwzqQRyiBAgAABAgQIECBAgAABAhNYQMB6Ajff0gkQyF/goTv2jcfvPa1d6OTFN4ol1z45/8JVSIAAAQIEGibw57tmxlMPfadd9ZRV94nFp366YatQ7nACAtbDCTX/587Pze+hFRAgQIBAMwScn5vRJ1USaLKAgHWTu6d2AgQIECBAgAABAgQIECBQhoCAdRl9tAoCBAoV+O1ly8S/nvpje3X/ueYJMf+rNit0tZZFgAABAgTqE3jywRviL3cf1C5gzslLx3LvzAYyHAAAIABJREFU/UN9BZm5KwIC1l1hzWpQ5+es2qEYAgQIEChYwPm54OZaGoFMBASsM2mEMggQIECAAAECBAgQIECAwAQWELCewM23dAIE8hZ47rEfx++veF27yNlmnydW2PqWiGjCP7rztlUdAQIECBDoLzArfnXNBvHSi8+2f7Ts9vfE3AuvAasgAQHrgpo5wFKcn8vur9URIECAQG4Czs+5dUQ9BEoTELAuraPWQ4AAAQIECBAgQIAAAQIEmifQhJTerJezzprV6y+bJ65iAgQIdCjw+H1nxUO37dF+evLiG8WSa5/c4dseI0CAAAECBEYq0Pdrzhdf78yYsvJHRjqM5zMWELDOuDkJSnN+ToBoCAIECBAgMAIB5+cRYHmUAIERCwhYj5jMCwQIECBAgAABAgQIECBAgEBiAQHrxKCGI0CAQCqBv97yofj7L89vD7fYSnvHIsvtkmp44xAgQIAAAQJ9BB797YXx8C9Ob//dhVbcNV65wXmcChIQsC6omQMsxfm57P5aHQECBAjkJ+D8nF9PVESgJAEB65K6aS0ECBAgQIAAAQIECBAgQKCZAgLWzeybqgkQmAAC91+5YTzz11vaK331G06L+RabNgFWbokECBAgQKAegacfvj3+9P192pNPeuUGsdR2362nGLN2RUDAuius2Qzq/JxNKxRCgAABAhNEwPl5gjTaMgnUJCBgXRO8aQkQIECAAAECBAgQIECAAIG2gIC1zUCAAIFMBX572TLxr6f+2K7uvza+Iuaab6lMq1UWAQIECBBovsDzT98fv7t5+/ZC5py8dCz33j80f2FW0BYQsC57Mzg/l91fqyNAgACB/AScn/PriYoIlCQgYF1SN62FAAECBAgQIECAAAECBAg0U0DAupl9UzUBAhNA4FefnxwvvfB0e6UrbPWdmG2O+SbAyi2RAAECBAjUI1D97+6vrt2oPXn1v7srvP+peooxa1cEBKy7wprNoM7P2bRCIQQIECAwQQScnydIoy2TQE0CAtY1wZuWAAECBAgQIECAAAECBAgQaAsIWNsMBAgQyFTgF+fPFhGz2tWttO0PIqIJ/9jOFFRZBAgQIEBgWIFZ8Yur1nnZU/8RK+360rBveaA5AgLWzenVaCp1fh6NmncIECBAgMBYBJyfx6LnXQIEhhYQsLZDCBAgQIAAAQIECBAgQIAAgboFmpDU+3e6sIoazur1l3X7mZ8AAQJdE/jF+b3/Eb3Stnd1bS4DEyBAgAABAv8n8Iur1u5FsdKu/vxR0t4QsC6pm/3X4vxcdn+tjgABAgTyFHB+zrMvqiJQgoCAdQldtAYCBAgQIECAAAECBAgQINBsAQHrZvdP9QQIFCwgIFJwcy2NAAECBLIVEBDJtjVJChOwTsKY7SDOz9m2RmEECBAgULCA83PBzbU0AjULCFjX3ADTEyBAgAABAgQIECBAgAABAiFgbRMQIEAgUwEBkUwboywCBAgQKFpAQKTo9oaAddn9dX4uu79WR4AAAQJ5Cjg/59kXVREoQUDAuoQuWgMBAgQIECBAgAABAgQIEGi2gIB1s/unegIEChYQECm4uZZGgAABAtkKCIhk25okhQlYJ2HMdhDn52xbozACBAgQKFjA+bng5loagZoFBKxrboDpCRAgQIAAAQIECBAgQIAAATdY2wMECBDIVUBAJNfOqIsAAQIEShYQECm5u+EG67LbG87PhTfY8ggQIEAgSwHn5yzboigCRQgIWBfRRosgQIAAAQIECBAgQIAAAQKNFnCDdaPbp3gCBEoWEBApubvWRoAAAQK5CgiI5NqZNHW5wTqNY66jOD/n2hl1ESBAgEDJAs7PJXfX2gjUKyBgXa+/2QkQIECAAAECBAgQIECAAIFwg7VNQIAAgVwFBERy7Yy6CBAgQKBkAQGRkrvrBuuyuxtusC69wdZHgAABAlkKOD9n2RZFEShCQMC6iDZaBAECBAgQIECAAAECBAgQaLSAG6wb3T7FEyBQsoCAdcndtTYCBAgQyFVAQCTXzqSpyw3WaRxzHcX5OdfOqIsAAQIEShZwfi65u9ZGoF4BAet6/c1OgAABAgQIECBAgAABAgQIuMHaHiBAgEC2AgIi2bZGYQQIECBQsICASMHNDTdYl91dN1iX3l/rI0CAAIE8BZyf8+yLqgiUICBgXUIXrYEAAQIECBAgQIAAAQIECDRbwA3Wze6f6gkQKFhAwLrg5loaAQIECGQrICCSbWuSFOYG6ySM2Q7i/JxtaxRGgAABAgULOD8X3FxLI1CzgIB1zQ0wPQECBAgQIECAAAECBAgQIBAC1jYBAQIEMhUQEMm0McoiQIAAgaIFBESKbm8IWJfdX+fnsvtrdQQIECCQp4Dzc559URWBEgQErEvoojUQIECAAAECBAgQIECAAIFmCwhYN7t/qidAoGABAZGCm2tpBAgQIJCtgIBItq1JUpiAdRLGbAdxfs62NQojQIAAgYIFnJ8Lbq6lEahZQMC65gaYngABAgQIECBAgAABAgQIEHCDtT1AgACBXAUERHLtjLoIECBAoGQBAZGSuxtusC67veH8XHiDLY8AAQIEshRwfs6yLYoiUISAgHURbbQIAgQIECBAgAABAgQIECDQaAE3WDe6fYonQKBkAQGRkrtrbQQIECCQq4CASK6dSVOXG6zTOOY6ivNzrp1RFwECBAiULOD8XHJ3rY1AvQIC1vX6m50AAQIECBAgQIAAAQIECBAIN1jbBAQIEMhVQEAk186oiwABAgRKFhAQKbm7brAuu7vhBuvSG2x9BAgQIJClgPNzlm1RFIEiBASsi2ijRRAgQIAAAQIECBAgQIAAgUYLuMG60e1TPAECJQsIWJfcXWsjQIAAgVwFBERy7UyautxgncYx11Gcn3PtjLoIECBAoGQB5+eSu2ttBOoVELCu19/sBAgQIECAAAECBAgQIECAgBus7QECBAhkKyAgkm1rFEaAAAECBQsIiBTc3HCDddnddYN16f21PgIECBDIU8D5Oc++qIpACQIC1iV00RoIECBAgAABAgQIECBAgECzBdxg3ez+qZ4AgYIFBKwLbq6lESBAgEC2AgIi2bYmSWFusE7CmO0gzs/ZtkZhBAgQIFCwgPNzwc21NAI1CwhY19wA0xMgQIAAAQIECBAgQIAAAQIhYG0TECBAIFMBAZFMG6MsAgQIEChaQECk6PaGgHXZ/XV+Lru/VkeAAAECeQo4P+fZF1URKEFAwLqELloDAQIECBAgQIAAAQIECBBotoCAdbP7p3oCBAoWEBApuLmWRoAAAQLZCgiIZNuaJIUJWCdhzHYQ5+dsW6MwAgQIEChYwPm54OZaGoGaBQSsa26A6QkQIECAAAECBAgQIECAAAE3WNsDBAgQyFVAQCTXzqiLAAECBEoWEBApubvhBuuy2xvOz4U32PIIECBAIEsB5+cs26IoAkUICFgX0UaLIECAAAECBAgQIECAAAECjRZwg3Wj26d4AgRKFhAQKbm71kaAAAECuQoIiOTamTR1ucE6jWOuozg/59oZdREgQIBAyQLOzyV319oI1CsgYF2vv9kJECBAgAABAgQIECBAgACBcIO1TUCAAIFcBQREcu2MuggQIECgZAEBkZK76wbrsrsbbrAuvcHWR4AAAQJZCjg/Z9kWRREoQkDAuog2WgQBAgQIECBAgAABAgQIEGi0gBusG90+xRMgULKAgHXJ3bU2AgQIEMhVQEAk186kqcsN1mkccx3F+TnXzqiLAAECBEoWcH4uubvWRqBeAQHrev3NToAAAQIECBAgQIAAAQIECLjB2h4gQIBAtgICItm2RmEECBAgULCAgEjBzQ03WJfdXTdYl95f6yNAgACBPAWcn/Psi6oIlCAgYF1CF62BAAECBAgQIECAAAECBAg0W8AN1s3un+oJEChYQMC64OZaGgECBAhkKyAgkm1rkhTmBuskjNkO4vycbWsURoAAAQIFCzg/F9xcSyNQs4CAdc0NMD0BAgQIECBAgAABAgQIECAQAtY2AQECBDIVEBDJtDHKIkCAAIGiBQREim5vCFiX3V/n57L7a3UECBAgkKeA83OefVEVgRIEBKxL6KI1ECBAgAABAgQIECBAgACBZgsIWDe7f6onQKBgAQGRgptraQQIECCQrYCASLatSVKYgHUSxmwHcX7OtjUKI0CAAIGCBZyfC26upRGoWUDAuuYGmJ4AAQIECBAgQIAAAQIECBBwg7U9QIAAgVwFBERy7Yy6CBAgQKBkAQGRkrsbbrAuu73h/Fx4gy2PAAECBLIUcH7Osi2KIlCEgIB1EW20CAIECBAgQIAAAQIECBAg0GgBN1g3un2KJ0CgZAEBkZK7a20ECBAgkKuAgEiunUlTlxus0zjmOorzc66dURcBAgQIlCzg/Fxyd62NQL0CAtb1+pudAAECBAgQIECAAAECBAgQCDdY2wQECBDIVUBAJNfOqIsAAQIEShYQECm5u26wLru74Qbr0htsfQQIECCQpYDzc5ZtURSBIgQErItoo0UQIECAAAECBAgQIECAAIFGC7jButHtUzwBAiULCFiX3F1rI0CAAIFcBQREcu1MmrrcYJ3GMddRnJ9z7Yy6CBAgQKBkAefnkrtrbQTqFRCwrtff7AQIECBAgAABAgQIECBAgIAbrO0BAgQIZCsgIJJtaxRGgAABAgULCIgU3Nxwg3XZ3XWDden9tT4CBAgQyFPA+TnPvqiKQAkCAtYldNEaCBAgQIAAAQIECBAgQIBAswXcYN3s/qmeAIGCBQSsC26upREgQIBAtgICItm2JklhbrBOwpjtIM7P2bZGYQQIECBQsIDzc8HNtTQCNQsIWNfcANMTIECAAAECBAgQIECAAAECIWBtExAgQCBTAQGRTBujLAIECBAoWkBApOj2hoB12f11fi67v1ZHgAABAnkKOD/n2RdVEShBQMC6hC5aAwECBAgQIECAAAECBAgQaLaAgHWz+6d6AgQKFhAQKbi5lha//O0f4z0f/mj8+Oe/amvc+o3PxnrrrEGnA4FLr7g6dtrr8PaTRx2wexw+fdcO3vQIAQLDCQiIDCfU7J8LWDe7f8NV7/w8nJCfpxC47Qc/jvXf+sExD7XickvH0ku+KtZYdYVYc7WVYuOpa8Xiiy0cAwSJxjxXUwZ49PF/xI57HhbX3nxHq+Q1VlkhvnTOcVFZ+RAgkK+A83O+vVEZgaYLCFg3vYPqJ0CAAAECBAgQIECAAAECzRcQsG5+D62AAIFCBQRECm2sZbUEBKzHthEErMfm520CQwkIiJS9PwSsy+6v83PZ/c1ldakC1gOt57/ftW0cuf+HY5lXL5HLcse1jlwD1s89/3xcef2tMeecc8RbttxwXE1MRqAJAs7PTeiSGgk0U0DAupl9UzUBAgQIECBAgAABAgQIEChJQMC6pG5aCwECYxZ46qmnYvLkyWMeJ8UAAiIpFI2Rq4CA9dg6I2A9Nj9vExhKQECk7P0hYJ2+v87P6U2NmLdANwPW1cqr25rP/eShseG6a+YN0YXqcgtYv/TSS3H7XT+JE864MK68/pa45DNHx47bv6kLKzckgWYLOD83u3+qJ5CzgIB1zt1RGwECBAgQIECAAAECBAgQmBgCAtYTo89WSYBAhwIHH3xwzD777DFz5sxYeOGFO3yrO48JWHfH1ah5CAhYj60PAtZj8/M2gaEEBETK3h8C1un76/yc3tSIeQv0DVjPP3lSvG7VFWPeeebuuPB/Pvtc3HPvL+PJp54Z8J03rvnauODUI2Ll5ZfteMwSHswtYH3imRfFQZ84rU0rYF3CLrOGbgg4P3dD1ZgECFQCAtb2AQECBAgQIECAAAECBAgQIFC3gIB13R0wPwECWQk8+OCDscwyy8Tcc88de++9d61BawHrrLaGYhILCFiPDVTAemx+3iYwlICASNn7Q8A6fX+dn9ObGjFvgb4B6zVWWSG+dM5xrZunR/Kpbkf+w58ejEu++q349PlfjMf+/kSv19//njfHZ445MOabNO9Ihm30s7kFrI8+9fz42CfPbpsKWDd6eym+iwLOz13ENTSBCS4gYD3BN4DlEyBAgAABAgQIECBAgACBDAQErDNoghIIEMhLYI899oizzjqrVdT8888f++yzT8yYMWPcb7QWsM5rX6gmrYCAdVpPoxEgkE5AQCSdZY4jCVh3pyvOz91xNWqeAqkC1i9f3Q9/cl/secgJ8b27f9b+29XN2F/73Emx2fpvyBNiAlQlYD0BmmyJSQScn5MwGoQAgQEEBKxtCwIECBAgQIAAAQIECBAgQKBuAQHrujtgfgIEshP4y1/+EksuuWSvuuabb75W0Hr//fcft6C1gHV2W0NBCQUErBNiGooAgaQCAiJJObMbTMC6Oy1xfu6Oq1HzFOhGwLpa6XXfuTPe+aED48mnnmkv/PDpu8YRM3aL2WefLU+MwqsSsC68wZaXTMD5ORmlgQgQ6CMgYG1LECBAgAABAgQIECBAgAABAnULCFjX3QHzEyCQpcDuu+8e55xzTr/aqqD19OnTY+bMmbHQQgt1tXYB667yGrxmAQHrmhtgegIEBhUQECl7cwhYd6+/zs/dszVyXgLdClhXweo9Dzk+Lr78W+0Fv3O7zeL8kw6PBReYnBfCBKlGwHqCNNoyxyzg/DxmQgMQIDCIgIC1rUGAAAECBAgQIECAAAECBAjULSBgXXcHzE+AQJYC999/fyy33HLxwgsvDFjfAgss0LrRuptBawHrLLeGohIJCFgngjQMAQLJBQREkpNmNaCAdffa4fzcPVsj5yXQrYB1tcq+gd6tNp4al57xiVhkyoJ5IUyQagSsJ0ijLXPMAs7PYyY0AAECgwgIWNsaBAgQIECAAAECBAgQIECAQN0CAtZ1d8D8BAhkK7DbbrvFeeedN2R93QxaC1hnuzUUlkCg7oD1E08+Hbd870dx+VU3xI/v/VX86Ge/bK1q4YUWiHVet2qst84a8batN46Vl1825phj9lGv+Lnnn4877vppfO3qm+L799wbd/7wp62xXv/aFWODN74+3v2WLeKNr39te45Lr7g6dtrr8PZ8t37js61a+n76PnfUAbtH9RXyfT//fPa5mH7EyXHOxVe0ftQ3pFM5fOvG2+Ib19zcMqj6Un3WXWu1eMPrVu1X36ghvEigQQICIg1q1ihKFbAeBdoIXnF+HgGWRxsrkHPA+qWXXmqd5/73+lvixlt/ED+459547O9PtM93a662Urx1q41a59B555l71D2o5qnOjl+/5ub4zh13xz33/jKqG7hXXG7pmLr26rHD27bqNUdfs0s+c3TsuP2b+s3/6OP/iB33PCyuvfmO1s/WWGWF+NI5x7XGHerzwgsvxn2//n2rnmqul6+7OndX7288be3YZrP1YslXvSIGCGu1hu97dh4OaLAzeN/3Bvuzx9JLvirWWGX52GS9tVt/9qj+erDa+o45mGn1548rr781zrrw8rjh1u+3/nwzbZ014s1bbNCa4xWLLjzcsvycwIgFnJ9HTOYFAgQ6FBCw7hDKYwQIECBAgAABAgQIECBAgEDXBASsu0ZrYAIEmi4w3C18L19fFbTed999Y8aMGbHQQgslWbqAdRJGg2QqUFfA+uFHH2+FjU8999J22GQooip88rEZH4pN11s7Zpttto41Z82aFTfddlccfOzp8YN7fj7ke9ttsUEcfeBH4nWrrhDjFbBecP7J8ZUrvx1HnnxuO1Q9WJHrvG6V+NRR+8fUtVbrOPDRMZQHCWQoICCSYVMSliRgnRBzgKGcn7vra/Q8BLoVsH7xxZfi8BPPiuNOv6C90E5vsK7OnlXg+YiTzokrr79lWKgqcFydcd+x7aYx91xzDfv8yx+4595fteocbp7qDHn8IXu3wsO33/WTWP+tH2wPkypg3XPm/vjJ57Z+ebKTz3+/a9s4cv8PxzKvXqLf46kD1k8/888495KvxSc+dX5Hf/YYqra+xQ4UsN5yo3Vj5pGnxsWXf2tAindut1mcf9LhseACkzuh8gyBjgWcnzum8iABAiMUELAeIZjHCRAgQIAAAQIECBAgQIAAgeQCAtbJSQ1IgEBJArvuumt89rOf7XhJ888/fztoPWXKlI7fG+hBAesx8Xk5c4E6AtZ3//QXsc9hn2zdajeSz/yTJ8WBe+wSM3ffqaOb/qob9M6++KtxyHGfad3k18mnuq3uc6d8LB546OHYee+PtV/pxg3W537y0FbI/NjTPtdJaa1nqpvvzjju4HjPW7YQsu5YzYNNFRAQaWrnOqtbwLozp7E85fw8Fj3vNkGgWwHrv/z1b61zYPVLej2fPd7/rjj5iOkxz9yDh6CrG4urEO+hx5/R8dmzZ/yd37lNa/zFFhn+z65VmLn6VpYZHz81/vjnBztqVXWOPvO4g1s3M2/49g+130kRsK5u0f7C166JPT56/IjXXdVz1vEfja03mdrrbJsyYP2L3/wh9j38pLjuO3d2ZNXzUFXbKR+fHm9/0yZDnrv77sNqPT/9xW/izM9/ZdD5zj/58PjgDm8dUT0eJtCJgPNzJ0qeIUBgNAIC1qNR8w4BAgQIECBAgAABAgQIECCQUkDAOqWmsQgQKE6guoVv6aWH/jrigRa94IILtoLW06dPH/WN1gLWxW0nC3qZwHgHrKuvLt9l3yP6hUGq0Md667wupq29esw115xx/1/+Gjfc8v0Bb3Xed9cd4piD94j5Js07aC+r4MkXv35t7H7Qsf2CHtXXk2++4RtjkSkLRvX159/+7vdaNw32fKowxRvXfG18+ZvXt/9e6oB1dSN3Vcdpn72s17wbT1srVl5+2XjxxRejupWwMuj5OvmeBzv9inYbnUDTBQREmt7BoesXsO5+f52fu29shnoFuhGwrn5B7+RzLomDjzm91+IGCyL3PDTYe9XPqzPf1LVXj6X+85VDnvHeutVGcc6Jh8biiy08JOxg5+nqNuzNNnhDa54nn3o6bv3+PVE92/Opzttv3WrjuOSr/75VOUXAeqB6qrne8LrXxrprvTbmnzxfq4T7fv37uPn2H/b7c0B1tv3iWce0zsA9n+f/9a/46lU3tv5MUH2+e+fd8a0bbmv/fKd3bBOvXWm59l+/dsXlYtvN1+/nVs35P9OPjO/d/bNeP6t+aXHaOmvEG163auvPHgP9maB6oVrH2SccEju8batBQ9Z992HV754/W1TzVHWtuuJyrTm+ee13YqEF548vnnlsLLtU/5u76/1vlNlLEHB+LqGL1kAgTwEB6zz7oioCBAgQIECAAAECBAgQIDCRBASsJ1K3rZUAgVEJfOADH4gLLvj31zSPZJCxBK0FrEci7dmmCYxnwPrXv7+/dRvgywMOVWhh+m47xj4ffG8r8PzyT3Ub3o233dW6gfoH9/y8189OPGyfmPHhnWL22WcbkLwKOuy452G9AhzV16Mf+9G9YtP11o7ZZvv3e0PN0zN46oD1y4uuwjCH7ffBeMe2m/W7mfvhRx+P6qvW+96AV91wOH2397nFumn/hVPviAQEREbE1biHBazHp2XOz+PjbJZ6BFIHrAe7gXrzDd4QF512VLxq8UUHXOhgv9i33RYbxBEzPhRrrrZSr7NnNcgTTz4d515yRRx16nm9fhlwr/95d5x4+L6DflvLQOfp6iz5sRkfindsu2nMPde/b9iu6qqCvkecdE5cef0tA9Y+1oB1tY7dDjgmvvTN69rjf2jHt8eR+394QK/qZurqlyAPOOpTvX6J8PDpu8YRM3Yb9Gx/9Knnx8c+eXZ7juEC79WDDz38WHz4wGPiG9d+p/1eFXg+bL9dW7dHLzD//wW/ez7Vnwmqb9o59Pgze912Xf3y5aVnfCLWW2eNQf/csf5bP9jvZ1tutG58+uj9Y6XXLNP+WRXE//ODD8Wrl3jloGut579NZi1FwPm5lE5aB4H8BASs8+uJiggQIECAAAECBAgQIECAwEQTELCeaB23XgIERiww2lv4Xj5RFbTeb7/9Wv9ZaKGFOqpBwLojJg81VGC8AtZVYKUKK5x89iVtqU6/drsKGc888tS4+PJ/37ZXvXv5eSfE2mus0k++CnrsfdiJcdFXrmr/rLo57oxjD2p9Lfpgn+or1vc85IS46tu39nukWwHr6qbs8086vNcNfH0nf/qZf8aBnzitV8h6602mxcWnHxWLLtzZP8cauj2VPcEFBETK3gAC1uPTX+fn8XE2Sz0CYw1YVwHk6tz4wEMPt25WroK/t3zvR70WU50dL/z0kbHR1DUHXeRA5+mP7PLOOOHQfVo3IA/2qea/5qY74iMHH9f+pcDq+cvPOzGqcG7fTxXOrcLSx572ufaPqrNkdcZda/WVB52n+jaU6kbu8y79Wr9nxhqw/uFP7os37zI9HnzokdbYb3/TJvHZUw6PKQsuMOS6L73i6tYvXvZ8qm+x+cKZxwx6Vh9pwPrFF1+KE8+8MA457oxef/b43Ckfi03WW3vIX1IcyOu/37VtnP6JA/uFsqvB++7D6u8NdCt3Pf8tMetEE3B+nmgdt14C4ycgYD1+1mYiQIAAAQIECBAgQIAAAQIEBhYQsLYzCBAg0IHALrvsEhdddFEHTw79yEiC1gLWY+Y2QMYC4xWwvveXv4t37XZQ66vBez7nfvLQ2PV9b+voFua//PVvrRDGTbfd1X5/5u47xTEH79Hrpr7qhzfc+v14+wf2b98GOFQYu29rfnLfr+O9ux/Sq87qmW4ErKsAzcWnHx3V18EP9/n+j+6Nt31gZju8strKr4kvn3N8rxvxhhvDzwk0TUBApGkdG1m9AtYj8xrL087PY9Hzbs4CAwVbU9Zb3XZ8xnEHx3vessWg59UqJH3quV9o/TJgz6c6251z4qGx+GILD1tO9f75X/h66xbons/73/Pm+MwxB8Z8k+bt9X7f8/RIzpIDnaWrwccasK5urq7Ozj2fow7YParaEaVHAAAgAElEQVTbqIf7PP6PJ+KDM46Or119U/vR6y47I7bY8I0DvjrSgPXv738gdtjjkPY351RWZ59wSOzwtq1G9WeP6v2vfe6k2Gz9N/Srb6B9ONyN3MP5+DmB0Qo4P49WznsECAwnIGA9nJCfEyBAgAABAgQIECBAgAABAt0WELDutrDxCRAoQuA3v/lNrLjiilF9fW+KT0/QesaMGbHAAgPfsiVgnULaGLkKjFfAugqezPj4KW2GTm6362t2xbdujHfsemD7b1c3w33pnOOi+lr0nk91W93hJ54Vx51+QfvvjSTgMFBIphqoGwHrkdxCXd2suOOeh7VuV+z5DFZTrntNXQRGKiAgMlKxZj0vYD1+/XJ+Hj9rM42vQDcD1hu88fVx/KF7x9S1VhsykFvd3Pzf+3wsvn3L91uLH+oG6sF0+o7xqsUXjf+98NR+t1Kfc/EVsftBx7aHGSyIPdg8fc/S1XNjDVhXN1HvtNfh7Sk/uvf/xNEHfiRmn322ITdDdeauQtOV23LLLBmrrvBfUX3jzMrLLzvgeyMNWH/2i9+IXWce3R5rqBuoByu07xjTd3tfa0/MNeecvV4ZaB8OFRYf3/+WmG2iCTg/T7SOWy+B8RMQsB4/azMRIECAAAECBAgQIECAAAECAwsIWNsZBAgQ6FBg5513jksuuaTDpzt7bKGFFor99tsvpk+f3i9oLWDdmaGnmikwHgHrJ596JvY85Pi4+PJvtZGqG+Q+vPP2I0IbKGT8jc+fEm/ZcsP2OH2fqUIuV196eqy3zhodz1XdYv3OXQ+KX//+/vY73QhYdxpAqYoYyFDAuuOWerChAgIiDW1ch2ULWHcIlegx5+dEkIbJSiB1wLq6sboK+e78zm1jw3Vf3+9bUgZafFXDm3bcu/3NKSP5Bbqe8Qb6BcG+Z+WBzoKDhaMHa9JAZ+mxBqy/e+fdsdH2u7WnrL455qzjPxpbbzK1o5uiO91QIwlY//PZ52L6ESdHFUjv+YzUqnqv758JNp62Vlx6xidiicUX61V2333om2Y67arnuiHg/NwNVWMSIFAJCFjbBwQIECBAgAABAgQIECBAgEDdAgLWdXfA/AQINEYg9S18L1/4QEFrAevGbA2FjkJgPALWv/nDn1pfHf7Dn9zXqnCwW/mGK//5f/0rDj7m9NbXsPd8+n4NeTXHm3eZHtVNgNVnsCDEUHNVX1m+894fi6u+fWv7sW4ErC/89JFR3abXyWegoIiAdSdynmmygIBIk7s3fO0C1sMbpXzC+TmlprFyEegbbK1+se51q64Y884z94AlPvzo4/Gjn/2y38+qm6AP+MjO8ZplX93vduLh1tr3Vuk93v+uOPmI6THP3HMN92qvn1/0latil32PaP+9vrcl//HPD8b79jg0br/rJ61nll92qbj8/BNi9ZWX73ieZ597PmYeeWqc+fmvtN8Za8C67+3b1cBVH7bbfIPYcfs3xbR1Vo8pCw78TVEdFx7Ruu36Y588e9i6qwcG+oXL6754Rqy71mojmTKq/VKZ99xOPtifYfruw602ntoKYi8yZcERzedhAikEnJ9TKBqDAIGBBASs7QsCBAgQIECAAAECBAgQIECgbgEB67o7YH4CYxCoAiI+4ytw3333xUMPPdS1SRdccMGYMWNG61brB77c+1+MrrTtXV2b18AExltgPALWfUPP09ZePb5w5jFR3XA30k/fEEt1C/apR85sB2m+ed13463vn9Eedtf3vS0+ffT+MWneeTqeaqDwSTcC1pedfWy85y1bdlSXgHVHTB4qTEBApLCG9llO34D1xhtvXPaCM1id83MGTVBCUoG+wdY1VlkhvnTOcbHicksPOs/fHnksLvzylXH8Zz4fj/39ifZzW260bpxw2D7xulVX6LjGgW6e3maz9WLDddfseIyeB3/2i9/GJV/997e97PzObeKMYw9uhZWrT9/z9OYbvKF1nl5skSkjmuu40y+IQ447o/3OWAPWs2bNivO/8PXY7YBjBq1jo6lrxjabrR+brb9OVLc7zzXnnCOquXp4JAHrvjdPV8Hond+xTSw8wsBzdf7+8jevj/t+/ft2vddddkZsseEbe9Xfdx/27d2IF+sFAmMQcH4eA55XCRAYUkDA2gYhQIAAAQIECBAgQIAAAQIE6hYQsK67A+YnMAaBvgGRMQzl1cwEqhut7/jk33tVJWCdWZOUMyaB8QhYp7zV7dIrro6d9jq8vea+Aeu+t//1/XmnWH1DHN0IWI/kBmoB604757mSBARESupm/7U4P5fbX+fncnub28pGE7DuWcMdP/xJfOSg4+PHP/9Ve1nVL/+ddfxHY+tNpsYAIaJ+yx/ofJbKqO8tyN+98+7YaPvd2sOP9pbkvmfpsQasq4KefuafcejxZ8anz//isMtfeKEFYtvN12/9kuEGb3x9LDD/fMO+Uz0wkoB1333R0QQdPjSQV9/5Rvvnjw5L8BiBIQWcn20QAgS6JSBg3S1Z4xIgQIAAAQIECBAgQIAAAQKdCghYdyrlOQIZCgiIZNiUhCXdd17vwQSsE+IaqnaBpges+4ZL+oYvjjpg9zh8+q4jdhawHjGZFwgkFxAQSU6a1YDOz1m1I3kxzs/JSQ04gMBYAtbVcN+54+7YZd8j4o9/frA9ehWyvvDTR0Z16/Jwn/EMWA/3S4bD1drz824ErKuxn3v++fjqVTfGUaecF9WfLzr5VLdzv3PbzeOAPXaOlV6zzJChdgHrTkQ9QyDC+dkuIECgWwIC1t2SNS4BAgQIECBAgAABAgQIECDQqYCAdadSniOQoYCASIZNSVDSYostFgcccEC8ecqBvUYTsE6Aa4hsBJoesO77FdwC1tlsLYUQGLOAgMiYCbMewPk56/aMujjn51HTeXEUAmMNWM+aNSvO/8LXY7cDjuk1+xvXfG1ccOoRsfLyyw5ZlYB1f57K5ObbfxjnXnJF3HDr9+PJp54ZtrPVrdanfHxG7Lj9m2KOOWYf8HkB62EZPUCgJeD8bCMQINAtAQHrbskalwABAgQIECBAgAABAgQIEOhUQMC6UynPEchQoG9A5KabbsqwynJKevHFF+N973tf/O1vf+vKonqCIXvuuWdMmjQpfnF+739EC1h3hd2gNQk0PWDd9yu4L/rKVa2bCHs+o/2KbjdY17QhTUvgZQICImVvh5tvvrnsBWa2OufnzBqinCQCYw1YV0U8/cw/Y/oRp8R5l36tV017vP9dceJh+8R8k+YdtNaBAtaXfOboVlA49ee7d94dG22/W3vYvt/i0ul83brBeqD5K9t77v1VXHPT7XHVt2+NH/3sl4OWWd1mfe4nD4v3vnXLAZ8ZS8B6tFadmvbdh6P980en83mOwFACzs/2BwEC3RIQsO6WrHEJECBAgAABAgQIECBAgACBTgUErDuV8hyBDAUGClhvvPHGGVZaRkkXXHBBfOADH0i+mEUXXbR1Y/Vee+3VClb3fASsk1MbMCOB8QhY//An98Wbd5keDz70SGvl09ZePb5w5jFRfQX7SD+nnvuFmPHxU9qvVeGXk4+YHvPMPVfr733pm9fFe3c/pP3zXd/3tvj00fvHpHnn6XiqZ597PmYeeWqc+fmvtN+59RufjfXWWaPfGH1DKkcdsHscPn3Xfs8NFMAZbMyBCh3r+x0v3oMEMhIQEMmoGUppvIDzc+NbaAEDCKQIWFfD3vfr38cOHzk0fvzzX/Wa5eLTj2qFpQcIFLWeG+jMeOxH94yP7v0/yft15w9/GlvusGf7RujNN3hD6zy92CJTRjTXcadfEIccd0b7ncEC4Y8+/o/Ycc/D4tqb72g9u8YqK8SXzjkuVlxu6RHN1/NwdVv4Y39/Iqp1VOf1KnBd/fXLP29/0ybx2VMOjykLLtBvjpEErPtarbX6ynHZ2cfGa5Z59ahqH+4lAevhhPx8PAWcn8dT21wEJpaAgPXE6rfVEiBAgAABAgQIECBAgACBHAUErHPsipoIdCggYN0hVILHXnjhhVhuueXi/vvvTzDa/w1RBav333//2HvvvXsFq3smELBORm2gDAXGI2D9xz8/GO/b49C4/a6ftASqG+qu++IZse5aq41IpJMQS99AxcbT1opLz/hELLH4Yh3P9Y8nnopd9z86Lr/yhvY7AtYd83mQQDIBAZFklAaa4ALOzxN8AxS8/FQB6yr8e/4Xvh67HXBML603rvnaqELWyy+71KCKfQPL3bq9+Dd/+FPrlwirX1ysPlVNl59/Qqy+8vIdd/j5f/0rDj7m9Kh+YbHnM14B675FPvzo43Ho8Wf2ujl8qD8jjCRg3deqGvfqS08f8JclO8Yb4kEB6xSKxkgl4PycStI4BAj0FRCwticIECBAgAABAgQIECBAgACBugUErOvugPkJjEFAwHoMeCN89cILL4z3v//9I3xr4McXWWSRVrB6n332GTBY3fOWgHUSboNkKjAeAesnn3om9jzk+Lj48m+1Fc4+4ZCoAigj+Tzw0MOtm/Ruvv2H7de+8flT4i1bbtj+677PvGrxRePrnzs53vD6VTue6if3/TreuetB8evf//sXOQSsO+bzIIFkAgIiySgNNMEFnJ8n+AYoePmpAtYV0eP/eCI+fOCx8ZX//XYvsZm77xTHHLxHzD3X/31bSt/PN6/7brz1/TPaf7sKZX/xzGNj2aWW6Fi+CnhXoeevXPntWGbJV8VqK78m1l1ztdho6lox++yztcYZ6Dz91fNPjO232bTjeQY6S48lYF3VdNsP7om7f/qL+ME9P48XXnwxzjnxkI5/sfHPD/6t9UuYt3zvR+01DFbPSALWA/2yZPWNN9N3e9+gt5EPhPj7+x+ID8w4MuaYffZ4/WortXrzjm03i8UXW7jX4wLWHW9BD46DgPPzOCCbgsAEFRCwnqCNt2wCBAgQIECAAAECBAgQIJCRgIB1Rs1QCoGRCghYj1RsdM+/9NJLseKKK8ZvfvOb0Q3w/9+qgtUzZ85s3Vg9efLkYccSsB6WyAMNFhiPgHXFU4VGZnz8lLZUFYo+76TD4hWL9g4oDEV56RVXx057Hd5+ZKCvKh/oZr7Dp+8aR8zYrR1QGWqOwW4wFLBu8CZXemMFBEQa2zqFZyTg/JxRM5SSXCBlwLoqrhqv+mW+6ttXej7VL+tdcvrRsen66wxYfxXC3WGPQ+J7d/+s/fNzP3lo7Pq+t3Uc5v3LX/8WO+/9sbjptrvaY5zy8RmtQPDLP33P0+9/z5vjM8ccGPNNmrcj2+u+c2e880MHtsLaPZ+xBKwfeezvrbqvuen21nAjvSn6n88+F9OPODnOufiKYesZScC6J7A+88hT2+Nust7ardvI//OVr+jIaqA/E0xbe/X4wpnHxNJLvqrXGALWHZF6aJwEnJ/HCdo0BCaggID1BGy6JRMgQIAAAQIECBAgQIAAgcwEBKwza4hyCIxEQMB6JFqjf/aiiy6KXXbZZdQDLLzwwq1gdXVjdSfB6p6JBKxHTe7FBgiMV8D63l/+Lt6120Fx369/31YZSfhkoODJPh98b5x4+D79bhS84dbvx9s/sH87PLLy8svGZWcf29FXqFe3VldBkZeHZKqCBawbsJmVWJyAgEhxLbWgGgScn2tAN+W4CaQOWL/wwotxxEnnxLGnfa7XGt7+pk1aNzMvtsiUfmt77vnn49Djz4yTz76k/bPqFusLTj0iqjPocJ8XX3wpTjnnkjjwE6e1H60CvF+/4OR43aor9Hq973m6CjRfft6JseVG6w43TTz86OOtG7q/dvVNvZ4dS8C6qv3wE8+K406/oD3mIft8II7c/8MxxxyzD1tT34B29cJ3rjg3Nlx3zX7vjiRgXb18149/Hu/80EG9wvLHH7p3zPzwTh3VNtCfCQ7c47/j6IM+EnPNOWev+gSsh221B8ZRwPl5HLFNRWCCCQhYT7CGWy4BAgQIECBAgAABAgQIEMhQQMA6w6YoiUCnAgLWnUqN/rmx3L5XBatnzJgR++6774iC1T3VCliPvm/ezF9gvALWA4VPFl5ogTjjuIPjPW/ZYsgb/qpASHUD3cWXf6sNWgVPLj3jE7HeOmv0Q37iyadj78NOjIu+clX7Z2/daqM447iDhry1bqB5egYQsM5/L6uwPAEBkfJ6akXjK+D8PL7eZht/gdQB62oFf/jTA61vTKnGfvlnqF8MHCjMu+3m68cZxx7U77bjl49Z3ZJc3Vr9gRlH9QoCz9x9pzjm4D36/RLhQAHwKsx9/kmHx2tXWm7QBjz9zD/j2NMu6Bccr14YS8C6er/vLzZWoe+zTzgkdnjbVkOe76u1V99OU/1iY89n42lrtc73Syy+WL+19A1YV3N8eOftB13zQH/2qGo79ciZscu7thsyZF3d8H3QMafFWRde3uvPHpefd0KsvcYq/eYUsB7//+6bcXAB52e7gwCBbgkIWHdL1rgECBAgQIAAAQIECBAgQIBApwIC1p1KeY5AhgIC1t1vyiWXXBI777zziCaaMmVKK1i93377jSpY3TOZgPWI2D3cMIHxClhXLAPdBFcFHfbY5V1RBUn63gpYBcNu/f49cchxZ/QLuQx3A91AX/FehbH/H3v3AWZXWe6N+/kCEkIIGECaSihSQu8tVNGASBWpoanxANK+wCfSo3TwIEiTKtKrIE2JtGCoEYSAVPFQjoC0cKRJOEj+17v+zk5msmf2nuwpq9z7us51zsy8a63nuZ+15yxy/fY7Jxy2b6y35soxYMCA2qTSdf705LPZ7oPpT6fXewlYF+zGVm4pBARESjFGTfSjgOfnfsR36T4R6I2Adb3gb2pmpWWXiqt+cXzdXanr7ULddkwKSn9tgzVnCEun0PP5l98Yx51+YUz+n/dqXo12v673PL30EsPixMP3i803GdHuOqmXF195LY48+Zy46jfj6s6k1YB1vQ82pg9RHvl/R8f3dt465hoyeIbrpt5TePmY0y6o/cWZtOj0Yw6O9Bdq6gS44rTzr4yDfvyz2rma+fBkZ3+ZZsx/7BL/9/u7xCJfXLBdbcnrsT8/l+1ifusdE9r9rKv/9hCw7pO3u4s0KeD5uUkoywgQ6LaAgHW3yRxAgAABAgQIECBAgAABAgQI9LCAgHUPgzodgb4UELDuXe3u7r6XgtVjxozJdqyea665Wi5OwLplQifIsUC9gHVPlNtZIPneB/8Uexw4tt0ufel6KWg9Yo2VY93VV4zZZvtcvPLq3+OuCRMj1dfx9YM9t49TjjwgBs8xqNNSU0DijIuujv979KkzrFll+aXjaxusFfMOnTveefcfcecfHs7CFG2v+eebJ/758cftAh8C1j1xVzgHge4JCIh0z8tqAtMLeH52P1RBoDcC1snt3X+8F3sdckJcd8ud7Rg721k6LUqh4UOOOyPO+dV1M9Cnv7ySdmcevuRi2c+eeu6vcdud97ULVqfvp3UpZLzNZht1Ob6bxt0bu+1/VLtn1XRAClpvsv6aWXD4/Q8+zD6omJ69217peXvQ7LPHm29Prn2v1YB1OlG9HbzT91PQet01Voo1V14ue77/5JP/jYmPPxUP/HHSDL2nwPR5pxwRC3xhnrq93/z7P8TWex7U7mfp/Cstt1R8btZZsw9Q/mi/PWK2z32u3ZrO/tsjLdpwnVWz44bMOTjzunPCxHj4T3+e4fp77LBFnDp2TPbfDvVeAtZV+G1TnB49PxdnViolUDQBAeuiTUy9BAgQIECAAAECBAgQIECgfAIC1uWbqY4qJCBg3bvDvvLKK2PUqFENL/L5z38+C1anHat7IljddkEB64b0FhRYoK8D1onqoUefjAOO+mn88fGnuyWXQiEHjt45Dt1vzy7D1W0nTX9G/bTzr4hjT79whgBKZxdOuxMec8jeWThm3PgHa8sErLs1KosJ9IiAgEiPMDpJRQU8P1d08BVru7cC1omx3l9DSc+i119wSozccO260ilkfcIZF8cJZ/yy25NI4eqf/XhMbPuNjevu4Dz9CdMHCa+5+Y7Y97CTZggqd3bhdP5jD9knJjz8WFxwxY21ZT0RsE713H7Pg7HPoSfO8CHKZiBSz6f95KAsYN7Z66X/fi123e+oGf6qTdv63b69eZx9wqHZhzY7vh589InY50cnxaSnn2+mnHZr0nlTuLrjX9qZfpGAdbdZHdCLAp6fexHXqQlUXEDAuuI3gPYJECBAgAABAgQIECBAgEAOBASsczAEJRCYWQEB65mVa+64ZZZZJp57btrush2PmnvuuePggw/usR2rO55fwLq5OVlVTIH+CFgnqbfeeTdOv+CqOPfS65sKhmzx9fXj8AO+E2uvukLD0Mn0k0g7eN59/yNx+IlnNQx0t4U75hw8R4za98hawDoFNX5/1dmx9morzDDkK274XRb2aHsd88O946gxo2dY98+Pp8SYsafGeZfdUPtZZ6HtendSq8cX8+5UddUFBESqfgfovxUBz8+t6Dm2KAK9GbBOH9Qb+5/nzRCWTs+L551yeKeB27Znz2N+dkEWZm7mtfv234yf/L+9YtEvL9zM8mxNCjWnv8CSarz1jgldHjdijZXijON+mO2g3fF59OpzT4gdtxo5w/Hpr7xM/zycPoR4zXknZrtkd/Z69oWX4vATz44bf3dPU32kQHX68OR/7Lptww9PNgpxpx3Crzj7uFh4gS/UvXZ3/9sj9Xn0Qd+P7b751Rg422xd9iNg3dS4LeojAc/PfQTtMgQqKCBgXcGha5kAAQIECBAgQIAAAQIECORMQMA6ZwNRDoHuCAhYd0ere2uvuuqq2GWXXeoelILVabfqgw46qEd3rO54MQHr7s3M6mIJ9FfAuk0p/YnyFIBOu0VPeur5LCiSXilwsdKyS8bGI1aPTTdaJwtzDBgwYKZxU0A5hVzSn1R/8JEnatdZZfmlY/21VomdthkZa62yfHaN7gRKBKxneiQOJNBQQECkIZEFBOoKeH52Y1RFoDcD1smws12TTz/m4Djgezt1+aG/FNB+5i8vxm9uHx8P/enJeOq5/6rt7pyea1PYOe2EnT5E+KWF5u/WBwinn2+6zsOP/Tluu/O+uOeBR7K/FJNe6RrrrL5i7LLtZrHB2qtkIeHufGCvO8/D09eTgtB/e/3N+O1d98f4Bx6J9N8abc/36UOLKy+3dKww/Cux9aYbRgp+D55jULdu1zSTi666Ke6cMLHWazrBkostEtdfeHKsOHzJLs/37j/eizv/MDF+e/f9kQLhbV5ttaX/Nkgh+rVWXT4GzT6wqdoErJtisqiPBDw/9xG0yxCooICAdQWHrmUCBAgQIECAAAECBAgQIJAzAQHrnA1EOQS6IyBg3R2t7q1ddtll45lnnml30JAhQ2rB6s9//vPdO+FMrBawngk0hxAosMBrb7yV7dg3/oFHsy5WW3F4pN39vrLolwvcldIJFE9AQKR4M1NxPgQ8P+djDqogkDeB9z/4KPY9/KS47PrfZqV19Vda8la7eggQaE7A83NzTlYRINB9AQHr7ps5ggABAgQIECBAgAABAgQIEOhZAQHrnvV0NgJ9KiBg3Tvc1113Xeywww61k/d1sLrtwgLWvTNfZyWQV4G0m90Oex0aTz7zQlZi2kE7/cnxeYfOndeS1UWglAICIqUcq6Z6WcDzcy8DOz2BAgu89c67scsPjsh2f06vlZZdKq4578Rst2svAgTKIeD5uRxz1AWBPAoIWOdxKmoiQIAAAQIECBAgQIAAAQLVEhCwrta8dVsyAQHrnh9o+tPCyy+/fDz99NMx11xzxYEHHhgHHXRQ9MWO1R27EbDu+fk6I4HeEkh/+vxHx52R/Un2VVZYJguMpD9BPt88ze92f8Nv747tRh9SK/EHe24fp44dE7MPnK23ynZeAgTqCAiIuC0IdE/A83P3vKwmUDSB43/+y7jrvokxfMnFYrmlFo/NNl43Fh/2xabbmPjYU7HNdw+O1994Ozvmm19bLy4785gYOvdcTZ/DQgIE8i3g+Tnf81EdgSILCFgXeXpqJ0CAAAECBAgQIECAAAEC5RAQsC7HHHVRUQEB654f/LXXXhujR4/OgtUHH3xwvwSr27oSsO75+Tojgd4UOPa0C+Pon55bu8S5Jx8ee+32raYu+d77H8b+R54Sl15320wd39RFLCJAoCkBAZGmmCwiUBPw/OxmIFBugStu+F3sut9RtSYP2/87cewh+8Qsswxo2Pinn/4rxv7neXHCGb+cqeMbXsACAgRyIeD5ORdjUASBUgoIWJdyrJoiQIAAAQIECBAgQIAAAQKFEhCwLtS4FEugvYCAdc/fEVdeeWVsttlmMc888/T8ybt5RgHrboJZTqCfBTqGT9LufBf+51Gx4PzzdllZCp6cet7lcejxZ9bWpR0Crzv/5Fhu6cX7uSuXJ1A9AQGR6s1cx60JeH5uzc/RBPIucP8fJ8U3Ru0f73/wUVbqSssuFVf94vhsR+uuXml3+6t+My72/tEJtWOHzDlH3PjL/4xN1lsz722rjwCBbgh4fu4GlqUECHRLQMC6W1wWEyBAgAABAgQIECBAgAABAr0gIGDdC6hOSaCvBASs+0q6f64jYN0/7q5KYGYFnvvry7HjXofFpKefr51ii6+vH2MP+n6susIyMWDAjLv8pT+V/vMLr4pzLrmuFjxJB59y5AFx0F67NrUz4MzW6zgCBOoLCIi4MwgUV8Dzc3Fnp/L8Crz59uT4/v87Lm7+/R9qRa6x8rJx/KH7xsbrrh6zzjrLDMWnv85y0VU3xXGnXxiT/+e92s/3+84OccpRB8ag2Qfmt2GVESDQbQHPz90mcwABAk0KCFg3CWUZAQIECBAgQIAAAQIECBAg0GsCAta9RuvEBHpfQMC694378woCIv2p79oEui+Qduk746Kr4/8efeoMB6+y/NKxzuorxiJfXDD72Tvv/iMmPPxYPPTokzOs3WOHLeLUsWNi3qFzd78IRxAg0LKAgJRf2osAACAASURBVEjLhE5AoN8EPD/3G70Ll1zgpnH3xm77H9XuA4Gp5aWXGJY94y7zlUUzgfc/+DAeevTPMfHxP8+wduSGa8cvTjosFh/2xZJraY9A9QQ8P1dv5jom0FcCAtZ9Je06BAgQIECAAAECBAgQIECAQGcCAtbuDQIFFhCwLvDwmihdQKQJJEsI5Ezgnx9PiVPOviR+fOr5M1XZD/bcPo49ZJ+Y5/NzzdTxDiJAoHUBAZHWDZ2BQH8JeH7uL3nXLbvAp5/+Ky657tYYM/bUGYLTzfS+7Tc2jtN+clAM+9JCzSy3hgCBggl4fi7YwJRLoEACAtYFGpZSCRAgQIAAAQIECBAgQIBASQUErEs6WG1VQ0DAutxzFhAp93x1V16Bzz77LO6+/5E4/MSz4o+PP91UoysM/0octv934lubbxwDZ5utqWMsIkCgdwQERHrH1VkJ9IWA5+e+UHaNqgqkv9by2J+fi7H/eV7ceseEphhSoPrA0TvHf+y6bQyeY1BTx1hEgEDxBDw/F29mKiZQFAEB66JMSp0ECBAgQIAAAQIECBAgQKC8AgLW5Z2tziogIGBd7iELiJR7vrorv0Da6S+FUG6/54F46E9PxlPP/Ve8/LfXs8bTDtVrrLxcjFhjpdhs43VjleWXjllnnaX8KDokUAABAZECDEmJBDoR8Pzs1iDQ+wLpw4TP/fXlGDf+wbj3wT/FM395Mfs6vYbMOUesvNzSsd6aK8fIDdeOtVZdPgbNPrD3i3IFAgT6VcDzc7/yuziBUgsIWJd6vJojQIAAAQIECBAgQIAAAQKFEBCwLsSYFEmgvoCAdbnvDAGRcs9XdwQIECCQTwEBkXzORVUEmhHw/NyMkjUECBAgQKBnBTw/96ynsxEgME1AwNrdQIAAAQIECBAgQIAAAQIECPS3gIB1f0/A9Qm0ICBg3QJeAQ4VECnAkJRIgAABAqUTEBAp3Ug1VCEBz88VGrZWCRAgQCA3Ap6fczMKhRAonYCAdelGqiECBAgQIECAAAECBAgQIFA4AQHrwo1MwQSmCQhYl/tuEBAp93x1R4AAAQL5FBAQyedcVEWgGQHPz80oWUOAAAECBHpWwPNzz3o6GwEC0wQErN0NBAgQIECAAAECBAgQIECAQH8LCFj39wRcn0ALAgLWLeAV4FABkQIMSYkECBAgUDoBAZHSjVRDFRLw/FyhYWuVAAECBHIj4Pk5N6NQCIHSCQhYl26kGiJAgAABAgQIECBAgAABAoUTELAu3MgUTGCagIB1ue8GAZFyz1d3BAgQIJBPAQGRfM5FVQSaEfD83IySNQQIECBAoGcFPD/3rKezESAwTUDA2t1AgAABAgQIECBAgAABAgQI9LeAgHV/T8D1CbQgIGDdAl4BDhUQKcCQlEiAAAECpRMQECndSDVUIQHPzxUatlYJECBAIDcCnp9zMwqFECidgIB16UaqIQIECBAgQIAAAQIECBAgUDgBAevCjUzBBKYJCFiX+24QECn3fHVHgAABAvkUEBDJ51xURaAZAc/PzShZQ4AAAQIEelbA83PPejobAQLTBASs3Q0ECBAgQIAAAQIECBAgQIBAfwsIWPf3BFyfQAsCAtYt4BXgUAGRAgxJiQQIECBQOgEBkdKNVEMVEvD8XKFha5UAAQIEciPg+Tk3o1AIgdIJCFiXbqQaIkCAAAECBAgQIECAAAEChRMQsC7cyBRMYJqAgHW57wYBkXLPV3cECBAgkE8BAZF8zkVVBJoR8PzcjJI1BAgQIECgZwU8P/esp7MRIDBNQMDa3UCAAAECBAgQIECAAAECBAj0t4CAdX9PwPUJtCAgYN0CXgEOFRApwJCUSIAAAQKlExAQKd1INVQhAc/PFRq2VgkQIEAgNwKen3MzCoUQKJ2AgHXpRqohAgQIECBAgAABAgQIECBQOAEB68KNTMEEpgkIWJf7bhAQKfd8dUeAAAEC+RQQEMnnXFRFoBkBz8/NKFlDgAABAgR6VsDzc896OhsBAtMEBKzdDQQIECBAgAABAgQIECBAgEB/CwhY9/cEXJ9ACwIC1i3gFeBQAZECDEmJBAgQIFA6AQGR0o1UQxUS8PxcoWFrlQABAgRyI+D5OTejUAiB0gkIWJdupBoiQIAAAQIECBAgQIAAAQKFExCwLtzIFExgmoCAdbnvBgGRcs9XdwQIECCQTwEBkXzORVUEmhHw/NyMkjUECBAgQKBnBTw/96ynsxEgME1AwNrdQIAAAQIECBAgQIAAAQIECPS3gIB1f0/A9Qm0ICBg3QJeAQ4VECnAkJRIgAABAqUTEBAp3Ug1VCEBz88VGrZWCRAgQCA3Ap6fczMKhRAonYCAdelGqiECBAgQIECAAAECBAgQIFA4AQHrwo1MwQSmCQhYl/tuEBAp93x1R4AAAQL5FBAQyedcVEWgGQHPz80oWUOAAAECBHpWwPNzz3o6GwEC0wQErN0NBAgQIECAAAECBAgQIECAQH8LCFj39wRcn0ALAgLWLeAV4FABkQIMSYkECBAgUDoBAZHSjVRDFRLw/FyhYWuVAAECBHIj4Pk5N6NQCIHSCQhYl26kGiJAgAABAgQIECBAgAABAoUTELAu3MgUTGCagIB1ue8GAZFyz1d3BAgQIJBPAQGRfM5FVQSaEfD83IySNQQIECBAoGcFPD/3rKezESAwTUDA2t1AgAABAgQIECBAgAABAgQI9LeAgHV/T8D1CbQgIGDdAl4BDhUQKcCQlEiAAAECpRMQECndSDVUIQHPzxUatlYJECBAIDcCnp9zMwqFECidgIB16UaqIQIECBAgQIAAAQIECBAgUDgBAevCjUzBBKYJCFiX+24QECn3fHVHgAABAvkUEBDJ51xURaAZAc/PzShZQ4AAAQIEelbA83PPejobAQLTBASs3Q0ECBAgQIAAAQIECBAgQIBAfwsIWPf3BFyfQAsCAtYt4BXgUAGRAgxJiQQIECBQOgEBkdKNVEMVEvD8XKFha5UAAQIEciPg+Tk3o1AIgdIJCFiXbqQaIkCAAAECBAgQIECAAAEChRMQsC7cyBRMYJqAgHW57wYBkXLPV3cECBAgkE8BAZF8zkVVBJoR8PzcjJI1BAgQIECgZwU8P/esp7MRIDBNQMDa3UCAAAECBAgQIECAAAECBAj0t4CAdX9PwPUJtCAgYN0CXgEOFRApwJCUSIAAAQKlExAQKd1INVQhAc/PFRq2VgkQIEAgNwKen3MzCoUQKJ2AgHXpRqohAgQIECBAgAABAgQIECBQOAEB68KNTMEEpgkIWJf7bhAQKfd8dUeAAAEC+RQQEMnnXFRFoBkBz8/NKFlDgAABAgR6VsDzc896OhsBAtMEBKzdDQQIECBAgAABAgQIECBAgEB/CwhY9/cEXJ9ACwIC1i3gFeBQAZECDEmJBAgQIFA6AQGR0o1UQxUS8PxcoWFrlQABAgRyI+D5OTejUAiB0gkIWJdupBoiQIAAAQIECBAgQIAAAQKFExCwLtzIFExgmoCAdbnvBgGRcs9XdwQIECCQTwEBkXzORVUEmhHw/NyMkjUECBAgQKBnBTw/96ynsxEgME1AwNrdQIAAAQIECBAgQIAAAQIECPS3gIB1f0/A9Qm0ICBg3QJeAQ4VECnAkJRIgAABAqUTEBAp3Ug1VCEBz88VGrZWCRAgQCA3Ap6fczMKhRAonYCAdelGqiECBAgQIECAAAECBAgQIFA4AQHrwo1MwQSmCQhYl/tuEBAp93x1R4AAAQL5FBAQyedcVEWgGQHPz80oWUOAAAECBHpWwPNzz3o6GwEC0wQErN0NBAgQIECAAAECBAgQIECAQH8LCFj39wRcn0ALAgLWLeAV4FABkQIMSYkECBAgUDoBAZHSjVRDFRLw/FyhYWuVAAECBHIj4Pk5N6NQCIHSCQhYl26kGiJAgAABAgQIECBAgAABAoUTELAu3MgUTGCagIB1ue8GAZFyz1d3BAgQIJBPAQGRfM5FVQSaEfD83IySNQQIECBAoGcFPD/3rKezESAwTUDA2t1AgAABAgQIECBAgAABAgQI9LeAgHV/T8D1CbQgIGDdAl4BDhUQKcCQlEiAAAECpRMQECndSDVUIQHPzxUatlYJECBAIDcCnp9zMwqFECidgIB16UaqIQIECBAgQIAAAQIECBAgUDgBAevCjUzBBKYJCFiX+24QECn3fHVHgAABAvkUEBDJ51xURaAZAc/PzShZQ4AAAQIEelbA83PPejobAQLTBASs3Q0ECBAgQIAAAQIECBAgQIBAfwsIWPf3BFyfQAsCAtYt4BXgUAGRAgxJiQQIECBQOgEBkdKNVEMVEvD8XKFha5UAAQIEciPg+Tk3o1AIgdIJCFiXbqQaIkCAAAECBAgQIECAAAEChRMQsC7cyBRMYJqAgHW574ZnLxwQEVNrTS7zzT9GRBF+bZd7LrojQIAAgTILTI1nb1tjugb/Tywz+rMyN6w3AqUS8PxcqnFqhgABAgQKIeD5uRBjUiSBggoIWBd0cMomQIAAAQIECBAgQIAAAQIlEihCUm9aujBFDae2+7JEo9AKge4LCFh336xIRzz/qznjs08/rJW81Kb3xoBZBxepBbUSIECAAIFCCaT/v/v8uA1rNaf/v7vUnh8UqgfFEqiygOfnKk9f7wQIECDQHwKen/tD3TUJVEdAwLo6s9YpAQIECBAgQIAAAQIECBDIq4CAdV4noy4CTQgIWDeBVOAlf7160fjfD16udbD4RjfEbIMXKXBHSidAgAABAvkW+OTDV+K/xn+rVuTn5hwWS+z0Ur6LVh0BAjUBz89uBgIECBAg0LcCnp/71tvVCFRNQMC6ahPXLwECBAgQIECAAAECBAgQyJ+AgHX+ZqIiAk0LCFg3TVXIha/cukF89PcJtdq/vOYZMfgL6xayF0UTIECAAIEiCHz41gPx3xMPqJU6x4LrxyJb/KEIpauRAIGI8PzsNiBAgAABAn0r4Pm5b71djUDVBASsqzZx/RIgQIAAAQIECBAgQIAAgfwJCFjnbyYqItC0gIB101SFXPj3Cd+P/3nuwlrtX1hm/5h3iT0K2YuiCRAgQIBAEQTe+esl8dazZ9ZK/fzSo2PB9S8oQulqJEAgIjw/uw0IECBAgEDfCnh+7ltvVyNQNQEB66pNXL8ECBAgQIAAAQIECBAgQCB/AgLW+ZuJigg0LSBg3TRVIRe++8wv4o37f1Crfc4FNowvrX5qIXtRNAECBAgQKILA3x45OD54495aqQuMOCeGDt+nCKWrkQCBiPD87DYgQIAAAQJ9K+D5uW+9XY1A1QQErKs2cf0SIECAAAECBAgQIECAAIH8CQhY528mKiLQtICAddNUhVw4ZfKkePGGlWu1D5hl9lhqswkRUYRf3YUkVzQBAgQIVFpgajx/+/rx2b8+riks9q3HY+A8K1VaRfMEiiTg+blI01IrAQIECBRfwPNz8WeoAwL5FhCwzvd8VEeAAAECBAgQIECAAAECBKogUISU3tTpBzF1arsvqzAjPRLoVEDAuvw3x1+vXjT+94OXa41+cdWTY8hCm5S/cR0SIECAAIE+Fnj/9bvi1T/9qHbVz805LJbY6aU+rsLlCBBoVcDzc6uCjidAgAABAs0JeH5uzskqAgRmXkDAeubtHEmAAAECBAgQIECAAAECBAj0jICAdc84OguBfhEQsO4X9j696BsPHhjvPnVG7ZpzLrBhfGn1U/u0BhcjQIAAAQJVEOj4582HLndALLDOz6vQuh4JlErA83OpxqkZAgQIEMixgOfnHA9HaQRKIiBgXZJBaoMAAQIECBAgQIAAAQIECBRYQMC6wMNTOgEB6/LfA/9888F4+eZ12zW66PpXxOxzLV3+5nVIgAABAgT6SODj956LlyaMane1YVs9EIPmX6ePKnAZAgR6SsDzc09JOg8BAgQIEOhcwPOzu4MAgb4QELDuC2XXIECAAAECBAgQIECAAAECBLoSELB2fxAosICAdYGH143SX7l1g/jo7xNqR8y18Gax8CrHdeMMlhIgQIAAAQJdCbz22JHx3mu315bMseD6scgWf4BGgEBBBTw/F3RwyiZAgACBwgh4fi7MqBRKoNACAtaFHp/iCRAgQIAAAQIECBAgQIBAKQQErEsxRk1UVUDAuhqTf/+/ro1X796xXbNfXvOMGPyF9jtbV0NDlwQIECBAoGcFPnzrgfjviQe0O+kXv3pNDFl8h569kLMRINBnAp6f+4zahQgQIECgggKenys4dC0T6CcBAet+gndZAgQIECBAgAABAgQIECBAoCYgYO1mIFBgAQHrAg+vm6V33IVv4JAlYrENro6IIvwa72azlhMgQIAAgT4TmBov/mGnmPL+X2tXtHt1n+G7EIFeFfD83Ku8Tk6AAAEClRXw/FzZ0WucQD8ICFj3A7pLEiBAgAABAgQIECBAgAABAu0EipDMmzp9xVOntvvSOAlUWkDAujrj/+i1u+OV327SruHPL7JtLLjCEdVB0CkBAgQIEOhhgb8/eXz8zys3tjvrIpvfFXMs/NUevpLTESDQ1wKen/ta3PUIECBAoAoCnp+rMGU9EsiPgIB1fmahEgIECBAgQIAAAQIECBAgUFUBAeuqTl7fpRAQsC7FGJtu4o0HD4x3nzqj3fovLLN/zLvEHk2fw0ICBAgQIEDg/xd456+XxFvPntmOY+hyB8QC6/wcEQECJRHw/FySQWqDAAECBHIh4Pk5F2NQBIFKCQhYV2rcmiVAgAABAgQIECBAgAABArkUELDO5VgURaA5AQHr5pzKtOql36weH7/9aLuWFljukBi66A5lalMvBAgQIECgVwXefenaeOOpU9pdY/b5VotFt3mkV6/r5AQI9L2A5+e+N3dFAgQIECifgOfn8s1URwSKICBgXYQpqZEAAQIECBAgQIAAAQIECJRbQMC63PPVXckFBKxLPuA67U2ZPClevnlEfPbph+1+aifr6t0LOiZAgACBmROot/PegFkHx7Ct7o+B86w0cyd1FAECuRXw/Jzb0SiMAAECBAoi4Pm5IINSJoESCghYl3CoWiJAgAABAgQIECBAgAABAgUTELAu2MCUS2B6AQHrat4PH7xya/zt91vO0PznF9k2Flzh8Igowq/2as5O1wQIECDQnwJT4+9PnhD/88qNMxTxpZG3xJyLbNGfxbk2AQK9KOD5uRdxnZoAAQIESizg+bnEw9UagUIICFgXYkyKJECAAAECBAgQIECAAAECpRYoQgpv6vQTmDq13ZelHo7mCDQSELBuJFTen7//X9fGq3fvOEODA4csEfMPPzAGf2Hd8javMwIECBAg0E2BD996IN585ucx5f2/znDkF796TQxZfIduntFyAgSKJuD5uWgTUy8BAgQI9KeA5+f+1HdtAgTaBASs3QsECBAgQIAAAQIECBAgQIBAfwsIWPf3BFyfQAsCAtYt4JXg0LQT32t37xSfffrhDN3MtfBmMc8Su8Xscy1dgk61QIAAAQIEZk7g4/eei8l/vSzee+32GU4wYNbBsfBXr7Zz9czROopAIQU8PxdybIomQIAAgT4U8Pzch9guRYBAQwEB64ZEFhAgQIAAAQIECBAgQIAAAQK9LCBg3cvATk+gNwUErHtTtxjnnjJ5Urz+h+/Fx28/WrfgORfYMOb+4uYxZKGvRkQRfuUXw12VBAgQIJBnganx/ut3xz9e/W188Ma9dQudfb7VYqENLoqB86yU50bURoBALwh4fu4FVKckQIAAgYILeH4u+ACVT6C0AgLWpR2txggQIECAAAECBAgQIECAQGEEipC2mzq95tSp7b4sDLRCCfSGgIB1b6gW85xvPHhgvPvUGZ0WP2CW2WOO+daKQUNXjNnnWjI+N8eXYtaB88aAWecQvC7myFVNgAABAjE1Pvv0o/h0yjvxvx/9LT5+7y/xz3efiI/efjg++9fHnfoMXe6AWGCdn/MjQKDiAp6fK34DaJ8AAQKVFPD8XMmxa5pAgQUErAs8PKUTIECAAAECBAgQIECAAIGSCAhYl2SQ2qimgIB1NefeWdcfvXZ3vP2nH8dHf58AhgABAgQIEOggMMeC68d8q/445lg4/VUHLwIECER4fnYXECBAgACBzgU8P7s7CBDobwEB6/6egOsTIECAAAECBAgQIECAAAECAtbuAQIFFhCwLvDwerH09//r2nj36bMErXvR2KkJECBAoDgCKRgydNn9YsjiOxSnaJUSINCnAp6f+5TbxQgQIEAg5wKen3M+IOURqJCAgHWFhq1VAgQIECBAgAABAgQIECCQUwEB65wORlkEmhEQsG5Gqbpr/vnmg/HeX6+OD16+Kf73g5erC6FzAgQIEKicwOfmHBZzDts65lpipxg0/zqV61/DBAjMnIDn55lzcxQBAgQIFF/A83PxZ6gDAmUUELAu41T1RIAAAQIECBAgQIAAAQIEiiUgYF2seamWQDsBAWs3RLMCUyZPio/eeCCmvP2n+OQfz8X/fvBK/Ovjt+OzTz+KiKnNnsY6AgQIECCQI4H/EwNmnSNmmX2++Nyci8Rscy8dA+dbNeZYYN0YOM9KOapTKQQIFFHA83MRp6ZmAgQIEOhawPOzO4QAgWIJCFgXa16qJUCAAAECBAgQIECAAAECZRQQsC7jVPVUGQEB68qMWqMECBAgQIAAAQIECBAgQIAAAQIECBAgQKAyAgLWlRm1RgkQIECAAAECBAgQIECAQG4FBKxzOxqFEWgsIGDd2MgKAgQIECBAgAABAgQIECBAgAABAgQIECBAoFgCAtbFmpdqCRAgQIAAAQIECBAgQIBAGQUErMs4VT1VRkDAujKj1igBAgQIECBAgAABAgQIECBAgAABAgQIEKiMgIB1ZUatUQIECBAgQIAAAQIECBAgkFsBAevcjkZhBBoLCFg3NrKCAAECBAgQIECAAAECBAgQIECAAAECBAgQKJaAgHWx5qVaAgQIECBAgAABAgQIECBQRgEB6zJOVU+VERCwrsyoNUqAAAECBAgQIECAAAECBAgQIECAAAECBCojIGBdmVFrlAABAgQIECBAgAABAgQI5FZAwDq3o1EYgcYCAtaNjawgQIAAAQIECBAgQIAAAQIECBAgQIAAAQIEiiUgYF2seamWAAECBAgQIECAAAECBAiUUUDAuoxT1VNlBASsKzNqjRIgQIAAAQIECBAgQIAAAQIECBAgQIAAgcoICFhXZtQaJUCAAAECBAgQIECAAAECuRUQsM7taBRGoLGAgHVjIysIECBAgAABAgQIECBAgAABAgQIECBAgACBYgkIWBdrXqolQIAAAQIECBAgQIAAAQJlFBCwLuNU9VQZAQHryoxaowQIECBAgAABAgQIECBAgAABAgQIECBAoDICAtaVGbVGCRAgQIAAAQIECBAgQIBAbgUErHM7GoURaCwgYN3YyAoCBAgQIECAAAECBAgQIECAAAECBAgQIECgWAIC1sWal2oJECBAgAABAgQIECBAgEAZBQSsyzhVPVVGQMC6MqPWKAECBAgQIECAAAECBAgQIECAAAECBAgQqIyAgHVlRq1RAgQIECBAgAABAgQIECCQWwEB69yORmEEGgsIWDc2soIAAQIECBAgQIAAAQIECBAgQIAAAQIECBAoloCAdbHmpVoCBAgQIECAAAECBAgQIFBGAQHrMk5VT5URELCuzKg1SoAAAQIECBAgQIAAAQIECBAgQIAAAQIEKiMgYF2ZUWuUAAECBAgQIECAAAECBAjkVkDAOrejURiBxgIC1o2NrCBAgAABAgQIECBAgAABAgQIECBAgAABAgSKJSBgXax5qZYAAQIECBAgQIAAAQIECJRRQMC6jFPVU2UEBKwrM2qNEiBAgAABAgQIECBAgAABAgQIECBAgACByggIWFdm1BolQIAAAQIECBAgQIAAAQK5FRCwzu1oFEagsYCAdWMjKwgQIECAAAECBAgQIECAAAECBAgQIECAAIFiCQhYF2teqiVAgAABAgQIECBAgAABAmUUELAu41T1VBkBAevKjFqjBAgQIECAAAECBAgQIECAAAECBAgQIECgMgIC1pUZtUYJECBAgAABAgQIECBAgEBuBQSsczsahRFoLCBg3djICgIECBAgQIAAAQIECBAgQIAAAQIECBAgQKBYAgLWxZqXagkQIECAAAECBAgQIECAQBkFBKzLOFU9VUZAwLoyo9YoAQIECBAgQIAAAQIECBAgQIAAAQIECBCojICAdWVGrVECBAgQIECAAAECBAgQIJBbAQHr3I5GYQQaCwhYNzayggABAgQIECBAgAABAgQIECBAgAABAgQIECiWgIB1sealWgIECBAgQIAAAQIECBAgUEYBAesyTlVPlREQsK7MqDVKgAABAgQIECBAgAABAgQIECBAgAABAgQqIyBgXZlRa5QAAQIECBAgQIAAAQIECORWQMA6t6NRGIHGAgLWjY2sIECAAAECBAgQIECAAAECBAgQIECAAAECBIolIGBdrHmplgABAgQIECBAgAABAgQIlFFAwLqMU9VTZQQErCszao0SIECAAAECBAgQIECAAAECBAgQIECAAIHKCAhYV2bUGiVAgAABAgQIECBAgAABArkVELDO7WgURqCxgIB1YyMrCBAgQIAAAQIECBAgQIAAAQIECBAgQIAAgWIJCFgXa16qJUCAAAECBAgQIECAAAECZRQQsC7jVPVUGQEB68qMWqMECBAgQIAAAQIECBAgQIAAAQIECBAgQKAyAgLWlRm1RgkQIECAAAECBAgQIECAQG4FBKxzOxqFEWgsIGDd2MgKAgQIECBAgAABAgQIECBAgAABAgQIECBAoFgCAtbFmpdqCRAgQIAAAQIECBAgQIBAGQUErMs4VT1VRkDAujKj1igBAgQIECBAgAABAgQIECBAgAABAgQIEKiMgIB1ZUatUQIECBAgQIAAu86ZsQAAIABJREFUAQIECBAgkFsBAevcjkZhBBoLCFg3NrKCAAECBAgQIECAAAECBAgQIECAAAECBAgQKJaAgHWx5qVaAgQIECBAgAABAgQIECBQRgEB6zJOVU+VERCwrsyoNUqAAAECBAgQIECAAAECBAgQIECAAAECBCojIGBdmVFrlAABAgQIECBAgAABAgQI5FZAwDq3o1EYgcYCAtaNjawgQIAAAQIECBAgQIAAAQIECBAgQIAAAQIEiiUgYF2seamWAAECBAgQIECAAAECBAiUUUDAuoxT1VNlBASsKzNqjRIgQIAAAQIECBAgQIAAAQIECBAgQIAAgcoICFhXZtQaJUCAAAECBAgQIECAAAECuRUQsM7taBRGoLGAgHVjIysIECBAgAABAgQIECBAgAABAgQIECBAgACBYgkIWBdrXqolQIAAAQIECBAgQIAAAQJlFBCwLuNU9VQZAQHryoxaowQIECBAgAABAgQIECBAgAABAgQIECBAoDICAtaVGbVGCRAgQIAAAQIECBAgQIBAbgUErHM7GoURaCwgYN3YyAoCBAgQIECAAAECBAgQIECAAAECBAgQIECgWAIC1sWal2oJECBAgAABAgQIECBAgEAZBQSsyzhVPVVGQMC6MqPWKAECBAgQIECAAAECBAgQIECAAAECBAgQqIyAgHVlRq1RAgQIECBAgAABAgQIECCQWwEB69yORmEEGgsIWDc2soIAAQIECBAgQIAAAQIECBAgQIAAAQIECBAoloCAdbHmpVoCBAgQIECAAAECBAgQIFBGAQHrMk5VT5URELCuzKg1SoAAAQIECBAgQIAAAQIECBAgQIAAAQIEKiMgYF2ZUWuUAAECBAgQIECAAAECBAjkVkDAOrejURiBxgIC1o2NrCBAgAABAgQIECBAgAABAgQIECBAgAABAgSKJSBgXax5qZYAAQIECBAgQIAAAQIECJRRQMC6jFPVU2UEBKwrM2qNEiBAgAABAgQIECBAgAABAgQIECBAgACByggIWFdm1BolQIAAAQIECBAgQIAAAQK5FRCwzu1oFEagsYCAdWMjKwgQIECAAAECBAgQIECAAAECBAgQIECAAIFiCQhYF2teqiVAgAABAgQIECBAgAABAmUUELAu41T1VBkBAevKjFqjBAgQIECAAAECBAgQIECAAAECBAgQIECgMgIC1pUZtUYJECBAgAABAgQIECBAgEBuBQSsczsahRFoLCBg3djICgIECBAgQIAAAQIECBAgQIAAAQIECBAgQKBYAgLWxZqXagkQIECAAAECBAgQIECAQBkFBKzLOFU9VUZAwLoyo9YoAQIECBAgQIAAAQIECBAgQIAAAQIECBCojICAdWVGrVECBAgQIECAAAECBAgQIJBbAQHr3I5GYQQaCwhYNzayggABAgQIECBAgAABAgQIECBAgAABAgQIECiWgIB1sealWgIECBAgQIAAAQIECBAgUEYBAesyTlVPlREQsK7MqDVKgAABAgQIECBAgAABAgQIECBAgAABAgQqIyBgXZlRa5QAAQIECBAgQIAAAQIECORWQMA6t6NRGIHGAgLWjY2sIECAAAECBAgQIECAAAECBAgQIECAAAECBIolIGBdrHmplgABAgQIECBAgAABAgQIlFFAwLqMU9VTZQQErCszao0SIECAAAECBAgQIECAAAECBAgQIECAAIHKCAhYV2bUGiVAgAABAgQIECBAgAABArkVELDO7WgURqCxgIB1YyMrCBAgQIAAAQIECBAgQIAAAQIECBAgQIAAgWIJCFgXa16qJUCAAAECBAgQIECAAAECZRQQsC7jVPVUGQEB68qMWqMECBAgQIAAAQIECBAgQIAAAQIECBAgQKAyAgLWlRm1RgkQIECAAAECBAgQIECAQG4FBKxzOxqFEWgsIGDd2MgKAgQIECBAgAABAgQIECBAgAABAgQIECBAoFgCAtbFmpdqCRAgQIAAAQIECBAgQIBAGQUErMs4VT1VRkDAujKj1igBAgQIECBAgAABAgQIECBAgAABAgQIEKiMgIB1ZUatUQIECBAgQIAAAQIECBAgkFsBAevcjkZhBBoLCFg3NrKCAAECBAgQIECAAAECBAgQIECAAAECBAgQKJaAgHWx5qVaAgQIECBAgAABAgQIECBQRgEB6zJOVU+VERCwrsyoNUqAAAECBAgQIECAAAECBAgQIECAAAECBCojIGBdmVFrlAABAgQIECBAgAABAgQI5FZAwDq3o1EYgcYCAtaNjawgQIAAAQIECBAgQIAAAQIECBAgQIAAAQIEiiUgYF2seamWAAECBAgQIECAAAECBAiUUUDAuoxT1VNlBASsKzNqjRIgQIAAAQIECBAgQIAAAQIECBAgQIAAgcoICFhXZtQaJUCAAAECBAgQIECAAAECuRUQsM7taBRGoLGAgHVjIysIECBAgAABAgQIECBAgAABAgQIECBAgACBYgkIWBdrXqolQIAAAQIECBAgQIAAAQJlFBCwLuNU9VQZAQHryoxaowQIECBAgAABAgQIECBAgAABAgQIECBAoDICAtaVGbVGCRAgQIAAAQIECBAgQIBAbgUErHM7GoURaCwgYN3YyAoCBAgQIECAAAECBAgQIECAAAECBAgQIECgWAIC1sWal2oJECBAgAABAgQIECBAgEAZBQSsyzhVPVVGQMC6MqPWKAECBAgQIECAAAECBAgQIECAAAECBAgQqIyAgHVlRq1RAgQIECBAgAABAgQIECCQWwEB69yORmEEGgsIWDc2soIAAQIECBAgQIAAAQIECBAgQIAAAQIECBAoloCAdbHmpVoCBAgQIECAAAECBAgQIFBGAQHrMk5VT5URELCuzKg1SoAAAQIECBAgQIAAAQIECBAgQIAAAQIEKiMgYF2ZUWuUAAECBAgQIECAAAECBAjkVkDAOrejURiBxgIC1o2NrCBAgAABAgQIECBAgAABAgQIECBAgAABAgSKJSBgXax5qZYAAQIECBAgQIAAAQIECJRRQMC6jFPVU2UEBKwrM2qNEiBAgAABAgQIECBAgAABAgQIECBAgACByggIWFdm1BolQIAAAQIECBAgQIAAAQK5FRCwzu1oFEagsYCAdWMjKwgQIECAAAECBAgQIECAAAECBAgQIECAAIFiCQhYF2teqiVAgAABAgQIECBAgAABAmUUELAu41T1VBkBAevKjFqjBAgQIECAAAECBAgQIECAAAECBAgQIECgMgIC1pUZtUYJECBAgAABAgQIECBAgEBuBQSsczsahRFoLCBg3djICgIECBAgQIAAAQIECBAgQIAAAQIECBAgQKBYAgLWxZqXagkQIECAAAECBAgQIECAQBkFBKzLOFU9VUZAwLoyo9YoAQIECBAgQIAAAQIECBAgQIAAAQIECBCojICAdWVGrVECBAgQIECAAAECBAgQIJBbAQHr3I5GYQQaCwhYNzayggABAgQIECBAgAABAgQIECBAgAABAgQIECiWgIB1sealWgIECBAgQIAAAQIECBAgUEYBAesyTlVPlREQsK7MqDVKgAABAgQIECBAgAABAgQIECBAgAABAgQqIyBgXZlRa5QAAQIECBAgQIAAAQIECORWQMA6t6NRGIHGAgLWjY2sIECAAAECBAgQIECAAAECBAgQIECAAAECBIolIGBdrHmplgABAgQIECBAgAABAgQIlFFAwLqMU9VTZQQErCszao0SIECAAAECBAgQIECAAAECBAgQIECAAIHKCAhYV2bUGiVAgAABAgQIECBAgAABArkVELDO7WgURqCxgIB1YyMrCBAgQIAAAQIECBAgQIAAAQIECBAgQIAAgWIJCFgXa16qJUCAAAECBAgQIECAAAECZRQQsC7jVPVEgAABAgQIECBAgAABAgQIECBAgAABAgQIECBAoKACAtYFHZyyCRAgQIAAAQIECBAgQIBAiQQErEs0TK0QIECAAAECBAgQIECAAAECBAgQIECAAAECBAgQKLqAgHXRJ6h+AgQIECBAgAABAgQIECBQfAEB6+LPUAcECBAgQIAAAQIECBAgQIAAAQIECBAgQIAAAQIESiMgYF2aUWqEAAECBAgQIECAAAECBAgUVkDAurCjUzgBAgQIECBAgAABAgQIECBAgAABAgQIECBAgACB8gkIWJdvpjoiQIAAAQIECBAgQIAAAQJFExCwLtrE1EuAAAECBAgQIECAAAECBAgQIECAAAECBAgQIECgxAIC1iUertYIECBAgAABAgQIECBAgEBBBASsCzIoZRIgQIAAAQIECBAgQIAAAQIECBAgQIAAAQIECBCogoCAdRWmrEcCBAgQIECAAAECBAgQIJBvAQHrfM9HdQQIECBAgAABAgQIECBAgAABAgQIECBAgAABAgQqJSBgXalxa5YAAQIECBAgQIAAAQIECORSQMA6l2NRFAECBAgQIECAAAECBAgQIECAAAECBAgQIECAAIFqCghYV3PuuiZAgAABAgQIECBAgAABAnkSELBucRr//Oc/Y8yYMXHeeefVznTffffFiBEjWjxztQ7v6LjpppvGFVdcEfPOO287iHfeeSdGjRoV48aNy76/1157xWmnnRaDBg3qMbBjjz02jj766Ox8K620UlxzzTWx9NJL99j5OzvR1KlT429/+1tMmDAh7rjjjnj22WfjoYceqi1fZZVVsnrWW2+9GDlyZHzpS1+KOv/A2Ot15ukCzz33XOy4444xadKkrKxjjjkmjjrqqDyV2G+19MV7pZnmmn1vN3MuawgQIECAAAECBAgQIECAAAECBAgQIECgGgIC1tWYsy4JECBAgAABAgQIECBAgECeBQSsW5yOgHWLgP8+vNkQZl+ERvs6YD1lypS488474+STT87C1c2+dt555/jRj34UK664YmWD1lUNWKd75te//nUW/F9ttdXq3jJ98V5p5l5t9r3dzLmsIUCAAAECBAgQIECAAAECBAgQIECAAIFqCAhYV2POuiRAgAABAgQIECBAgAABAnkWELBucToC1i0C/vvwZkOYfREa7cuA9eOPP57tuHzrrbfOFOSQIUPikEMOiYMPPrhHd/GeqWL64aCqBazTLuePPfZYjB07Nrtnutotvy/eK82MvNn3djPnsoYAAQIECBAgQIAAAQIECBAgQIAAAQIEqiEgYF2NOeuSAAECBAgQIECAAAECBAjkWUDAusXpCFi3CPjvw5sNYfZFaLQvAtYpKHvjjTfGQQcdFC+//PIMiKusskqstNJKscwyy2Q/++STT2LixInxwAMPxOTJk2dYf+CBB8bxxx8fgwcP7pmBFOQsVQtYX3/99fHd73433n///WxCAtYFuVGVSYAAAQIECBAgQIAAAQIECBAgQIAAAQLdEhCw7haXxQQIECBAgAABAgQIECBAgEAvCAhYt4gqYN0i4L8PbzZg3TNX6/osvR2wTuHqa665Jvbdd992Yel55pknUlB69913j2HDhkWdfzzMgtbjx4+PI488Mv74xz+2a+Skk07KdrKeddZZ+4IpF9eoWsD6iiuuiF133bVm31XAOhcDiog8vbfzYqIOAgQIECBAgAABAgQIECBAgAABAgQIEOhaQMDaHUKAAAECBAgQIECAAAECBAj0t4CAdYsTELBuEfDfh+cphNnbAev7778/Ro0a1W7n6pEjR8bPf/7z2o7VjVTTDsZHHHFEnHnmmbWlQ4YMicsuuyy23nrrRoeX5ucC1vfFiBEjcj3PPL23cw2lOAIECBAgQIAAAQIECBAgQIAAAQIECBCoCQhYuxkIECBAgAABAgQIECBAgACB/hYQsG5xAgLWLQL++/A8hTB7M2D97rvvxl577RXXXXddDS4Fos8777xYYIEFuoX54YcfxpgxY+KCCy6oHbfVVltlX88///zdOldRFwtYC1gX9d5VNwECBAgQIECAAAECBAgQIECAAAECBAh0LiBg7e4gQIAAAQIECBAgQIAAAQIE+ltAwLrFCQhYtwj478OrErC+4oorYtddd62hrbXWWnHxxRfH8OHDZwryiSeeiJ122imeeeaZ2vG//vWv41vf+tZMna9oBwlYC1gX7Z5VLwECBAgQIECAAAECBAgQIECAAAECBAg0FhCwbmxkBQECBAgQIECAAAECBAgQINC7AgLWLfoKWLcI+O/DqxCwTrtXf+9734sbb7yxhnb++efH6NGjo84/FDYF+69//St+8pOfRNp1u+2Vdsg+7bTTYtCgQU2do8iLBKwFrIt8/6qdAAECBAgQIECAAAECBAgQIECAAAECBOoLCFi7MwgQIECAAAECBAgQIECAAIH+FhCwbnEC3QlYd1x7zDHHxFFHHZVVMGXKlHjwwQez8O2ECRPisccey76/yiqrxPrrrx877LBDpN2OZ5111roV33HHHTFy5Mjaz0499dQYM2ZM08HdjrWla1111VWx2GKL1b3e1KlT429/+1v89re/jfHjx0cKurbV3Fb30ksvHV/72tdiyy23jPnnn79L6WYD1u+8806MGjUqxo0bl52v2TDxp59+Gg8//HBce+217XzXXnvtrMYdd9wxll122RgwYEAWVj766KOz86+00kpxzTXXROql1dddd90V2267bbz//vvZqRoZN3u9iRMnZvfReuutF1/96ldj+eWXj7nnnrvd4Z3dex9++GFceumlcckll2Q+w4YNi4022ih22WWX7L7rLKT93nvvZTNI8580aVJt9skp3bPNzr2zHt988834zW9+E7fccks88MADMXny5Ky2ZJYMN99885hrrrmy+y7NLtWQXtO/pxr59WQPvfnevv/++7PZNnp1vFdn9r3SX+/t6ftre7/edtttcd9998Xjjz+evW+GDBkSK6+8cqywwgqx9dZbd3mPNvLycwIECBAgQIAAAQIECBAgQIAAAQIECBDIr4CAdX5nozICBAgQIECAAAECBAgQIFAVAQHrFifdEwHrP/3pT3HAAQdEClJ29dpiiy2y8G8KGHZ8vf7667H77rvHnXfemf1os802i8suuyzmm2++pjp86qmnYvvtt49nnnkmW5/C2SeddFLMNtts7Y5P4csUpD7uuOPa7cTc1UVSKPIHP/hBHHLIITHPPPPUXdpbAeu2eseOHRu33nprlxapxuR79tln93jAOtVx/PHH1wL1XRk3NbBuLqoXAP6P//iP2H///eO6666b4WxpZinsv8kmm7T7WTrPueeem80/hZ5bnXvH41PgO+3q3ej8Kch9+umnZx8A6G7Aujd66Cxg3RPv7b4KWPf3ezvdC6mGe+65Jw499ND44x//2PAuT/dB+jDEdtttFwMHDmy43gICBAgQIECAAAECBAgQIECAAAECBAgQKIaAgHUx5qRKAgQIECBAgAABAgQIECBQZgEB6xan22rAeoMNNog99tgjXn755aYqSYHCK664IlZbbbV26zsGeDsLyHZ2kYsuuihGjx6d/bizY9M10m7O++67b8Nwbb3rpADzKaecEoMHD57hx70RsJ6ZetOuuEOHDo1f/epXWY09tYN12n03uaXQe9vr8ssvz3bj7otXR9+DDjooPv744zjnnHPqXj7tEp3uiWTR9nr11Vez4H29QHZXPYwYMSI7V6NdwN94441OA9/1zp/u07333jtuv/32ePLJJ7MljXaw7q0e6gWse+q93RcB65l5r0w/k554b7dSw4EHHph9gKHe75a+eH+5BgECBAgQIECAAAECBAgQIECAAAECBAj0rICAdc96OhsBAgQIECBAgAABAgQIECDQfQEB6+6btTuilYB12mX63XffjYcffjgLNaewbQq2plDvgAED4vnnn4+rr746LrnkkkgB3bbXnnvuGWedddYMYcKJEyfGNttsE2k36/Q66qijIu3cPMsss3TZZcfwb2e7X997770zhMHTrtc777xztqv2XHPNlV3nzTffjEceeSQLgo8bN67dtS+88ML43ve+N0M9vRGwrlfvGmuskYV4N9544xg0aFBmlXZqTgHgeiH3ngpYv/baa9l8x48fn/W+0EILxS233DJDUL7F27HTw+vdp22L99lnnyyo/MUvfjFeeumluO2222KppZaKnXbaqXa+FH7ea6+94qabbqp9L+1Gno7bfPPNs/Xpnv3v//7vSO7Jsy30nA5Ya6214uKLL47hw4fXrTHtXJ12OJ8+8J3eE+nDB7vttlssscQS8emnn2bvlQsuuKDT3ci7Clj3Zg8dfXvyvf3JJ5/U3v833HBDpJ3H216/+93vIt3T6ZX8k9mss86aff3OO+9k91zbezDN77TTTsvu+46vPLy3n3jiieyea9tFP91fafbpd1q6b1Jf6R6YNGlS9gGIq666qtZG6jvtfD79Pdtb7yXnJUCAAAECBAgQIECAAAECBAgQIECAAIHeFxCw7n1jVyBAgAABAgQIECBAgAABAgS6FhCwbvEOaSVg3XbptMPv6aefnoVtO/6DUdrV9Z577onvfve7tQBwCuf+5je/iTXXXLNd9R2D0htttFEWcl544YW77LJjMPvUU0/NdiqevpYUBE8Bzbbdi1OgMYVhd9lllyzYWe81ZcqUSLs0p3O1BcRTYPLss8/OgqDTv3o6YJ1C3t///vfj5ptvrl0mhc1/+MMf1t3lNoWrU50pbD39q6cC1s8991zsuOOOWTg0vdKsU3j+K1/5Sot3YHOHdxawPumkk+Lggw+uhXLrnS2FWpPdCSecUPtxmmPajXzBBResW0AKTP/0pz+Nn/zkJ7Wf77ffftkx9QK+6T7ddddda2tTIPvMM8+M1VdffYb3RKonrU+7cE+ePLnd9TsLWPd2D5359tR7u63Jjk733XdfpGvUezUbsM7De7vjDvzDhg2LX/7yl9kHIer8I3p89tlnceWVV0baObvtd8u3v/3tSB/gmHvuuZt7U1hFgAABAgQIECBAgAABAgQIECBAgAABArkVELDO7WgURoAAAQIECBAgQIAAAQIEKiMgYN3iqFsNWKedWVPQdsUVV+y0kn/9619ZMPXwww+vrTn33HOzwHPHV9o5ePTo0bVvpx2Ht9pqq07PnYKNaVfbFLJNr852Vr7rrruy3bXbwoxp/fHHHx8DBw7sUjCFN9OO1W3B5XXXXTcLRqYA5fSvng5Yd3RIQcxkOHjw4E7rrbfDcU8FrO+///5Yb731atfedNNNs5DwvPPO2+Id2Nzh9e7TNM/kNHTo0C5P0jGAn+6vn/3sZzOE5DueJIWaU4A77aSeXilUn+6DTTbZpN3StIv47rvvHnfeeWf2/XRvpF3bN9xwwy7v27SDcdpBe/rd3TsLWPd2D/V8e/q9nTB6I2Cdh/f2P/7xj+z31vXXX5/NvKvdtttuivQBjrTr+RlnnJF9a8kll8yO7+p3aXPvFqsIECBAgAABAgQIECBAgAABAgQIECBAoL8FBKz7ewKuT4AAAQIECBAgQIAAAQIECAhYt3gPtBqwTuHTtDvwLLPM0mUlKaD7jW98oxYm7SxI+uKLL8bOO+8cDz/8cHa+Aw44IAsWdxaEfvvttyPtRnz77bdn6/fcc88466yz2gWRO+4u29kO2vUaSMemXYzbdjLuLLDckwHrjjt5NxN0bav997//faSdcNtCu2UOWKeQdNq1u6tXCven2R177LHZshR+TiHWtLN0M6+O92O6XgpdzzbbbLXD77jjjhg5cmTt6/RBgnTNWWedtctLvPfee7H//vvHpZdeWltX733RFz3U+z3Q0+/t1GRPB6zz8t5udrftjjdE2qH+xBNPjEUXXTRWWGGF2H777bOgtRcBAgQIECBAgAABAgQIECBAgAABAgQIFFtAwLrY81M9AQIECBAgQIAAAQIECBAog4CAdYtTbDVgnQK9X//61xtW8dxzz8WOO+4YkyZNytYedthhWei1YzC7466ua621VqSdfhdbbLG61+i4e+3ll18eo0aNarf2k08+iV//+tfx2GOPZf8z55xzxgUXXBDzzTdfw7rTglTn0Ucfna3ti4B1R6tmdsNta6Rj4LzMAet77703Nthggy5n+Nprr2X3w/jx47N1KYx/9tlnN9y9uu2kHd8fG220URYSXnjhhbMlHQO+aZfr3/3udzFixIim7q2OgeN6Aeve7iEVWu/3QE+/t9N1ejpgnZf3dscPRaQgf7rP0odKBgwY0NS9YBEBAgQIECBAgAABAgQIECBAgAABAgQIlEdAwLo8s9QJAQIECBAgQIAAAQIECBAoqoCAdYuTayVgnXZaTbsBr7jiig2r6E5ouJnQdLpgx519G4WxGxb57wUptPnqq6/G448/HjfeeGPcdtttMXny5OynfRGw7rgj8rnnnhspZN3MK5mknYfTrrhd1dvMuaZf88QTT2Q7Y//lL3/Jvr3ppptmYdl55523u6eaqfUd79O02++1114byyyzTJfne/TRR2PLLbeM119/PVuXdpc+6KCDulVD2in7hBNOyI5Ju5/fcsstsdpqq2VfdwzWdgxgN7pQR9d6Aeve7iHV2NG3t97bPR2wbuTb8ee99d5OQfvTTjstDj744HaX3GKLLbId+dN9seCCCwpbd3dg1hMgQIAAAQIECBAgQIAAAQIECBAgQKCgAgLWBR2csgkQIECAAAECBAgQIECAQIkEBKxbHGYrAevu7I7cnYB1CsPuvvvuceedd2bd7bnnnnHWWWfF4MGD23XbcWffznbF7ozogw8+iBdeeCFefPHFeOaZZ+LJJ5+MVGfa5bqzV18ErC+99NLYY489aiXcdNNNsdVWWzU96emP786MurpAx/n11HmbbarjfbruuuvGlVdeGWmn4K5eN998c2y99dbNXqapddPv7PzWW2/FLrvsUrtXUwj9wgsvjLnnnrupc3U8vl7Aurd7SIV29O3OfLvz3u6rgHV/vLdfeuml2HXXXeP++++vO/ull15LZLXSAAAgAElEQVQ6Ntlkk9h8880j3b9Dhw5t6h6xiAABAgQIECBAgAABAgQIECBAgAABAgSKJyBgXbyZqZgAAQIECBAgQIAAAQIECJRNQMC6xYnmMWDdcTfY4cOHx3XXXRfLLbdcu25vuOGG2G677bLvDRkyJNttOgUYu3qlfm+99dY488wzY8KECd3W64uA9bHHHhtHH310rbb77rsvRowY0XSt11xzTey0007Z+u4EZbu6wDvvvBOjRo2KcePG1bxT0Hjttdduuq5WFna8T5vdQbtjoLeVGtqOvfzyyzOL9OpOuLjetd99993Ybbfdsl3S06tewLq3e0jXLUPAur/f28nxwQcfjH322ScmTZrU8FZLv6vS76+0y/WXvvSlqPOP7Q3PYQEBAgQIECBAgAABAgQIECBAgAABAgQI5FNAwDqfc1EVAQIECBAgQIAAAQIECBCokoCAdYvTzmPAOrU0ceLE2GabbSLtZp1e5557buy11161bqdMmRKHHHJInHHGGdn3Nttss7jssstivvnm61Tk2WefjQMPPDBSMLjRK+2MvNFGG8U3v/nNePjhh+PUU0/NDilCwDrtoLveeut1WW+j/jv+/OOPP46DDz44zjnnnNqPpg8ad/d83V1f1oB1x74ErKfdGR1D/en9f9ppp8WgQYNmuH3y8N5uKyrtSn7BBRfE+eefHy+//HLDWz19OCR9ICLNfsEFF2y43gICBAgQIECAAAECBAgQIECAAAECBAgQyL+AgHX+Z6RCAgQIECBAgAABAgQIECBQdgEB6xYnnNeA9Ycffhj77bdf/OpXv8o6/Pa3vx0XXnhhzD333NnXHXcOTgHoMWPGdLoL7DPPPBPf+c53srD09K955pkn1lhjjVh99dVj2WWXjSWXXDIWX3zxGDp0aAwYMCBbOv2O0kUIWN9xxx0xcuTIrPae2sE6neu8886Lvffeu8aXvE866aSYbbbZWroLP/nkkxg7dmz84x//yILya665ZiywwALtZtlTAeueDoW3uoP1+++/H/vuu2/24YD0aiZg3dM9pOsWeQfrvLy3O74J0n39+OOPxy233JLtwJ/ula5eW2+9dfYeS/e+FwECBAgQIECAAAECBAgQIECAAAECBAgUW0DAutjzUz0BAgQIECBAgAABAgQIECiDgIB1i1PMa8A6tXXRRRfF6NGjsw4XWmihLKi42mqrZV9P/7MUir7++utjxRVXrKtRr8cRI0Zkwen0v7sKCE+dOjV+8pOfZP+TXn0RsL700ktjjz32qPVy0003xVZbbdX0pK+44orYddddu6y36ZNNt/CJJ57Igu5/+ctfsu+utdZacdVVV8Viiy02M6erHfPaa6/FqFGjYvz48bXvpV3Gv/71r9e+ntmA9TXXXJPtDtz2+tnPfpYF8XvqlXYr3mWXXeLOO+/MTtnxgwCNrtNxl+Z6Aeve7iHVWNSAdZ7e213NOv0emTx5cjz66KNx2223xbhx4+oGrtMu8ccff3wMHDiw0a3j5wQIECBAgAABAgQIECBAgAABAgQIECCQYwEB6xwPR2kECBAgQIAAAQIECBAgQKAiAgLWLQ46zwHrF198MXbeeefartNtu1R/9NFH7Xa33nPPPeOss86KwYMH19VIocYtt9wyXn/99eznKRh88cUXx/DhwxvqNRs8bTYA3DFQu9dee8Vpp50WgwYNqtUy/Q7U6ZvdDQWfeOKJcfjhh2fn68kdrDvuKp7Of/7552ch+Dr/UNjQtm3B9IHw9L2NNtoo0vcWXnjh2jma9e140YceeijbzTvtFJ1e9bybLrTOwo47UK+77rpx5ZVXxrBhw5o67QsvvJAFwNM9ml71Ata93UO6brP3eb2murOLd8dZ33fffdmHHOq9mnmv5Om93dTA/73os88+i6effjp++tOfRvpARduru/dPd65pLQECBAgQIECAAAECBAgQIECAAAECBAj0nYCAdd9ZuxIBAgQIECBAgAABAgQIECBQX0DAusU7I88B608++SQOPfTQLICcXm27A7/88svtdlK+/PLLsx2QO3t1DHWmnauPOOKIpkLBHXdX7osdrDsGVnfbbbc4++yzY8iQIQ2n3THw25MB63TxG264IbbbbrtaHd0Jq9cr/tVXX43U3z333FP78VFHHRVjx46NWWaZpfa9mQ1Yp3sl7TD9wAMPZOfqqV232wpLOxOnHYdTzW2vjrtvdzW0jmH6egHr3u4h1VfUgHVe3tuTJk3KdjF/5JFH4pVXXokzzjijttt+V/N/7733Yv/996+FrNN7PN0/a6+9dsP3ugUECBAgQIAAAQIECBAgQIAAAQIECBAgkF8BAev8zkZlBAgQIECAAAECBAgQIECgKgIC1i1OOs8B69TaXXfdFdtuu222A/FCCy0Ut9xySxZi3HvvvbPOmwnMdgxhXnLJJbH77rs3JXfTTTdlAeC2HZD7ImDdcSap76uvvjo22GCDhjVPnDgxttlmm9pu3T0dsH733XezXaCvu+66Wi1bb711nHfeebHAAgs0rG/6BWlH7EMOOSTOOeec2rdb9e1YwJQpU7JrpMBr2+v000+PAw44oKmAfVsA9vnnn4955503Vl111Ug7pi+++OK1891///3xjW98o9u7ZNerrV7Aui96KEvAur/e2zfffHOk90Hb68ILL4zvfe97Tb0f0gc+jj766GytgHVTZBYRIECAAAECBAgQIECAAAECBAgQIEAg9wIC1rkfkQIJECBAgAABAgQIECBAgEDpBQSsWxxx3gPWb7/9dhZwvv3227NOTz755Pjzn/8cl112Wfb1YYcdFimgOP1uxx1JOgasU7j2lFNOiYEDB3ap98wzz8R3vvOdePjhh2vrOgtANrvD8jvvvJPttj1u3LjsnCmsnHboHjRoULta0i62acfutmB3MyHmjrvhphP2dMA6nfPee++NPfbYI9LOym2vkSNHxs9//vNYZpllmroj33rrrfjxj3/cLlydDuws/Nysb72LTx/STz8fNmxYpCDuhhtu2GWtaXfqq666Kgvzt80hhf0vuuiiGDp0aO3YersQn3vuubHzzjt3GeLuOON0wnoB6/T93u6hLAHr/npvv/jii9m8235XfPOb34wUsl5wwQW7vMc63jvrrrtuXHnlldk96kWAAAECBAgQIECAAAECBAgQIECAAAECxRUQsC7u7FROgAABAgQIECBAgAABAgTKIiBg3eIk8x6wTiHXFEA++OCDs06//OUvR9r5ePLkydlurzfeeGNssskmXSo8+uijseWWW9Z2dU7hxV/84hex2Wab1Q3AfvbZZ1mg9Yc//GFMmjRphnPfd999MWLEiHbfbzYA3GzAOvU4ZsyYuOCCC2rXSUHzFAyvF9pMHoceemi79enA3ghY1wsep2vNM8888f3vfz8LJCfjOv94GClQmmZ26qmnxpNPPtnO8Ac/+EHW3+DBg2cwb9a33o2Qjk27WJ911lm1Hy+99NJZDWnn6QEDBsxwWLoHfv3rX2f3QFuQPN1vKdg//U7FbQfefffdseuuu7a7x37605/GdtttN8P5k1/6wMA+++zTLqSeztVZwLq3e+ivgPX5558fo0ePrnuvNPNeyct7+9NPP42xY8fGCSecULuX0nvh+OOPjy984Qt1fz+lnclT/0cccUQtwJ9+z6VjGn34o8Vf+w4nQIAAAQIECBAgQIAAAQIECBAgQIAAgV4WELDuZWCnJ0CAAAECBAgQIECAAAECBBoKCFg3JOp6Qd4D1qn6jiHKto5SQDoFXuebb74um0xh5f322y9+9atf1dalsGzahXmnnXaKpZZaKgvBvvnmm/HII4/EtddeG7feemtt7ZJLLhl/+ctfal/3RcA6XazeDtopGJx2vU69zz///Flg+eabb852Ve4YWE7n6I2AdTpvCpSm4HvaPbxtd+fph5DqXGeddWo7Wqc1Dz30UEycOLHu+hQeT4HnzsKorQSsU10vvPBC7LnnnnH//fe3u1e23377LBi96qqrZruIJ8803473QDqoqwB48kj1p5D79K+0q3G6bppDuseeeuqpuPjii7OQeT23zgLWvd1DXwWs//CHP7TbOTy9D3fcccf4yle+ErPNNlv2fy+88MIZYTMB6zy9t9PviHQfT7/jfXofpF3wv/a1r8Wiiy6a9ZXusfQ7Le2iPv3vmXSPpB3Thw8f3uJvdYcTIECAAAECBAgQIECAAAECBAgQIECAQH8LCFj39wRcnwABAgQIECBAgAABAgQIEBCwbvEeKELAul6IMrWdAq1pl+d6OyV3ZKkXVm5El3ZkToHXVVZZJb797W/XdidOwcjdd9+93eHNBoCbCY1Of+IUxNx3333bhTa7qnuttdbKdtf+2c9+li3rrYB1Onfa5fmGG26II488Mp577rlGnHV/ngK2+++/fxZMTv93Z69mfbsqIgVgU9D+97//fbdrTTWmnYUb1Zh24P7xj3/c9PkPOOCAeOyxx2LChAnZMV0FrNPPe6uHvgpYp93Ad9lll3jggQfqGk3/4YVm3yt5eW+nhu69997sgxttu543eyOkHd9/+ctfxsYbb9zU77Nmz2sdAQIECBAgQIAAAQIECBAgQIAAAQIECPSPgIB1/7i7KgECBAgQIECAAAECBAgQIDBNQMC6xbuhCAHr1OIVV1yR7TTc9kq7Sl9//fWx4oorNi3w7LPPxg9/+MN2u8Z2dnDaefiwww6LFVZYIQtLTh8KTaHuk046Kdtxt+3VbAC42dDo9HX9/e9/jyOOOCILYHb1GjlyZJx88snZLsltVr0ZsG6r5a233orTTz89zj333Jg8eXLT89h2222zcHYKsDcKyTfr2+jiKax//vnnx3HHHddUrWkH4qOPPjq22267GDhwYKPTNx06T0HtsWPHZjs2jx49OsaNG5edu1HAOq3pjR76KmA9derUbJfmvffeu+4O3pdffnmMGjUqs+jOeyUP7+22m+Pxxx+Po446qqnfM+mY9D444YQTaru9N7zJLCBAgAABAgQIECBAgAABAgQIECBAgACB3AsIWOd+RAokQIAAAQIECBAgQIAAAQKlFxCwbnHERQlYv/jii5FCzw8//HDW8Z577hlnnXVWDB48uFsCU6ZMiQcffDBuvPHGbNfgtHtweqUdZFMYOe0gu80222Rft/3jVzrmkEMOiTPOOCNbO3z48LjuuutiueWWq1272QBwd0Kj0zeWgqnPP/983HTTTdkOzBMnTswCqikAvM4662QB8A022CALAU8fRu+LgHVbnSn4m8Kld999dzanF154od3O1muvvXYWIt10001jo402igUWWKBhsLrt3M36NnszvPfee1mo+be//W1MmjSpdh+k4PPKK68c6623XqTAetoRfNCgQc2etrYuWYwfPz77EEC639IO3+nca665ZnbenXbaKRZZZJEZQsTNBKzbLtKTPfRVwDrVnu7lJ554Inv/pvfg9LufT99/d98r/f3env4mSbu7P/3009nvmYceeij70EPbrtbT/67ZaqutYtFFF40BAwZ0+x5zAAECBAgQIECAAAECBAgQIECAAAECBAjkV0DAOr+zURkBAgQIECBAgAABAgQIEKiKgIB1VSatTwIECBAgQIAAAQIECBAgQIAAAQIECBAgQIAAAQIFEBCwLsCQlEiAAAECBAgQIECAAAECBEouIGBd8gFrjwABAgQIECBAgAABAgQIECBAgAABAgQIECBAgECRBASsizQttRIgQIAAAQIECBAgQIAAgXIKCFiXc666IkCAAAECBAgQIECAAAECBAgQIECAAAECBAgQIFBIAQHrQo5N0QQIECBAgAABAgQIECBAoFQCAtalGqdmCBAgQIAAAQIECBAgQIAAAQIECBAgQIAAAQIECBRbQMC62PNTPQECBAgQIECAAAECBAgQKIOAgHUZpqgHAgQIECBAgAABAgQIECBAgAABAgQIECBAgAABAiURELAuySC1QYAAAQIECBAgQIAAAQIECiwgYF3g4SmdAAECBAgQIECAAAECBAgQIECAAAECBAgQIECAQNkEBKzLNlH9ECBAgAABAgQIECBAgACB4gkIWBdvZiomQIAAAQIECBAgQIAAAQIECBAgQIAAAQIECBAgUFoBAevSjlZjBAgQIECAAAECBAgQIECgMAIC1oUZlUIJECBAgAABAgQIECBAgAABAgQIECBAgAABAgQIlF9AwLr8M9YhAQIECBAgQIAAAQIECBDIu4CAdd4npD4CBAgQIECAAAECBAgQIECAAAECBAgQIECAAAECFRIQsK7QsLVKgAABAgQIECBAgAABAgRyKiBgndPBKIsAAQIECBAgQIAAAQIECBAgQIAAAQIECBAgQIBAFQUErKs4dT0TIECAAAECBAgQIECAAIF8CQhY52seqiFAgAABAgQIECBAgAABAgQIECBAgAABAgQIECBQaQEB60qPX/MECBAgQIAAAQIECBAgQCAXAgLWuRiDIggQIECAAAECBAgQIECAAAECBAgQIECAAAECBAgQSAIC1u4DAgQIECBAgAABAgQIECBAoL8FBKz7ewKuT6AFgY033jjGjx9fO8M999wTG220UQtndCgBAgQIECBAgAABAgQIEPj/2LsTeBvrvf//nx8yJByEKAenJMkQiVCIDE3mkzkdY8Y2ZR5ChpzYGTMeQihTSOYpMyGVVHJwGoRwspPhoP//c517rbPX2mvtda29pmtd1+t6PM7jvrO+13d4fr6L7uO9PzcCCCCAAAIIIIAAAgjEVoCAdWz9WR0BBBBAAAEEEEAAAQQQQAABBEQIWHMLEIhjAQLWcVw8to4AAggggAACCCCAAAIIIIAAAggggAACCCCAAAI+BQhYczEQQAABBBBAAAEEEEAAAQQQQCDWAgSsY10B1kcgBAEC1iHg8SoCCCCAAAIIIIAAAggggAACCCCAAAIIIIAAAghYUoCAtSXLwqYQQAABBBBAAAEEEEAAAQQQcJQAAWtHlZvD2k2AgLXdKsp5EEAAAQQQQAABBBBAAAEEEEAAAQQQQAABBBBAgIA1dwABBBBAAAEEEEAAAQQQQAABBGItQMA61hVgfQRCECBgHQIeryKAAAIIIIAAAggggAACCCCAAAIIIIAAAggggIAlBQhYW7IsbAoBBBBAAAEEEEAAAQQQQAABRwkQsHZUuTms3QQIWNutopwHAQQQQAABBBBAAAEEEEAAAQQQQAABBBBAAAEECFhzBxBAAAEEEEAAAQQQQAABBBBAINYCBKxjXQHWRyAEAQLWIeDxKgIIIIAAAggggAACCCCAAAIIIIAAAggggAACCFhSgIC1JcvCphBAAAEEEEAAAQQQQAABBBBwlAABa0eVm8PaTYCAtd0qynkQQAABBBBAAAEEEEAAAQQQQAABBBBAAAEEEECAgDV3AAEEEEAAAQQQQAABBBBAAAEEYi1AwDrWFWB9BEIQIGAdAh6vIoAAAggggAACCCCAAAIIIIAAAggggAACCCCAgCUFCFhbsixsCgEEEEAAAQQQQAABBBBAAAFHCRCwdlS5OazdBAhY262inAcBBBBAAAEEEEAAAQQQQAABBBBAAAEEEEAAAQQIWHMHEEAAAQQQQAABBBBAAAEEEEAg1gIErGNdAdZHIAQBAtYh4PEqAggggAACCCCAAAIIIIAAAggggAACCCCAAAIIWFKAgLUly8KmEEAAAQQQQAABBBBAAAEEEHCUAAFrR5Wbw9pNgIC13SrKeRBAAAEEEEAAAQQQQAABBBBAAAEEEEAAAQQQQICANXcAAQQQQAABBBBAAAEEEEAAAQRiLUDAOtYVYH0EQhAgYB0CHq8igAACCCCAAAIIIIAAAggggAACCCCAAAIIIICAJQUIWFuyLGwKAQQQQAABBBBAAAEEEEAAAUcJELB2VLk5rN0ECFjbraKcBwEEEEAAAQQQQAABBBBAAAEEEEAAAQQQQAABBAhYcwcQQAABBBBAAAEEEEAAAQQQQCDWAgSsY10B1kcgBAEC1iHg8SoCCCCAAAIIIIAAAggggAACCCCAAAIIIIAAAghYUoCAtSXLwqYQQAABBBBAAAEEEEAAAQQQcJQAAWtHlZvD2k2AgLXdKsp5EEAAAQQQQAABBBBAAAEEEEAAAQQQQAABBBBAgIA1dwABBBBAAAEEEEAAAQQQQAABBGItQMA61hVgfQRCECBgHQIeryKAAAIIIIAAAggggAACCCCAAAIIIIAAAggggIAlBQhYW7IsbAoBBBBAAAEEEEAAAQQQQAABRwkQsHZUuTms3QQIWNutopwHAQQQQAABBBBAAAEEEEAAAQQQQAABBBBAAAEECFhzBxBAAAEEEEAAAQQQQAABBBBAINYCBKxjXQHWRyAEAQLWIeDxKgIIIIAAAggggAACCCCAAAIIIIAAAggggAACCFhSgIC1JcvCphBAAAEEEEAAAQQQQAABBBBwlAABa0eVm8PaTYCAtd0qynkQQAABBBBAAAEEEEAAAQQQQAABBBBAAAEEEECAgDV3AAEEEEAAAQQQQAABBBBAAAEEYi1AwDrWFWB9BEIQIGAdAh6vIoAAAggggAACCCCAAAIIIIAAAggggAACCCCAgCUFCFhbsixsCgEEEEAAAQQQQAABBBBAAAFHCRCwdlS5OazdBAhY262inAcBBBBAAAEEEEAAAQQQQAABBBBAAAEEEEAAAQQIWHMHEEAAAQQQQAABBBBAAAEEEEAg1gIErGNdAdZHIAQBAtYh4PEqAggggAACCCCAAAIIIIAAAggggAACCCCAAAIIWFKAgLUly8KmEEAAAQQQQAABBBBAAAEEEHCUAAFrR5Wbw9pNgIC13SrKeRBAAAEEEEAAAQQQQAABBBBAAAEEEEAAAQQQQICANXcAAQQQQAABBBBAAAEEEEAAAQRiLUDAOtYVYH0EQhAgYB0CHq8igAACCCCAAAIIIIAAAggggAACCCCAAAIIIICAJQUIWFuyLGwKAQQQQAABBBBAAAEEEEAAAUcJELB2VLk5rN0ECFjbraKcBwEEEEAAAQQQQAABBBBAAAEEEEAAAQQQQAABBAhYcwcQQAABBBBAAAEEEEAAAQQQQCDWAgSsY10B1kcgBAEC1iHg8SoCCCCAAAIIIIAAAggggAACCCCAAAIIIIAAAghYUoCAtSXLwqYQQAABBBBAAAEEEEAAAQQQcJQAAWtHlZvD2k2AgLXdKsp5EEAAAQQQQAABBBBAAAEEEEAAAQQQQAABBBBAgIA1dwABBBBAAAEEEEAAAQQQQAABBGItQMA61hVgfQRCECBgHQIeryKAAAIIIIAAAggggAACCCCAAAIIIIAAAggggIAlBQhYW7IsbAoBBBBAAAEEEEAAAQQQQAABRwkQsHZUuTms3QQIWNutopwHAQQQQAABBBBAAAEEEEAAAQQQQAABBBBAAAEECFhzBxBAAAEEEEAAAQQQQAABBBBAINYCBKxjXQHWRyAEAQLWIeDxKgIIIIAAAggggAACCCCAAAIIIIAAAggggAACCFhSgIC1JcvCphBAAAEEEEAAAQQQQAABBBBwlAABa0eVm8PaTYCAtd0qynkQQAABBBBAAAEEEEAAAQQQQAABBBBAAAEEEECAgDV3AAEEEEAAAQQQQAABBBBAAAEEYi1AwDrWFWB9BEIQIGAdAh6vIoAAAhESuPz9Gkk69aEknVxurJCtcAPJVqi+ZC1YN0IrMi0CCCCAAAIIIIAAAggggAACCCCAAAL2EiBgba96choEEEAAAQQQQAABBBBAAAEE4lGAgHU8Vo09I/B/AgSsuQoIIICANQSSh6pvXj3nc1PpM+chbG2NcrELBBBAAAEEEEAAAQQQQAABBBBAAAGLCxCwtniB2B4CCCCAAAIIIIAAAggggAACDhAgYO2AInNE+woQsLZvbTkZAghYX8BMqNrfKQhbW7++7BABBBBAAAEEEEAAAQQQQAABBBBAIHYCBKxjZ8/KCCCAAAIIIIAAAggggAACCCDwXwEC1twEBOJYgIB1HBePrSOAQFwKhBKq9ndgwtZxeRXYNAIIIIAAAggggAACCCCAAAIIIIBABAUIWEcQl6kRQAABBBBAAAEEEEAAAQQQQMCUAAFrU0wMQsCaAgSsrVkXdoUAAvYSCDZUnT7jnyTbXdXljnzVDIjfzmyVpJ+3yM3r/w4IQ9g6IBEDEEAAAQQQQAABBBBAAAEEEEAAAQQcIEDA2gFF5ogIIIAAAggggAACCCCAAAIIWFyAgLXFC8T2EEhNgIA19wMBBBCIjEAooeo78lb2uanfzu4kbB2ZcjErAggggAACCCCAAAIIIIAAAggggIDNBAhY26ygHAcBBBBAAAEEEEAAAQQQQACBOBQgYB2HRWPLCLgECFhzFxBAAIHwCUQiVO1vd4Stw1c3ZkIAAQQQQAABBBBAAAEEEEAAAQQQsJ8AAWv71ZQTIYAAAggggAACCCCAAAIIIBBvAgSs461i7BeBZAIErLkOCCCAQGgC0QxV+9spYevQasjbCCCAAAIIIIAAAggggAACCCCAAAL2EyBgbb+aciIEEEAAAQQQQAABBBBAAAEE4k2AgHW8VYz9IpBMgIA11wEBBBAIXsAKoWp/uyZsHXw9eQMBBBBAAAEEEEAAAQQQQAABBBBAwH4CBKztV1NOhAACCCCAAAIIIIAAAggggEC8CRCwjreKsV8EkgkQsOY6IIAAAuYErByq9ncCwtbmassoBBBAAAEEEEAAAQQQQAABBBBAAAH7CRCwtl9NORECCCCAAAIIIIAAAggggAAC8SZAwDreKsZ+EUgmQMCa64AAAgj4F4jHULW/0xC25qYjgAACCCCAAAIIIIAAAggggAACCDhJgIC1k6rNWRFAAAEEEEAAAQQQQAABBBCwpgABa2vWhV0hYEqAgLUpJgYhgICDBOwUqvZXNsLWDrrQHBUBBBix+ZAAACAASURBVBBAAAEEEEAAAQQQQAABBBBwqAABa4cWnmMjgAACCCCAAAIIIIAAAgggYCEBAtYWKgZbQSBYAQLWwYoxHgEE7CjghFC1v7oRtrbjjeZMCCCAAAIIIIAAAggggAACCCCAAAIErLkDCCCAAAIIIIAAAggggAACCCAQawEC1rGuAOsjEIIAAesQ8HgVAQTiWsDJoWp/hSNsHddXms0jgAACCCCAAAIIIIAAAggggAACCCQTIGDNdUAAAQQQQAABBBBAAAEEEEAAgVgLELCOdQVYH4EQBAhYh4DHqwggEHcChKrNl4ywtXkrRiKAAAIIIIAAAggggAACCCCAAAIIWE+AgLX1asKOEEAAAQQQQAABBBBAAAEEEHCaAAFrp1Wc89pKgIC1rcrJYRBAwIcAoerQrwVh69ANmQEBBBBAAAEEEEAAAQQQQAABBBBAILoCBKyj681qCCCAAAIIIIAAAggggAACCCCQUoCANbcCgTgWIGAdx8Vj6wgg4FeAUHXkLgdh68jZMjMCCCCAAAIIIIAAAggggAACCCCAQPgECFiHz5KZEEAAAQQQQAABBBBAAAEEEEAgbQIErNPmxlsIWEKAgLUlysAmEEAgDAKEqsOAGOQUhK2DBGM4AggggAACCCCAAAIIIIAAAggggEDUBAhYR42ahRBAAAEEEEAAAQQQQAABBBBAwI8AAWuuBgJxLEDAOo6Lx9YRQEAIVVvnElw+u1OSzmyVpJ+3yM3r/w64sfSZ80i2wg0kW6H6krVg3YDjGYAAAggggAACCCCAAAIIIIAAAggggEAwAgSsg9FiLAIIIIAAAggggAACCCCAAAIIREKAgHUkVJkTgSgJELCOEjTLIIBA2AQIVYeNMmIT0dk6YrRMjAACCCCAAAIIIIAAAggggAACCCBgUoCAtUkohiGAAAIIIIAAAggggAACCCCAQMQECFhHjJaJEYi8AAHryBuzAgIIhC5AqDp0w1jNQGfrWMmzrt0E9u3bJ/Xr15fTp08bRytevLgsXrxYSpQoEZajnjp1Spo3by67du0y5qtQoYIsXLhQihQpEpb5fU2yc+dOqVKlivuj+fPnS4sWLVIM/eabb+SFF16Qw4cPG58NGzZMBg0aFLZ9nT9/3lh33bp1xpwdO3aUxMREyZIlS9jW8DfRlStX5ODBg7J582bZs2ePHDlyRLQW+uTKlUvKly8vFStWlGrVqhk1icaeIn7oEBd47733pGXLlu5ZduzYIZUrVw5xVnu8Hunvilklq+zD7H4ZhwACCCCAAAIIIGBfAQLW9q0tJ0MAAQQQQAABBBBAAAEEEEAgXgQIWMdLpdgnAj4ECFhzLRBAwKoCaQ1VZ8tXTbLmJWhlxbrS2dqKVWFP8SKQlJQkXbp0kXnz5rm3PHXqVCMMHI5n2bJl0qhRI/dUCQkJMnr0aMmYMWM4pvc5h5MD1v/6179kypQpMmPGDLlw4YIp42LFikm3bt2kTZs2kjVrVlPv2HGQUwPW586dkwULFkjr1q0lZ86cPktrlWCzVfZhx/vPmRBAAAEEEEAAAQSCEyBgHZwXoxFAAAEEEEAAAQQQQAABBBBAIPwCBKzDb8qMCERNgIB11KhZCAEETAgQqjaBZJMhdLa2SSE5RlQFZs2aJe3atXOv2apVK5k8ebJky5YtpH1oF2UNVE+bNs2YR+dbvny51KhRI6R5A73sxIC1Wmsw/o033jAdrPZ21G7NEyZMkLJlywYituXnTgtYX7t2TZYuXWp0bi9cuLDo+XPnzu2ztlYJNltlH7b8AnAoBBBAAAEEEEAAgaAECFgHxcVgBBBAAAEEEEAAAQQQQAABBBCIgAAB6wigMiUC0RIgYB0tadZBAAF/AoSquRuErbkDCJgTOHHihDRr1kz27t1rvJA/f35ZtWqVlCtXztwEfkYdOXJEmjRpIkePHjVGNGjQQDTM7a9LbkiLJXvZaQFr7UDcq1cvjy7kLo5cuXJJ+fLl5ZFHHnEH5rXL9e7du+XQoUMpyLWb9fTp0+WJJ54IVzniZh4nBayvXr0qffv2lfHjxxv1qV27NgHruLmpbBQBBBBAAAEEEEDACgIErK1QBfaAAAIIIIAAAggggAACCCCAgLMFCFg7u/6cPs4FCFjHeQHZPgJxKkCoOk4LF4VtE7aOAjJLxK3A9evXjbBlYmKi+wxjx441uk/7+Etj0+f07owdjjnNLG42YG1mrlDGnD9/Xlq0aCHr1q0zpunYsaNhnCVLllCm9Xj3zJkz0q1bN1m8eLHHr2tgtkePHlKtWjWf6/3xxx/y008/ycSJE2XKlCmSlJTkfr9ChQoye/ZsKV68eNj2GQ8TOSlg7d1dPlDA2ir1o4O1VSrBPhBAAAEEEEAAAQQIWHMHEEAAAQQQQAABBBBAAAEEEEAg1gIErGNdAdZHIAQBAtYh4PEqAggEJUCoOiguBosIYWuuAQIpBTZt2mR0mHYFbUPtNv3rr79Ku3btZMmSJcZiGtbVEHCJEiUizu+UgLWGZHv37i2TJk1ym2bLlk1GjBghHTp0kEyZMgW01qD1tm3bpFOnTqLhVdejncenTZsW8W7jATcYxQEErN+T3LlzR1E8+KUIWAdvxhsIIIAAAggggAACkREgYB0ZV2ZFAAEEEEAAAQQQQAABBBBAAAHzAgSszVsxEgHLCRCwtlxJ2BACthIgVG2rcsb0MIStY8rP4hYS+OWXX6RVq1aydu1aY1ca1F2zZo1Urlw5Tbvct2+f1K9fX06fPm28H4nuzf425pSA9YoVK4yauULxWrOpU6dKs2bNgu48vnnzZmnZsqW7Xmo7f/58owO3Ux4C1gSsnXLXOScCCCCAAAIIIIBA6AIErEM3ZAYEEEAAAQQQQAABBBBAAAEEEAhNgIB1aH68jUBMBQhYx5SfxRGwpQChaluW1VKHImxtqXKwmSgLaCfjxMRE6dWrl3vl4cOHy4ABA4IO6/qaa+nSpdKwYcOonMoJAeuzZ89K+/btZeXKlW7T0aNHG/XLkCFD0M43btyQIUOGyMiRI93vhtrFPOhNxPgFAtYErGN8BVkeAQQQQAABBBBAII4ECFjHUbHYKgIIIIAAAggggAACCCCAAAI2FSBgbdPCcixnCBCwdkadOSUCkRYgVB1pYeb3J0DYmrvhRIHPP/9cGjduLMeOHTOOX7NmTZk7d67kz58/KA7tWt26dWvZuHFjSPMEtWiywU4IWC9btkwaNWrkPrX+u/e8efPk7rvvTiubHDlyRJo0aSJHjx415gi1i3maNxKjFwlYE7CO0dVjWQQQQAABBBBAAIE4FCBgHYdFY8sIIIAAAggggAACCCCAAAII2EyAgLXNCspxnCVAwNpZ9ea0CIRTgFB1ODWZKxwChK3Docgc8SBw+fJl6dq1q8yZM8fYrgZsly9fLjVq1Ahq+5s2bRLtfpyUlGS8N2jQIKM7cvr06X3Oo92TDx06JGvXrpU9e/YYQd9Tp06591CmTBkpWbKk1KtXTx5//HHJkiVLqvsxG7D+5ptv5IUXXpDDhw8b8w0bNszYa6Dn0qVL8vHHHxs2e/fuNfaaK1cuqVSpkjz33HNSv359yZs3r5w/f15atGgh69atM6bs2LGj0SU80P4Dre9dJx0/duxYSUhICLrbePK1rl27JgMHDpRz585JrVq1jPPcc889KTpie7vt2LFDKleuLCdPnpQJEyaIhr/V5OGHH5ZnnnnGMH7wwQclXbp0KY6m3c517IcffihbtmwxauGqfcWKFaVs2bKm6+7L7datW/LVV1/J+++/bwT+9X7po3vTu/TXv/5VKlSoYJwxrQHrcJ/Bn6/uW++U3qcVK1a4755+Tx999FGjZnqeQoUK+b0H2pV+8ODBga5Yirua1u9KuL/badnHlStXZPv27YbZwYMH3XdAv7OlS5cWvWd6T133ICAOAxBAAAEEEEAAAQQQEPH179zx8Hea1A4BBBBAAAEEEEAAAQQQQAABBGwkEA//ZcQfyb31L1Z5EEDgvwIErLkJCCAQjACh6mC0GBtLAcLWsdRn7WgIeHdG7tevn2go01842ntPN2/eNELKo0aNMj7S7tcantUAqPejgV5dT8d+8cUXpo5XrFgxI6ytnZY1FOvriVTAWve7dOlSI4itQU9/jwY3x40bJ3Xq1JEXX3wx7AFr75CpGq9atUrKlStnyjDUQb4CwFr3Dh06+HTx1wn9+++/NwLd2iU90GOm7t5zaOBb70qg+fWHATT4rkHxli1buqdxBcdT21skzuDLV8O/GgDv2bOnXLhwwe+WNGzduXNn6d27txH6936iFbCO1Hc7mIC1hrsXL14sQ4cOTfX76jIqX768jBw5Up588kmfPwwQ6I7yOQIIIIAAAggggICzBOhg7ax6c1oEEEAAAQQQQAABBBBAAAEErChAwNqKVWFPCJgUIGBtEophCDhYgFC1g4tvk6MTtrZJITmGh4B2D27evLns2rXL+PVq1aoZwc4CBQqYkjpx4oQ0a9bM6K6rT5s2bWTSpEmSNWtWj/e1C/OAAQNk/PjxpuZNPkhDpFOnTjXW8fGX2hKJgHVa9tu9e3ejM7d2z9UnXB2sN2zYYHQrdj0a5J43b57ceeedQVum5QXvkOs777xjdD131dx7Tu/u2vqDydu2bZNOnTqZCr4mn69Hjx4yYsSIFPfJe81PPvnEb+Db15k1wKxduDUY73pSC1hH8gzevlu3bjW6Lvft29d0ubRz+sSJEyVnzpwe70QjYJ2W74prk4G+22YD1hqu1tC8ntfVSd8Mnq6vPyCi3eD9/QCHmXkYgwACCCCAAAIIIGB/AQLW9q8xJ0QAAQQQQAABBBBAAAEEEEDA6gIErK1eIfaHQCoCBKy5Hggg4EuAUDX3wq4ChK3tWlnnnUs7EWvHVw0mup4VK1bI888/bwrDuwP2zJkzpW3bth7vavhRQ7fJA6PabVcDt0899ZQUL17cCDfeunVLjh8/boRxZ8+e7RHG1THanbZEiRIp9hXugLWv/eqiGvDWrs2uPRw5csTY5/Lly32GOsMVsJ42bZph5Xo0DDp69GjJmDGjqRqFOsg75Oqar1ChQkYwtVGjRnLbbbfJ4cOHje7lGorWDtSuR+upnb01zO96tHvwSy+9ZAT68+bNK2p+9OhR430Njyfv2qwdmseMGeM3ZK3v6VzJA9+6vvrXr19fsmfPLpcuXZKVK1fKrFmz/HZPTy1gHckzePtqV239DmpQWM+hZ9Ou4IULF5YrV67I/v37Re/EunXrPErr67v322+/iXaXvnr1qhEk1vuqT40aNYwfWnAFsvX7p06u0EgwweZIfrfN7mP9+vXSuHFj9/dQ76b+PqS/v9x7771Gh2p/djpWf6hEA/c8CCCAAAIIIIAAAgj4EyBgzd1AAAEEEEAAAQQQQAABBBBAAIFYCxCwjnUFWB+BEAQIWIeAx6sI2EyAULXNCspxAgoQtg5IxACLC2hAuW7duu5wonZi1kBrpkyZUt25BhY1YKthT320K/DChQulSJEiHu99+umnRvjRFbDVcRoGfeihh/zOf+7cOaPj9YwZM9xjNBCqoVnvJ9wBa+2G3LRpUzl9+rSxlAYwJ0+ebBhpUDP5o52NNej6yiuvpOjOHK6AtXcX4pEjR0q/fv2idqt8BazV5N1335WqVaumuo8ff/xRWrVqJVu2bDHGacdg7UitQXV/9+uf//yn6B1cvXq1+53p06cbNfF+vO+gft6+fXtjjTx58qQYr8FtDRpPmTIlxWf+AtaRPoO/ALsGy19//XWf59DQtHbf7t+/v/scDRo0MALk3l2sdYC3U+3atY1Qce7cuX3Wz2ywOdLfbTP78PX7UGq/v/iyi/YPLUTty8tCCCCAAAIIIIAAAmETIGAdNkomQgABBBBAAAEEEEAAAQQQQACBNAoQsE4jHK8hYAUBAtZWqAJ7QCB2AoSqY2fPytYSIGxtrXqwG3MCFy9eNLq9aidmffwFpb1n0w7OTZo0MToP66OhXw0Dp0+f3j3Uu0O2Bmy1Q3G9evUCbm7fvn1GB2JX0NlfCDKcAevLly9L165dZc6cOcb+dL8a7Nbu1T7+Qt19Bl8djsMRsPYVIJ4/f760aNEioF+4BvgKAGvXYq1HaiYaPk9MTJRevXq5t6KuGrj2Dqp77/Xnn3+Wdu3auUPW2sF57ty5kj9/fo+hmzZtEg0Wa7dnffReaeA/X758fo+vNe7du3eKkLWvgHU0zuDLt3Xr1jJx4kSjq7S/5+zZs0aYXDtz61O0aFFZsmSJlCpVKsUrkQhYR+O7bSZgrT+40bx5c9m1a5dxbv09SH84I7W76f17nnZS18B5gQIFwvW1YR4EEEAAAQQQQAABmwkQsLZZQTkOAggggAACCCCAAAIIIIAAAnEoQMA6DovGlhFwCRCw5i4g4DwBQtXOqzknDk6AsHVwXoyOrYB2vtVAq+tZunSpNGzYMNVNaZC1U6dOxhgNImtAu0aNGh7v/PLLL0agdu3atcavp9Zl13sx7WKtwcmNGzcaH/kLLIczYP35558b3baPHTtmrGkm6Krjbty4IUOGDBHtLu167Bqw1pDzqlWrpFy5cqneDw3Gq5+rfhrG1zvjq8Oyr4mWLVsmjRo1cn+0YsUKef75593/rAFf7UY9atQo9x3UgHGtWrUCfpm0ztoR2/XDAfqCr4B1pM+g63qHiP19l7wPpeFv7dStBq7HXxfuSASso/HdNhOw9h5jJmCtXuPHjxf9fe7ee++V0qVLG/fhrrvuCnh3GIAAAggggAACCCDgTAEC1s6sO6dGAAEEEEAAAQQQQAABBBBAwEoCBKytVA32gkCQAgSsgwRjOAJxKkCoOk4Lx7ZjLkDYOuYlYAMBBLy7UQcKB//6669GIFsDrfr4C05rJ+JFixbJ4cOH5fjx41K7dm3p379/qt1lXVs9f/680al53bp1xi9FI2CtXWxbtmzp1gqmW7QGvevWrevuphzI0MyltGIHa+0mvWDBAsmTJ0+qR9iwYYNH2Fk7gauJ2cc7OOvdId074FunTh2jO/qdd94ZcAlfrr7CyZE+g27U+5zBdFP2vq/r16+Xp556KsX5IxGwjsZ320zA+qeffjJ+n9i6datxbu3Ar92/H3nkEVO/zwS8LAxAAAEEEEAAAQQQQEDE179bxsPfaVI7BBBAAAEEEEAAAQQQQAABBBCwkUA8/JcRfyT31o5RPAgg8F8BAtbcBATsK0Co2r615WSxESBsHRt3Vk1d4Nq1a9K7d2+ZMGGCMbB48eKyePFiKVGihM8X9+3bJ/Xr1xft8KvPuHHjJCEhIWTm3377Tb777jvZvXu30V1206ZN7jkjHbD27ohctGhRI0BeqlQpU+fyDnqGI2DtvSfdSDChb1MbDzDIO+SqwXrt/nv77ben+mZiYqL07NnTPWbNmjVSvnx501u6ePGi0SHddQe0s/jMmTMlR44cxhze3ca9A9iBFkregV3H+gpYR/oMuq63r3Z8nzx5stEVPtBj9gcCIhGwDrQ378/T8t02E7D2/r1L11W7Z5991gheV6xYUXLlykXYOtiCMR4BBBBAAAEEEEDAQ4AO1lwIBBBAAAEEEEAAAQQQQAABBBCItQAB61hXgPURCEGAgHUIeLyKgAUFCFVbsChsyZYChK1tWda4PdTKlSulXr167v1rmLVt27YpzqM/aDpixAgZNGiQ8VmgMLb3BLdu3RLtTv3tt9/K119/LSdOnJBDhw6JdtE+deqUX79IB6x///136dGjhxHi1adSpUpGp+ZChQqZqqn3++EIWOvCw4cPl8GDB7v3MGzYMLe9qY2FOMg75KpB+tGjR0vGjBn9znz9+nXp27evaEA5XI93Z+dPPvlEqlat6p4+2JC/9/veAetonEE37+0bzL2xWsA63N9tMwFrNfz0009FA/j+fv94+OGHRTuc16pVywj5Z82aNVzXknkQQAABBBBAAAEEHCJAwNohheaYCCCAAAIIIIAAAggggAACCFhYgIC1hYvD1hAIJEDAOpAQnyNgfQFC1davETu0twBha3vXNx5Op92oW7duLRs3bjS226ZNG5k0aVKKMKL3uO7du8uYMWMkU6ZMqR5T35s9e7ZMnz491SC1v0kiHbDW0Ld2vF23bp2xhdq1a4sGWHPnzm2qfFevXpVevXrJlClTjPHBBGVTW8A7RNu5c2cZO3asZM6c2dS+Qh1kNuSafB3vjsmh7kHfL126tLz//vtSrFgxYzqz4WJ/a+/Zs8cI3CYlJRlDvAPW0TiDrmuHgHWkvttm757+0Mfy5cuNjump/ZCGemt36xo1akiTJk2kZs2akjdv3nBcT+ZAAAEEEEAAAQQQsLkAAWubF5jjIYAAAggggAACCCCAAAIIIBAHAgSs46BIbBEBfwIErLkbCMSnAKHq+Kwbu7a/AGFr+9fYiif07kxdtGhRWbJkiZQqVcpjuxs2bDCCqa5n6dKl0rBhQ79H0q62Oua1114LGH7USVzdZitWrCgTJkyQTZs2GXNbPWCte0zebTpcAWvvILB24p03b57ceeedUblGZkOuyTcTjXByqAFr73MRsP5fBc3WPNLfbbP7cO385MmT8vbbbxvfjwsXLgT8fuTKlUu6dOli/N6kwWseBBBAAAEEEEAAAQT8CRCw5m4ggAACCCCAAAIIIIAAAggggECsBQhYx7oCrI9ACAIErEPA41UEoixAqDrK4CyHQIgChK1DBOT1oAT27dsn9evXF+1Iq8+4ceMkISHBPcf169elb9++kpiYaPyadoCdO3eu5M+f3+c6GtpeuHChdOrUyd0p2DVQOxFrmFr/U6JECfnLX/4iBQsWlDvuuMMY4t1R2uoB65s3b8qgQYNk1KhRxv7DFbD+6aefjM7aW7duNeZV61WrVkm5cuWCqq2vwQcOHJAhQ4YYdXz88celZMmSkjFjRo+hwYZc9WXvgLV39+mQNx6GDtaff/65NG7cWI4dO2ZsJ1DAOhJn0HXjtYN1NL7babl7anr58mXZv3+/LFu2TFauXBnwBzu0K7x24c+aNWs4riZzIIAAAggggAACCNhQgIC1DYvKkRBAAAEEEEAAAQQQQAABBBCIMwEC1nFWMLaLQHIBAtbcBwSsLUCo2tr1YXcImBUgbG1WinFpFdBgYteuXWXOnDnGFA0aNJBZs2ZJzpw5jX8+ceKENGvWTPbu3Wv8s3ZsHjBggPj4y2bjc++ApP5ahw4dpE+fPlK4cGFJly6d362eO3dOmjdvLhs3bjTGRDpg/fvvv0uPHj1k5syZxnqVKlWSBQsWSKFChUxxeoeKwxWw9g5u62bGjh1rBN/9uZva8P8f1p42bZoRfnc9rVq1ksmTJ3t0801LyPXq1avSq1cvmTJlijF1OEPhrr1+8sknUrVqVffevX8YIJDBzp07pUqVKu5h3gHraJzB13ckmHtjtou3992sXbu26Lu5c+f2yWSm5tH4bpvZR6A6a5ftn3/+WT799FMjcK0/qHDq1KkUr2nn6+7du4f8nQq0Hz5HAAEEEEAAAQQQiE8BAtbxWTd2jQACCCCAAAIIIIAAAggggICdBAhY26manMVxAgSsHVdyDhwHAsGHqnNKtruqSbZ81SRr3spxcEK2iICzBf4Xtt4qN69fDIiRPnMeyVa4gWQrVF+yFqwbcDwDnCuggep27doZABqM/fDDD+XRRx81/jl5oNP7M19i2um6Z8+e7o+C6RRrtrOvd1B2/vz5Rsdn7ydQWNM7yBxsKPjixYuiAeXVq1cbSwcTlA102zZt2mSE3ZOSkoyh+u/e8+bNk7vvvjvQq34/P3v2rLRv397o8Ot6pk6dauw7+RPIzd8C2sm7f//+7o/91SWtB/DuQK2B89GjR6fowO1v/vfff1+aNm3q/tg7YK0fRPoMuobZe+7rHLEMWEfju53Wu5fanbpx44bs3r3b6Fj90UcfuYdqN3P94YocOXKk9UryHgIIIIAAAggggICNBQhY27i4HA0BBBBAAAEEEEAAAQQQQACBOBEgYB0nhWKbCPgSIGDNvUDAGgKEqq1RB3aBQLQFCFtHW9ze63l3qXZ1S9YOz8m7W7dp00YmTZokWbNm9Qni3TU3W7ZssmbNGqlc2dwP8WzYsEFq1arlnjvSHax1Ie/Aqq/Asb/qewd+wxmw1vB227ZtZfny5e7lNUysXaIzZMgQ9IX8448/jDCpdhN3PcWLF5fFixdLiRIlPOZLa8hVg9v16tVzz6XdgTXUmilTpqD36+uFX375xQi0r1271vi4WrVqRv0KFCgQcH5fXcF9BawjfQbdaDwGrKP13Q5097SOGpbWbub79+8X3Zd2ZTfTdf7HH3807s+WLVuM+1KuXDlZtGiR3HfffQHvDwMQQAABBBBAAAEEnCdAwNp5NefECCCAAAIIIIAAAggggAACCFhNgIC11SrCfhAIQoCAdRBYDEUgzAKEqsMMynQIxLkAYes4L6AFtn/9+nXp27evaIdafbRzsna1/umnn6RJkyZy9OhR49c1oKuhX3+PdwizZMmS8sEHH8gDDzwQ8JTXrl2TAQMGiIa7XU80Atbegc7nn39eZsyYIXnz5k11zxpYVi8NPAfab8DD+xmwYsUKIxDq6mKtgXUNgDdr1kx8/GV/qsts27ZNXnzxRTl16pR73MiRI6V3796SPn16j3cDhVz9LeQd1NfQ65IlS+SRRx4xRaCB9datW0uuXLkkX758UrVqVeP8rkC/mo8YMUIGDRrkns9sl2zvvekEvgLWkT6DrmuHgHWkvttm7l7yTtr6ndAfQqhRo0bAO+b9+xMB64BkDEAAAQQQQAABBBwtQMDa0eXn8AgggAACCCCAAAIIIIAAAghYQoCAtSXKwCYQSJsAAeu0ufEWAmkVIFSdVjneQ8BZAoStnVXvcJ5206ZNRrBaw7z58+eXVatWyddffy0tW7Y0lqlQoYIszpiPjwAAIABJREFUXLhQihQp4ndZ7wCjDly6dKk0bNgw1a1qcFbn7tSpkztMrC8888wzMm/ePMmZM6fH+zt37pQqVaq4f81fyNZMWPPGjRsyZMgQ0bCx6zHTKVrDwE2bNnWHz/XdcHaw1vkuX75sBKCnTJni3psGSjVkrJ2ozXSGvnXrltFFXIPg6uF6tKu4uhUuXDhFbcy4+SqodhceOnSoDB8+3P2xdrTWDsMamE7t8XVWVyf15MEGb3e9l7Nnzxbtxu3v8VVjHesrYB2NM9ghYB2p77aZu7dv3z6pX7++nD592ih5+/btjR928NdZ33UvvDtYN27c2PihkRw5coTzt1LmQgABBBBAAAEEELCJAAFrmxSSYyCAAAIIIIAAAggggAACCCAQxwIErOO4eGwdAQLW3AEEIi9AqDryxqyAgJ0FCFvbubrhP9vFixeN7tTaDVafYcOGiQYSNRyrT79+/YzgrHe3Y++dJO8uq59pSHry5Mmi3Yx9PRqsfeedd4z1XJ2aXeNq164t7733nuTOndvj1XAGrHVi7dCtXaEPHz5srBMoxHzgwAHp0qWL7N2712Nf4Q5Y6+RnzpwxgtvazTr58/jjj0ufPn3kySeflCxZsqSg1WD1V199JePGjTO6SCe31Vq8++67RodoX4+ZkKu/G3js2DGj63RyGw3uv/XWW/KXv/zF52u6Nw24a7Dd9fgLgGtYWscl72Jdq1YtGT9+vM9O6Rr6HzNmjLz++usp1vYVsNZBkT5DLALWGkBftGiRlCpVKs01j8Z328zdu3TpknTr1k3mzp3rPov+kMRrr73mN2Tt6469/fbb0r1796C7wYf/d19mRAABBBBAAAEEELCiAAFrK1aFPSGAAAIIIIAAAggggAACCCDgLAEC1s6qN6e1mQABa5sVlONYRoBQtWVKwUYQsJUAYWtblTMih9Eu0hqg1E7H+hQrVkw0yKhdYjVwrMHrGjVqBFz7yJEj0qRJE4/OzjqXhoTr1KkjefPmFQ3/Hj9+XD755BOji/IXX3xhzJsrVy4jIPn9998b/xytgLW/Dtq6vu67fPnyRohZ97xgwQKjq/aFCxdSWEQiYK2LaOhUw+8aLPd+tDaPPvqoVKxY0aiTPtp5fPfu3R4dq13vabhaQ9caevYRGDCGmQm5pnYRFi9ebHQjT26ktdVfe/rpp+X++++XdOnSycmTJ0U7pye/AzqvnmPq1KlG6N3XHn2FznX+Hj16GIF+7cqtweotW7bIjBkzZPv27T636y9grYMjeYZoBKz1Tms3cf2P69HvYaNGjSR79uxy9913G99TVxd0MzWPxnfbzD70PPpdaNGihZw6dcp9Pv2evvTSS1KtWjXj9xl9zp49K9rxetasWR73QO+Jdq++6667Av6exgAEEEAAAQQQQAABZwoQsHZm3Tk1AggggAACCCCAAAIIIIAAAlYSIGBtpWqwFwSCFCBgHSQYwxFIRYBQNdcDAQSiKUDYOpra8bWWrwClnkDDuBpQzJkzZ8AD+QsrB3pRw5HaUVY7H/fs2dMYXrJkSfnggw9SdCYOdwdrXUs7I2tX54SEhBSdtP3tvWXLlnLt2jUjjKtPpALWOvfPP/8sAwYMkH/84x+BKP1+7jJ+7LHHUu3aazbk6m8hvQMayNc6Jg/Amtm4BqUnTpwoTZs2NULY/h6dV7uIr1692sy0Rgd17az9xhtvuMenFrCO5BmiEbDWQ65cuVLq1avn08f7hxfM1Dwa320z+9ADpXUv+m6FChWMcPVDDz1k6u4wCAEEEEAAAQQQQMCZAgSsnVl3To0AAggggAACCCCAAAIIIICAlQQIWFupGuwFgSAFCFgHCcZwBLwECFVzJRBAwAoChK2tUAXr7OHy5cvStWtXmTNnjsemtJuwhofNPtqhetmyZTJw4ECfXZSTz6OBWg01d+7c2ehg7R0KXbFihTz//PMeS0ciYK0LaGhTOz+/8sorsn///lSP++qrrxodkzWwO23aNGNsJAPWOr+6bt68WYYNG+a3K7OvTWu4WPfaoUMHo0N4oMdsyDXQPNqhesiQITJ37txAQ43Pn332WaPj8sMPP5xqANw1WVJSkowePdoIZOv/7u8pXbq0jB07VjJnzixVqlRxD0stYO0aFIkzRCtgrd/n3r17y5QpU1LQqMn7779vdKrXx2zNI/3dNrsP1/dVu5T37ds34PdVx2tndA3u6/eHztWmvpIMQgABBBBAAAEEHC1AwNrR5efwCCCAAAIIIIAAAggggAACCFhCgIC1JcrAJhBImwAB67S58ZazBQhVO7v+nB4BqwsQtrZ6haKzPw1GN2rUyL1Y8eLFjQ7NJUqUCHoD58+fl3Xr1omGpLUztaubsQZoNeD59NNPi3bSzZ49u3vuEydOSLNmzYzx+rRp00YmTZrkEQyOVMDatQntSq1Ba+3CvH37djl06JDxUcWKFaVmzZrSvHlzo6v21atXjXB4tALWrv1pyPX7778XddiwYYMcP35cPvvsM3fIWAPVWi/dr/qWKVNGMmbMaLp+wYRcA02qoXWt+4cffigahj18+LD7Hug+9R7o/12h+9Swb2pdq/2t9eOPPxrB/I8//lh27dolFy5cMDpWa6di7b7+3HPPGffH+96YCVjrmuE+Q7QC1rp3vcsfffSR8UMTLhuXY/LzB1vzSH23g92HnkW7z+vvF9rNfM+ePcYd0zugj94p/f1Gv7fPPPOM5MuXz1R4P9C95nMEEEAAAQQQQAAB+wsQsLZ/jTkhAggggAACCCCAAAIIIIAAAlYXIGBt9QqxPwRSESBgzfVAwJwAoWpzToxCAAFrCRC2tlY92A0CCCCAAAIIIIAAAggggAACCERPgIB19KxZCQEEEEAAAQQQQAABBBBAAAEEfAsQsOZmIBDHAgSs47h4bD3iAoSqI07MAgggEEUBwtZRxGYpBBBAAAEEEEAAAQQQQAABBBCIuQAB65iXgA0ggAACCCCAAAIIIIAAAggg4HgBAtaOvwIAxLMAAet4rh57j4QAoepIqDInAghYTYCwtdUqwn4QQAABBBBAAAEEEEAAAQQQQCDcAgSswy3KfAgggAACCCCAAAIIIIAAAgggEKwAAetgxRiPgIUECFhbqBhsJWYChKpjRs/CCCBgAQHC1hYoAltAAAEEEEAAAQQQQAABBBBAAIGwCxCwDjspEyKAAAIIIIAAAggggAACCCCAQJACBKyDBGM4AlYSIGBtpWqwl2gKEKqOpjZrIYBAvAgQto6XSrFPBBBAAAEEEEAAAQQQQAABBBAIJEDAOpAQnyOAAAIIIIAAAggggAACCCCAQKQFCFhHWpj5EYigAAHrCOIyteUECFVbriRsCAEELCxA2NrCxWFrCCCAAAIIIIAAAggggAACCCAQUICAdUAiBiCAAAIIIIAAAggggAACCCCAQIQFCFhHGJjpEYikAAHrSOoytxUECFVboQrsAQEE4l2AsHW8V5D9I4AAAggggAACCCCAAAIIIOA8AQLWzqs5J0YAAQQQQAABBBBAAAEEEEDAagIErK1WEfaDQBACBKyDwGJo3AikPVRdXbLmrRQ352SjCCCAQCwELp/dJUlntkjSz1vl5vWLAbeQPnMeyVa4gWQrVF+yFqwbcDwDEEAAAQQQQAABBBBAAAEEEEAAgXAIELAOhyJzIIAAAggggAACCCCAAAIIIIBAKAIErEPR410EYixAwDrGBWD5sAkQqg4bJRMhgAACpgUIW5umYiACCCCAAAIIIIAAAggggAACCERZgIB1lMFZDgEEEEAAAQQQQAABBBBAAAEEUggQsOZSIBDHAgSs47h4bF0IVZu/BJeSLsueg1/I1l0HZP9nR+TYie/l1A+njQly/Sm7lC5xvzxS+kGpWrGsVCpfSnLmyG5+coeNPH/xV2nRZaCs27rbOHnpB++X96eNkmL3FnKYRHDHfW/ZGmnZdZD7pWGvdZJBCe2CmyTMo785fkpe6NhPDn/1LbUMgy1h6zAgMgUCCCCAAAIIIIAAAggggAACCIRNgIB12CiZCAEEEEAAAQQQQAABBBBAAAEE0ihAwDqNcLyGgBUECFhboQrsIRgBQtXmtW7duiWfHflWxs9cKMvXbJGk33439XK2O26XF5s8K706tZTCBQuYesdJgwhYe1b73PmLsmD5WnmmZhW5r3BBv1eBgLWTviUihK2dVW9OiwACCCCAAAIIIIAAAggggIAVBQhYW7Eq7AkBBBBAAAEEEEAAAQQQQAABZwkQsHZWvTmtzQQIWNusoDY9TppD1XdVl6x5KtlUJfVjnfz+Jxny1jSZu3h1ms+vna21y3C7FvUlU8aMaZ7Hbi8SsP5vRS//fkU+WLVB3pz0rmTOlClgF28C1nb7Jpg/D2Fr81aMRAABBBBAAAEEEEAAAQQQQACB8AkQsA6fJTMhgAACCCCAAAIIIIAAAggggEDaBAhYp82NtxCwhAABa0uUgU34EEhzqDpfdcma15mhamX8448/ZN3W3fLK4LHyzfFTfu9WxXIlJfsdWY3PL/12WfYc+MLv2G5/e0FG9O0i2tmaR4SAtcjFXy/JS68MlRXrthlXovSD9xOw5sthSoCwtSkmBiGAAAIIIIAAAggggAACCCCAQBgECFiHAZEpEEAAAQQQQAABBBBAAAEEEEAgJAEC1iHx8TICsRUgYB1bf1b3FEhzqNrBnaqTC2q4euGH66RTn5GS9NvvHrgli98nbZvVk/p1qknBAvkkXbp0Hp9f/89/5OvvTsrb0xfKktUbU7zfuU0TGTOwu2S9PYvjry0B67SFzOlg7fivTgqAy+d2SdLPWyTp561y8/rFgEDpM+eRbIUbSLZC9SVrwboBxzMAAQQQQAABBBBAAAEEEEAAAQScLUDA2tn15/QIIIAAAggggAACCCCAAAIIWEGAgLUVqsAeEEijAAHrNMLxWtgECFWHjVK27T4oL/YYIqd+OO2eVLtOD05oLy+/2NhUOFpD2rs+/Vy69HtTDn/1rcfm3h7WS7q3bSo+/mIifIeIg5kIWKctYG3F0mqX9xc69nPfdTOduK14DjvsibC1HarIGRBAAAEEEEAAAQQQQAABBBCwlgABa2vVg90ggAACCCCAAAIIIIAAAggg4EQBAtZOrDpnto0AAWvblDKuDkKoOvzlOnbiX9Kq22DZe/BL9+SF7skv74zuJ3WqPxZ0KProsRPyUsJQj/mKFy0ii6aOlFLFi4b/AHE0IwFrAtZxdF3jcquEreOybGwaAQQQQAABBBBAAAEEEEAAAcsJELC2XEnYEAIIIIAAAggggAACCCCAAAKOEyBg7biSc2A7CRCwtlM1rX0WQtWRq8+169dlwOgpMnbqfPci2rn63fFDpX6dakGHq12TrN+2Rxq37y1Jv/3unrdXp5Yyom9nyZQxY+QOZPGZCVgTsLb4FbXV9ghb26qcHAYBBBBAAAEEEEAAAQQQQACBqAoQsI4qN4shgAACCCCAAAIIIIAAAggggIAPAQLWXAsE4liAgHUcFy8Otk6oOjpF2nfoiNT/Wy85feYX94LDe78sfbu2kQwZ0qd5E1euXpOEIWNl2rxl7jm0i/Xi6W9KiWJ/SfO88f4iAWsC1vF+h+N1/4St47Vy7BsBBBBAAAEEEEAAAQQQQACB2AgQsI6NO6sigAACCCCAAAIIIIAAAggggMD/BAhYcxsQiGMBAtZxXDyLbp1QdXQLc/PmLRk6broMT5zpXrhC2Ydk4ZSRUuTPBULezKYd+6TB31716GI9c+wgadusXoq531u2Rlp2HeT+9R0rZknl8qXl8u9XZO7i1fLu4o9k78EvpdA9+UX32KBudXn6ycqSPVtWv/u8deuWfHP8lKzasF0279gv+z87Ihf+fckYX7FcSSlb8gGpV7uqPF7hYcmSOVOaz3vjxk059OU3snL9Ntm4fZ/sOfCFMdfDDxWTZ2pWkeYN6sgD9xU2uoGHGrD+448/5IfTZ+WjDdtl7ZZdcvirY3Lqh9Pu9UqXuN9wqV3tsVRtvA/rz1/H6fn2HvpSPli5QfZ9dsR9vmL3FjLOWK9OtYC10Dq80LGfHP7qW1POrvq7Bnvvb9hrnWRQQjtTc+n+v/3nKdm0Y7/s2n/YuBNaL9ejd0pD/xXLlpQ61SsZZzLzwwXeZyr94P3y/rRRoi6pPbqfo8dOyIdrt8rO/Yc97qWure9Xq/SIPF2jstyTP2+au8ibwnHoIMLWDi08x0YAAQQQQAABBBBAAAEEEEAgCAEC1kFgMRQBBBBAAAEEEEAAAQQQQAABBCIiQMA6IqxMikB0BAhYR8fZ7qsQqo5dhTWY27zzANn16efuTfTr9pJoB+v06dOFvLGLv16SHoPekmx3ZDUCv4+ULi535ckt6dKlnNtXwDfvnTmla/8xsn7bHp97SejQXEYP6CYZb7vN43MNIWuAdshb04wgcqBHA62De7aXRs88KZkyZgw03P252XWy3XG7dPtbU6Mr+PX//EdadBko67buNuYxG8rVsSe//8k4kwbOAz25/pRdBr7STjq0bCBZb88SaLj4C1h/duRbGTTmnYCOup6Gntu1qO/TMBYB62vXr8tHG3bIm5PnyP7Pvgpo4BpQvsyDMrJfV3my8iM+76prXLABa70vW3Z+Kq+PnS7b9x4ytZ/WTZ6Roa92lMIFQ/+BB1MLOnAQYWsHFp0jI4AAAggggAACCCCAAAIIIGBCgIC1CSSGIIAAAggggAACCCCAAAIIIIBARAUIWEeUl8kRiKwAAevI+tp5dkLV1qjuhk/2Sq2mXTw2s37RZHnqiQpR36B3wPeDaaON0O+Kddt87kVDy8v/8ZbUqPKox+caqp0+f7kMGD3Zo3O2mQO1avy0jB2SIHly5ww4XLsQ6/56vj7O3RU70Esvv9hYenduLZ36jAoqYK2duJeu3iyvDR/v7lYdaC3X57WqVpRJI3tL0SJ/TvUVXwHrM+fOS8/XE4Nas0e7ZjKib+cUoe5oB6zPnb8ovYYmyrwlH5ul8hin92vQK+0koUMLv92sgwlYaw0XLF8rnfuNDvpeaoftd0b3kzrVH6ObdZqqaf4lwtbmrRiJAAIIIIAAAggggAACCCCAgN0FCFjbvcKcDwEEEEAAAQQQQAABBBBAAAHrCxCwtn6N2CECfgUIWHM5ghEgVB2MVnTGjpo4W/qPmuxerFyp4rJo6ki5r3DB6Gwg2SreAd+HHypmdKHWRwOmT9eobPxP7br98aadUrbkAzJr3CDJmSO7exYNPY+dNl/6jpiYYv8632OPlJI/332X3Lx5U7Qz86bt+1KEo+vVrirTxgyQfHly+TXQTsQLP1wnnfqMTBGW1W7Yz9euKrlz5pDzF3+VjZ/sdZ9DJ9SQ9ZdfH3d3MA7UwTrQWnqmB+4rbOz16LETsnXXgRSB6AplH5LZiUOkeNEifs/k7T/wlbZGOFm99dHAceXyZaTSI6UkY8bb5F8//mz4acjY+5k/abi0aFjX45d/PnteFq1YJ9eu/0euXL0mH6zcYOxXn/z57pRWjZ6WXDlzuN9p+HR1j1C49/60W/aghHY+z3P59yvS+40JMmXOYo/P9QxlShSTiuVKGvXRR2uk3aT3HPgixVy6r0XvjJQnKpb1uU4wAettuw/Kiz2GeNRG9/NomYekYrmHjC7vqdVQ78nCd0akWsOof2ltviBha5sXmOMhgAACCCCAAAIIIIAAAgggEECAgDVXBAEEEEAAAQQQQAABBBBAAAEEYi1AwDrWFWB9BEIQIGAdAp5DXiVUbd1Ca8g1YchYmTZvmXuTjZ+tITPfGiQ5st8R9Y17B2hdG9Cu0mMG9pC78uZ270n3rt2VCxcs4P41f0HkZ596XIb0bG8EstOlS+dxrktJl2X6/GUyLHGGR1C660t/lTGDekiWzJl8Onx+9Jg07dTfHRDWQRqs1u7Xtas95tHxWDsXH/ziaxkweoqs37YnxXyBAta+grnlyzwoI/p2keqVHknRXVltlq7eJAPffMcjzNugbnWZNqa/3+7c/vw1BNz5xSainak1cJz80W7h2pX51aFvewTVdS3v8Hvy9zTU3KLLwKC6eAcTsPZ1lldfbiU9O7RIcQbXvjQwPmL8P4z7kPzp3rapjBnUXTJlzJiidmYD1nrPOrw2Qt5fud49R/sWDWToqx197kdrqAH+14Z5umqgfEjPDpI+vec9jvqX1YELErZ2YNE5MgIIIIAAAggggAACCCCAgOMFCFg7/goAgAACCCCAAAIIIIAAAggggEDMBQhYx7wEbACBtAsQsE67nZ3fJFQdH9X1DrnqrhM6NJfRA7pJxttui/ohfIVin6lZxQh8Jw9X+9uYd9hVx2m36DcHdDe6L/t7NJi9dstuebnvKI9uzUtmjJFaVSumeE1DxRqWHjt1vvsz7RCt+3zogXv9rnPm3AXp2HuErFi3zWNMagHrs79ckPavviEr13/ifkc7bE8e1UfuvitvqjU68PlR6dL/Tdl78Ev3uOl/HyDtmtcXH385JL781W3KqL7SvEGdFOF016S+gu363pr3Jkrl8qV97jGSAeuLv16Stj2Hy/I1W9xr9+/+NyPMnCFD+lTNtLZDx84Q7ezueqpVKifvTX5DCuTLk+JdswFrrcVzLybI6TO/GHMECqDrGHXVmrTqNti9rnYPXzBlhNHJnSd2AoStY2fPyggggAACCCCAAAIIIIAAAghEU4CAdTS1WQsBBBBAAAEEEEAAAQQQQAABBHwJELDmXiAQxwIErOO4eGHeOqHqMINGYTpfAethr3US7ZIbi8dXwHfm2EHStlm9gNvRMGri9AXSa2iie6wGkaeNGSD58uQy9f7MBR8aXYZdT5sXnpNJI3pL1tuzeLx/5Jt/SpMOfdzdqzVM7C+M7b3w0WMnpNnLA+TwV9+6P0otYL3s483SqF1v91gNcs9OHCLFixYJeCYdoB2zG7fv7e7OXfPxR2XuhGE+uyb78u/VqaWM6NvZZ/fm5BvwFWp+d/xQad3kGZ/7jGTA2jvMrGYLp4yUIn/+X7fz1PC0O3njdn3k2Il/GcNKFr9PPpg2Wh64r3CK18wGrLVztXY8dz1mv2e+XNcvmixPPVHBVP0ZFHkBwtaRN2YFBBBAAAEEEEAAAQQQQAABBGIlQMA6VvKsiwACCCCAAAIIIIAAAggggAACLgEC1twFBOJYgIB1HBcvDFsnVB0GxBhO4avj88h+XaRft5disivvgG/RIn+WJTPflFLFiwbcj3YGbt19sGzcvs8YG0zo2TW59xz5890pq95NlHKlinusP23eMunUZ6T71/wFsX1t2lcQ3F/A+vLvV6TrgDEy5/1V7qlS60Dtaz1fc6yYM06er/VEiuHe/oG6UCef4ObNWzJozDsenZ9TCxFHMmD93cnvZdX67aJB6eMnf5DHKzwsupf06dMFvEc6wNcPHuxYMctnN26zAWtvW/2ODe/9csA96X0ZnjjTuNf3Fr5HStz/F9Gu7mYD9qYOzKCwCRC2DhslEyGAAAIIIIAAAggggAACCCBgCQEC1pYoA5tAAAEEEEAAAQQQQAABBBBAwNECBKwdXX4OH+8CBKzjvYLB759QdfBmVn3DV8B6/qTh0qJh3Zhs2TuEqt2WF0wZIXly5wy4n537D0vdFt3cnZrrVK8k8yYOkztz/Sngu64BvkLCU9/sLx1bNXTPceXqNUkYMlY0ZO16vMcEWtC7Q7K/gLXZ8G6g9bwD4f7Cvd7+1SqVk/cmvyEF8uUJtITxufc6sQpYm9psKoMiEbD+ZM9Bqdqwg3vVQvfkl3dG95M61R8TH39RF+oReN8CAoStLVAEtoAAAggggAACCCCAAAIIIIBAiAIErEME5HUEEEAAAQQQQAABBBBAAAEEEAhZgIB1yIRMgEDsBAhYx84+misTqo6mdvTWOvXDaWneeYDs+vRz96KphWIjvTPvgK8GmxOH9pIsmTMFXNo73Nu5TRMZOyRBMmfKGPDd5APmLl4tL/YY4v6lhA7NZfSAbpLxttuMX/vpzDlp0WWgbN11wPhnf12uU1v04q+XpFW3wbJ64w5jmL+A9YZP9kqtpl3cU2nnYg2N58yRPagzeYd7Gz9bQ2a+NUhyZL/DYx5v/3bN68v44a/K7Vkym1rP+30C1v9j8+6Orp9oh/Bnaz5u/EBDpfKlgq6rqaIwyBIChK0tUQY2gQACCCCAAAIIIIAAAggggEDQAgSsgybjBQQQQAABBBBAAAEEEEAAAQQQCLMAAeswgzIdAtEU8A5YV6tWLZrLs1YEBUoUuCBlCv4iZe45J3dk/k/AldJnzCnZ7qom2e6qLlnzVAo4ngGxF/DVqddKAWt/nZa95Xx1nn66RmV5omLZoJG//Pq4zF/6sfu9Vo2flskj+xphWH2+/u6k/LVjX/ni6HfGP5crVVwWTR0p9xUuaHqtq9euS6+hiTJlzmLjHX8Ba+/QeOXypUU7c992WwbTa+nAH346I5Nmf+B+x19nau+AdLAh9XgOWN+4cVN+OH1Gtu/9TJZ9vFk27djn7oaucDtWzBL1937Mdhn/448/ZOaCD6XDayP81q7qY2Xl6RpVpEaV8lKy+H3uUH9QxWaw5QWCDVv/+7f/J9uO3CbbvrxNdn/93x/04Im9QJkyZWK/CXaAAAIIIIBAjAS2bNkSo5VZFgEEEEAAgegLELCOvjkrOlfg6Az5w7mn5+QIIIAAAggggAACCCAQS4Hi7cXSGWZLb+7/Cufxf9BpSIYHAQT+K+AdsMYlvgWeeEik5sMiNR4WyZUt8FkIVQc2svKIpN9+ly79R8u8Jf8LFAcbqg3n+YIJ6CZf98rVa5IwZKxoIDncT+1qj8l7k9+Q3DlzGFPv3H9YqtRr617G+3Oz6w9PnCmD/z7VGO4vYJ18jNl5zYzzt15a/V1rBvO+d7jf356SnyeY+X056L+/XUq6bHQh1/98890pOfLtP+XgF18p107WAAAgAElEQVTLngNfpEoXasBaJ7/8+xUZMHqKjJ+5MGCZcv0pu2jH8heeryWPV3hYsmfLGvAdBsSfQLBh6wtJIpsOiWw8JPLJl/F3XnaMAAIIIIAAAvYQ4L8XtUcdOQUCCCCAgDkBAtbmnBiFQDgECFiHQ5E5EEAAAQQQQAABBBBAIC0CBKzToub5DgHr0A2ZwaYCBKztVVgC1vaqZ6DT+Or83PjZGjLzrUGSI/sdgV4P++dpDdASsA6uFE4KWGtn6r2HvpTZi1bKxu375NQPp4PD+r/R4QhY61TXrl+Xpas3y7BxM0S7X5t5tHt642dqymudW8kD9xUWH3+xZ2YaxlhQgIC1BYvClhBAAAEEEEAgoAAB64BEDEAAAQQQsJEAAWsbFZOjWF6AgLXlS8QGEUAAAQQQQAABBBCwrQAB69BLS8A6dENmsKkAAWubFlZEHv+/btba0Zpu1vats3Z97tRnpPuA5UoVl0VTR8p9hQtG/dAErAt5mNPB2vMKBnM/NPRx6MtvZMhb0+SjDdtN32UNMz9a5iH57uT3HmHscAWsXRvRHwrYuuuATJ+/TDbt2CfaTT7Qo12tx73eU1o0rCsZMqQPNJzPLSqQllC1dqzW/2yna7VFq8q2EEAAAQQQcJYAAWtn1ZvTIoAAAk4XIGDt9BvA+aMpQMA6mtqshQACCCCAAAIIIIAAAskFCFiHfh8IWIduyAw2Fdi6datNT8axkgtk+n2fFMl+XJJOLpebV88FxEmfMadku6uaZLurumTNUyngeAbETuDA50fluRcT5PSZX9ybWL9osjz1RIWwbUo7B0+e/YHUqV5Jnqj4sNxb+B7JeNttKeYPJkCb/GVfHaznTxpuBFHD/ezcf1iq1GvrnrZ2tcfkvclvSO6cOYJaKnl42l9Hae+A9bDXOsmghHZBrRPM4LT6u9YI5v3zF3+VFl0Gyrqtu43X/Rkk37/Z+TXwsXzNFun5emKqHas1sFy6xP3ySOkHpUyJ++Xhh4oZd1PDzsn3pnsId8A6+bku/35FPjvyrazdsktWb9xhBMP9PRoAn/73gdK0Xq1gSsvYGAsEG6pOnzmPZCvcQDYdEjl3s3iMd8/yKpCQkOABsWXLFmAQQAABBBBwjID+YH3yh4C1Y0rPQRFAAAEERHz9fxL7f8AggEBkBLwD1g8882lkFmJWBBBAAAEEEEAAAQQQcLzA16sf8TAgYB36lSBgHbohMyCAgE0ELn+/RpJOfUjY2ib1/OXCv6VVt8FGuNP19Ov2kgzv/bKkT58u5FPevHlLho6bLhoWdj3+umSbDdB6b+rqtevSa2iiTJmz2P3RyH5dRM8R7ueb46fkhY795PBX3xpTmwkGe+9BTQaNeUdGTZyd6hz6ef9Rk92vd27TRMYOSZDMmTKG+1jGfGn1d20mmPcjGbA+euyENHt5gLtGuj8NJj9b83Fp8lxNKVOimNyVN7dkyZzJp6P33nRQJAPWyTehYZUL/74kew58Ie+vXG8ErvWfkz8N6laXWeMGSc4c2SNyD5g0PAJpDVVnK1RfshYM/w+HhOdUzp3Fu2MZwTLn3gVOjgACCDhRgD8HnVh1zowAAggg4BKggzV3AYHoCRCwjp41KyGAAAIIIIAAAggg4HQBAtbhvwEErMNvyowIIGADAcLW8V9EDYklTl9gBJRdT1pCw/4kTvzrJ2nWub/sPfile0ibF56TSSN6S9bbs3i8FkxA13s97zByx1YNJXFoL78h2rRW7tz5i9K88wDRrtz6aHB3zXsTpXL50qan1A7JXfqPlnlLPjbe8eetAdumnfq759UO4PMmDpM7c/3J9FrBDAzFX9cJ5v1IBax9BfqL3VtIpr7ZX6o+VtZX16EURLEMWHtvRu/bgNFTZMZ7y90f6Z1bv3CyVCxXMpjyMjYKAoSqo4AcoyUIlsUInmURQAABBCwhwJ+DligDm0AAAQQQiJEAAesYwbOsIwUIWDuy7BwaAQQQQAABBBBAAIGYCBCwDj87AevwmzIjAgjYTICwdfwW9Mg3/5QmHfqIdv51Pf27/02GvtpRMmRIn+aDaXh7wqxF8srgsR5zLJ05Rho+/WSKeYMJ6Hq/vHL9J1KvTU/3L1co+5AsnDJSivy5gOn9u8Lmiz/aKIXvyS8li98nFcuWlKqPlXN38/bVLXvc6z0loUNz0+uY7YJ94POj8tyLCXL6zC/G3Pnz3Skf/mOsPPpwCdNr6cBlH2+WN96eJYXuyS9lSz4gJYr9RZ6pWUUyZfTshB2Kv64TzPuRClj/dOactOgyULbuOuA2mv73AdKueX1T4Wp96evvTspfO/aVL45+554jlA7WGqjfuf8zOfjF17L/s6/kxs2bMm1MfymQL4+pOv5w+qwR6t++95B7/PxJw6VFQ7ocmwKM8CBC1REGtsj0BMssUgi2gQACCCAQEwH+HIwJO4sigAACCFhEgIC1RQrBNhwhQMDaEWXmkAgggAACCCCAAAIIWEKAgHX4y0DAOvymzIgAAjYWIGwdX8W9ceOmDHlrmoyc8A/3xrVL7pIZY6RW1YppPsy23QflxR5D5NQPp91zPF/rCZnx1kDJe2euFPMGE9D1ftlXp+xgg7U//nxWWnUbLFt2fuqe3ld42nufqZ3JF96shSukXa/h7o/8dbC++OsladtzuCxfs8U9Ntjg+6Wky9Jt4BiZu3i1ew4Ng48e0E0y3nabx/ZC8deJgnk/UgHrz48ek8bt+sixE/8yzqah9FXvJkq5UsVN32MNpDdq19tjfCgB618u/Nu4V2u37DLmDLbr+ZWr1yRhyFiZNm+Ze08ErE2XMyIDCVVHhNXSkxIss3R52BwCCCCAQIQF+HMwwsBMjwACCCBgaQEC1pYuD5uzmQABa5sVlOMggAACCCCAAAIIIGBhAQLW4S8OAevwmzIjAgg4RICwdXwUWgOpGgLde/BL94a14/E/xg2W6pUfMd391/WydsN+KWGox3waLJ03cbjUq13VJ0owAV3vCa5dvy4DRk+RsVPnuz/SLtazE4dI8aJFAhbh5s1bMm7afOn9xgSP8384e6yUKXG/x/uhhLl9hbj9Bax9dQDXmrw7fqhUfaxswDPpgEUr1kuH194Q7aKsj9ZAO3trB2vvJxR/nSuY9yMVsPbu+q3nXb9wslQsV9KUl6/66IuhBKz1bg0a846MmjjbvYdggvLeAW2dZNuy6fJERXN3wNTBGRRQgFB1QCJbDyBYZuvycjgEEEAAgQAC/DnIFUEAAQQQcLIAAWsnV5+zR1uAgHW0xVkPAQQQQAABBBBAAAHnChCwDn/tCViH35QZEUDAgQKEra1bdA3zLvxwnXTqM9IdxtXd5vpTdhn4Sjvp0LKBZL09S8AD3Lp1S9Zs3iW9hibKN8dPeYzv+tJfZcygHpIlcyaf8wQT0PU1waeHv5LG7ft4dMzWIPHkkX1Eg8n+Hj27dq3+W89hHu/26tRSRvTtLJkyZvR41V/w+Z3R/aRO9cf8htE15NxnxAR5590lHvP5C1jroJPf/yQtuw6SnfsPu9/R4LieKVBX5i+/Pi7tXh3uEXJv8lxNmTamv+TMkT0FR6j+wbzvHbAuWuTPsmTmm1KqeFG/dTIz/3cnv5emnfqLBq1dz/DeL0vfrm0kQ4b0qd5fDVcnDBkni1dtTDHOX6BZ7/gLHfvJ4a++Nd7xV8tNO/ZJg7+96hF0n/pmf2lWv3aqP7ygd03PrT/84HqqVSon701+QwrkyxPw+8iA0AQIVYfmZ6e3CZbZqZqcBQEEEEAgWAH+HAxWjPEIIIAAAnYSIGBtp2pyFqsLELC2eoXYHwIIIIAAAggggAAC9hEgYB3+WhKwDr8pMyKAgMMFCFtb7wLcuHFTxk6bL31HTEyxuZLF75O2zepJ/TrVpGCBfJIuXTqPMb9e+k12ffq5THl3sXy0YXuK97Vr9bQxAyRfnlx+D24mQJuamq8u1DpeQ68alK75xKMpwtKXf78i0+cvlzfenikX/n3JPX2g7tdnzl2Qjr1HyIp129zv+Auja0hWg7993pgoy9dsSXGE1ALWOti7C7X+mgbGB/dsLy88/1SK4Lt28166erMMGzfDI+QeqPt1qP7BvK/3RcPfSz7a5PYY2a+L9OzYIkWNXAPMzK/17DpgjMx5f5V7Xu1iPTihvbz8YmOfPyRwKemyLP14k7w56d0UPxTgmmT+pOHSomHdFLUzG7DWNboNHCNzF69OcV/0e5U9W9YUc+tZNIw/LHGGxw89vD2sl3Rv2zTorvLW+x3HmjsiVG3NusR6VwTLYl0B1kcAAQQQiKUAfw7GUp+1EUAAAQRiLUDAOtYVYH0nCRCwdlK1OSsCCCCAAAIIIIAAArEVIGAdfn8C1uE3ZUYEEEDALUDY2jqXQcO542cuMgLH2nHZ16NB4tIl7pfbMmQwPj71w2m/wVT9XLsmJw7tKXfflTfVg5oJ0AaS0lBq7zcmyJQ5i1MM1YCxdv8tXrSI8dmRb47L6o07PILV+us6TkOsGiZP7Tl67IS8lDDUo0O0633XOkm/XZYd+z6TbbsP+p0qUMA6teC71qLG449KmRL3S/r06Y1afLxpp0cnbl1YQ8ZvDuguHVo2lPTpPcPxro2F6h/M+9f/8x8jyJ84fYGHS7F7C7m7jWvYuna1x9yfm51//bY90rh97xT3V+uqwfnSDxY1rLQ2ew58Kfs++9JjrO6hyJ/vlrVbdrnXfnf8UGnd5JkUNTQbsNYXfXVY11/XGlYqX1oeLVNCMma8Ta5f/4/s++yI7Np/OMXdNPODCoG+I3yeUoBQNbcikADBskBCfI4AAgggYGcB/hy0c3U5GwIIIIBAIAEC1oGE+ByB8AkQsA6fJTMhgAACCCCAAAIIIIBA6gIErMN/QwhYh9+UGRFAAAGfAoStY38xbt26JWs275JeQxNTDU4H2qmGel97ubXRlTjr7VkCDRezAdpAE2nIeuSE2TJywj8CDU3xuYZwx72eIA3qVjfVIfjA50elS/83U4SsU1u4R7tmRsh53LT3jGGBAtY6RkPWU+ctlf6jJvkNvvtbU+swsl9X6dSqkWTIkN7v1kL1D/Z97f7dqtsgv+eZ+mZ/6diqoXu/ZudXq8Tp78nwVH5IwB/Cs089Ln8f1EMOf/WtNO3U3z1sSK8OMqRn+xR3IpiAtXYyX7tlt7zcd1SKALyZi6p3Un9QQe8oT+gChKpDN3TSDATLnFRtzooAAggg4C3An4PcCQQQQAABJwsQsHZy9Tl7tAUIWEdbnPUQQAABBBBAAAEEEHCuAAHr8NeegHX4TZkRAQQQCChA2DogUUQHXEq6bISe35m7RL44+p3ptTTQ2/iZmvJa51bywH2FTQWVdXKzAVozG9GQ+Oadn8qwcTNk+95DZl4xOhQPfbWjFC5YwNR416Bz5y/K2KnzZcq7i1MNP2un4mGvdZJ2LerLmMlzZfDfpxpTmAlY6zgN6B768ht54+1ZsnzNFlN71MCwnunhh4oFrEOo/sG+f+XqNRkz+V15fex0n2fp1+0lGd77ZXfH7WDm15D14o82ytCx0039kED5Mg9Kny5t5NmnqkimjBlFg/PPvZggp8/8YuytTvVKMm/iMLkz15889hpMwNr14tffnZT+oyabrqEGqjWU36FlA1M/qGDqYjh0EKFqhxY+DMcmWBYGRKZAAAEEEIhbAf4cjNvSsXEEEEAAgTAIELAOAyJTIGBSgIC1SSiGIYAAAggggAACCCCAQMgCBKxDJkwxAQHr8JsyIwIIIBCUAGHroLjCOljDqt/+85Rs2rFfdu0/LD/+fE4+O/KNO0ysweHSJe6XR0o/KFUrlpVK5UtJzhzZg95DMAFas5Pr3o8eOyEfrt0qew5+IUe++ae7e3CxewtJ8aJFpFbViqJB5Hvy5w0YQva3roafT/1wWj5YtVE279gv+z87Ihf+fUnUplL50vLcU49L/TrVJO+duYwphifODDpg7Vpbw+Mnvz8tK9dvk227Dxrn06CvPhrGLVHsL1L1sXLGmnrGdOnSmeIK1T8t7+tZtu/9TOZ8sEp2f/q5Rxi6VeOnZfLIvqKBfX3SMr/+kMC6rbvl48075fCRb42Auj5al/JlSkjl8qWN8LQG0JN397746yVp23O4OwSte1gyY4xxV5I/aQlY6/t6X344fVY+3rRTtu761Di3a2+6VpkSxaRk8fukXu2qxh7NdIA3VWQHDiJU7cCiR+DIBMsigMqUCCCAAAJxI8Cfg3FTKjaKAAIIIBABAQLWEUBlSgT8CBCw5moggAACCCCAAAIIIIBAtAQIWIdfmoB1+E2ZEQEEEEizAGHrNNPxIgIIIGB7AULVti9x1A9IsCzq5CyIAAIIIGAhAf4ctFAx2AoCCCCAQNQFCFhHnZwFHSxAwNrBxefoCCCAAAIIIIAAAghEWYCAdfjBCViH35QZEUAAgbAIELYOCyOTIIAAAnEtQKg6rstn+c0TLLN8idggAggggEAEBfhzMIK4TI0AAgggYHkBAtaWLxEbtJEAAWsbFZOjIIAAAggggAACCCBgcQEC1uEvEAHr8JsyIwIIIBB2AcLWYSdlQgQQQMCyAoSqLVsa222MYJntSsqBEEAAAQSCEODPwSCwGIoAAgggYDsBAta2KykHsrAAAWsLF4etIYAAAggggAACCCBgMwEC1uEvKAHr8JsyIwIIIBBRAcLWEeVlcgQQQCAmApfP7pKkM1sk6eetcvP6xYB7SJ85j2Qr3ECyFaovWQvWDTieAQj4EiBYxr1AAAEEEHCyAH8OOrn6nB0BBBBAgIA1dwCB6AkQsI6eNSshgAACCCCAAAIIIOB0AQLW4b8BBKzDb8qMCCCAQNQE0hy2zlddsuatFLV9shACCCCAQEoBQtXcilgL/H/s3QeUFNW6//1HwpBzUpSkAiIokgREBNSDYgbhSBZJQ1ZAAYEBAUkjQSUOQUBA8IBiDhgAQQQEFCQoSFRBcs4wvGvXe2f+M9PV1dXd1T0VvrXWWesuumqHz7Ory77rV3sIlqV3BegfAQQQQCA9BXgOpqc+fSOAAAIIpLcAAev0rgD9e0mAgLWXqs1cEUAAAQQQQAABBBBIXwEC1tb7E7C23pQWEUAAgXQRCDlsfWM9yVGIsHW6FI1OEUDAcwKEqj1XcltPmGCZrcvD4BBAAAEEIizAczDCwDSPAAIIIGBrAQLWti4Pg3OZAAFrlxWU6SCAAAIIIIAAAgggYGMBAtbWF4eAtfWmtIgAAgiku0DIYWt2tk732jEABBBwnwChavfV1C0zIljmlkoyDwQQQACBUAR4DoaixjUIIIAAAm4RIGDtlkoyDycIELB2QpUYIwIIIIAAAggggAAC7hAgYG19HQlYW29KiwgggICtBEIOW7Ozta3qyGAQQMBZAoSqnVUvr46WYJlXK8+8EUAAAQSUAM9B1gECCCCAgJcFCFh7ufrMPdoCBKyjLU5/CCCAAAIIIIAAAgh4V4CAtfW1J2BtvSktIoAAArYVCDlszc7Wtq0pA0MAAfsIEKq2Ty0YiTkBgmXmnDgLAQQQQMCdAjwH3VlXZoUAAgggYE6AgLU5J85CwAoBAtZWKNIGAggggAACCCCAAAIImBEgYG1GKbhzCFgH58XZCCCAgGsEQg9b15UchWu5xoGJIIAAAuEInDv8o5w5tFzO/Ltcrl0+EbCpjFkLSa6SDSVXiWckR7EGAc/nBAQiKUCwLJK6tI0AAgggYHcBnoN2rxDjQwABBBCIpAAB60jq0jYCqQUIWLMiEEAAAQQQQAABBBBAIFoCBKytlyZgbb0pLSKAAAKOEyBs7biSMWAEEEhHAULV6YhP15YKECyzlJPGEEAAAQQcJsBz0GEFY7gIIIAAApYKELC2lJPGEDAUIGDNAkEAAQQQQAABBBBAAIFoCRCwtl6agLX1prSIAAIIOFqAsLWjy8fgEUAgQgKEqiMES7PpKkCwLF356RwBBBBAIJ0FeA6mcwHoHgEEEEAgXQUIWKcrP517TICAtccKznQRQAABBBBAAAEEEEhHAQLW1uMTsLbelBYRQAAB1wgQtnZNKZkIAgiEIECoOgQ0LnGUAMEyR5WLwSKAAAIIWCzAc9BiUJpDAAEEEHCUAAFrR5WLwTpcgIC1wwvI8BFAIGyBxMRE+evAIfl25TpZte5X+f3PvbJmw2/J7Za9rYSUK11K6tSsLPXr1JAyt5aQTJkyht0vDSCAAAIIIOBFAQLW1ledgLX1prSIAAIIuFKAsLUry8qkEEAgjQChapaElwQIlnmp2swVAQQQQCCtAM9B1gQCCCCAgJcFCFh7ufrMPdoCBKyjLe68/o6dOCUtug6Ur5f/FNbgS9xyk5QuVUwK5s8rVSveKTWq3CX3lC8jObJnC6tdLg5NYP6HX0rLbnE+F1e8s4y8nzBSVKjY7HHk2Al5b8lX0rrJ45IvT26zl4V13t6/Dmjj//HnTcntzBgbJ+2aPW263UuXL8tn36ySt2YskJVrfzF93V3lbpfesS2l8RMPBbV+/9i1T56LfVU2bdvh09e8icOkRaMGpsfAieYFho2fIYPemOpzwSN1a8r8Sa9LgXx5AjZ2+Ohx+eir5fL5t6tk07adsu/vg9o1Sd9rle66Q+rUqCy1q1eS3LlyiJX3V8DBOfAE9VLD9z+ul/MXLspT9R8wnIEV9XMgkW2GfO1aogwZN01UHZKOJk8+LAnx/aP2fW8bDAZimQABa8sokxsiYG29KS0igAACrhcgbO36EjNBBDwlQKjaU+VmsikECJaxHBBAAAEEvCzAc9DL1WfuCCCAAAIErFkDCERPgIB19Kyd2pNVAWu9+efPm1s6tW4sL3VoJoUK5HMqkSPHbUUAVAWUP/j8exk6brqULFbUdFg1XDDV74BRk2Xs1HnJTdWqVlFUSFmNI9Bx/fp12bB5u7w0aGyqgHag69J+rnazHj2wh/aigJmDgLUZJevPCSege+HiJZn67gfy+psz5PjJ0wEHt+LDafJAjcoErA2k1MsRg8ckyLuLPtfu2UAvFoRTv4AF4wRTApu375SmnfrL9p17ks9/c2hv6dGuqej8bjPVJid5W4CAtfX1J2BtvSktIoAAAp4SIGztqXIzWQRcI0Co2jWlZCJhCBAsCwOPSxFAAAEEHC/Ac9DxJWQCCCCAAAJhCBCwDgOPSxEIUoCAdZBgHjw9kgHrJE4Vjp05blBQuyZ7sBSWTjmcgLUKKP+y5Q8tJPnZNyu1cQWzG3C4E1m6Yo007tBHzpw9n9zU2ME9pWfH5gHDflevXtPCr71eG2cqMBtorGoH43Gv9ZSGDeoF7JuAdSDNyHweakBXrZWxCfOk3/AJpgamdjb/X8IoueP2kgSsdcTOnb8g0+YtSRVWJ2Btamml+0nqpZY+w96Wt2cuTB5LudKlZOHUEXJ3udLpPj4G4DwBAtbW14yAtfWmtIgAAgh4VoCwtWdLz8QRcIQAoWpHlIlBRlGAYFkUsekKAQQQQMB2AjwHbVcSBoQAAgggEEUBAtZRxKYrzwsQsPb8EggIEI2AtRrE04/UkYT4AVKkUP6AY+KE8AVCDVgfOXZC2zl68pxFqQLO0QpYnzh1WmL7jJBFn36bjKCCfoumjZbyZW81hFGB2fHT5suwN2ekGnu4mmZD1gSsw5UO7fpQA9Zb/9gtTTr2TbVrr9EIUt4Dod5foc3Q3lclJibK9z+ul/4jJ8rPv25LNVgC1vauXcrRfbdqnTRs+3Kq785uL/xX4uNelGxZszhnIozUFgIErK0vAwFr601pEQEEEEBARAhbswwQQMAOAoSq7VAFxmBXAYJldq0M40IAAQQQiIYAz8FoKNMHAggggIBdBQhY27UyjMuNAgSs3VhVa+cUrYC1GnX/Hm1lyMuxkilTRmsnQWs+AqEGQEMNq1pVAr1xx7ZqJOOH9DYM+aldtxd89LV06jvC0nB10ryqV64gs8YPFhX29ncQsLZqFQTXTqhr9t1Fn8vzLw423VmXNk1E7aSeNUsMO1inUAt33YdaP9OF40RTAurllna9hsmSL5cln58rZ3ZZ8s4Yeej+e021wUkIJAkQsLZ+LRCwtt6UFhFAAAEE0ggQtmZJIIBANAUIVUdTm76cLECwzMnVY+wIIIAAAuEK8BwMV5DrEUAAAQScLEDA2snVY+xOEyBg7bSKRX+80QxYq52AP5o1Vu4pXyb6E/VYj04MWB88dFRa9xgk365cl6paH8yIl0aPPWhYwfWbtknjDn1l398H/Z5Xu3ol6dCioTxUu5rcWKiAZMiQQdSu1/8eOaaFCifN+p+osKi/I1DQO9ygqceWqGXTDTWg6+86NbDRA3tIp1bPSu5cOUSF90+fOSdnz5+Xm28srI071PvLsknbqKFw132o9bMRgSuGotb5+GnvSe8h41PNp81zT8rE4X0kR/Zsrpgnk4iOAAFr650JWFtvSosIIIAAAgYChK1ZHgggEAkBQtWRUKVNtwsQLHN7hZkfAggggICRAM9B1gcCCCCAgJcFCFh7ufrMPdoCBKyjLe68/owC1o/UrSnzJ70uBfLlCTixU6fPyvrN2+TN6Qvks29W+j1/3Gu9pGfH5gHb44TwBEINgKZn2FFvzHXvq6KtwaJFCvkFUeHX7gPjRe1IrHfkz5tbxgx+SZo3fFSyxMT4befIsRPy2thpMnn2It1zbipSUBZOGSEP1Kis+3m4QdPwKs7VwQr4W+tm1lywfbn5fNa9e6q79Y/d0qRjX9m+c0/ypNjF2j31jeZMCFhbr03A2npTWkQAAQQQMClA2NokFKchgICuAKFqFgYC4QkQLAvPj6sRQAABBJwtwHPQ2fVj9AgggAAC4QkQsA7Pj6sRCEaAgHUwWt4816qAdZKeCqn2GPiGLPx4qS5o++bPyFvDXpbs2bJ6EzxKs3ZawPrEqdPSrtcwbSfplEdcz/YyuFdHyZgxg1+5j79eIa26x8mZs9B+/ToAACAASURBVOd9zlG7po97rac0bFBPdP77w+f8c+cvSJ/X3/YbslYvB4wa0F1iMmf2uZagaZQWtwXdXL5yRfoNn6Dt2Jv2CObFEguG4vgmWPeOL2HyBNT3X7cB8TL7/U9TTapHu6YSH9fD8AUV9ygwEysECFhboZi6DQLW1pvSIgIIIIBACAKErUNA4xIEPChAqNqDRWfKERMgWBYxWhpGAAEEEHCAAM9BBxSJISKAAAIIREyAgHXEaGkYAR8BAtYsikACVgesVX/frVonDdu+rBt4DTa8ePXqNVn7yxb53yffyLpft8qaDb9pU1K7Ele7p7zUqlZRHq13n1SqUFYyZcoYaLq6n6s+ftnyhyxbvV5+Wr9Z271ThQaTDhXSLV2qmNZf/To1pNo9d0qO7NlC6itaFzktYK23ZszsnOovEJjkHD+wh/SKbWkY0E5bk71/HZCW3eLkx583+ZSreuUKsmDyCClVvKjPZ1YETdVa3LF7nyxdsUZW/LRR9v19UFubSYda9xXLl5FypUtJ7eqV5MFaVaVwwfxBL6vr16/L3wcPa/2sWver/P7n3uR7SzWm7O8pX1ZuK3mLqHu2bs0qUqRQflMh9bSDseP9deHiJek5eKwkzP3Qxy7Y76ig8dNccPjocfn+x/Xy9fKfZNPWHcn1TqrBXeVul8cerKXVO3euHCF1p15gWP3zZvni+x+17zfVz/GTp5PbUt+f6nuuZtW7pd59VYP6PrVi3Yc0KZ2LktbaV8tWa/fvz79uTZ6nmmPZ20rIk/UfkIdr3xvSfWNmnOre2rF7v6gXP5YuXyPrft2iPQtV38q32TOPaLXMljWLmeZSnaPW7dqNW2T5Txu0uakdp9V3RNKh+ri9VDGpXqmCdt/eU6GM7ssgRh3PXPCxtO89LNUppUsVl8UzRsvd5UoHPWYu8KYAAWvr607A2npTWkQAAQQQCFOAsHWYgFyOgMsECFW7rKBMxzYCBMtsUwoGggACCCCQDgI8B9MBnS4RQAABBGwjQMDaNqVgIB4QIGDtgSKHOcVIBKyNAndmw4uJiYla6LD/yIny86/bAs5ShZ5HvNpNC5xmyOB/t+OUDQXbR9K1Koj4Yvtm0rFlw4BB63DDhyokeP/T7XTnP2/iMGnRqIHuZ2YD1kZB00DoRv0Hujbl55cuX5Y+w96Wt2cuTHVZ3fuqyPxJr0vRIoX8Nrd5+05p3L6v7Nyz3+ecerWqytwJQ+XmGwsHMxxRAUm1s3HvIeN1r/t49jh5qv4DPp+FU2vV57If18trY6fJyrW/mB6vClx3feG/8krn1loo2syhAuSDxyTIu4s+N3O6do5qu/HjD8ugXu2lZDHfcLleQ9G4v1S/w8bPkEFvTPUZQtrvGqP6BIKIbdVIxg/pnRyKNXt/GbWrdvsfO3WeTJ6zSPdllLTXqloPfKm9qe+dpGtViFr1MfXdxakC1YHmqwLAaqf2mlXu0g3VG30vGbWt9/1vtn5G7arvkA+/WCYjJ8yS37b/GWh6Ia1nf+sn5dr49/AxGTBqkryz8BPDMagg9Ot9u0ijx+qZel6p+X3w+fcydNz0VC//BJqoCue/2v0FrZ8sMTGBTtc+9/edOnZwT1E7+Jv5SwCmOuIkVwsQsLa+vASsrTelRQQQQAABCwUIW1uISVMIOEiAULWDisVQHStAsMyxpWPgCCCAAAIWCPActACRJhBAAAEEHCtAwNqxpWPgDhQgYO3AokV5yHYMWKvQrwoFxk+eYyp4mJKsf4+20r/HCwGDz2qn0/HT5suwN2cE3UdSf02efFgmvN5H29nX3xFO6Fa16YWAtT8jFeZTIc+YzJn9+qodiDv1HaH7eTiBwA2bt0uPgW9I8ZtvlEp33SHly9wqt5a4WQt7q12E9UKGodZarcU5iz7TdlRWO92Gcjz9SB1JiB9guBZVuz+s2SgdXxkeVEgz5XhUMHTaGwPkgRqVDYcZrftLDcJsQNcuAWsVple7k6t1m3KnfLN1V7voTxzRR9SuwkaH2tm4a//R8vm3q8w2neo8FaqfOrq/tuNy2vVup4C1mmfPweNkyZfLgp6nCq2Pe62X9qJKoL+AEChgrXYGV98Zejvf6w1M+aqXgjq1etawb7VL/4BRk+WtGQuCnl/SBeqFoOH9ugR8Lqrz1XdQ1/6jZO7iL1L1p/5ShHphpWD+vCGPgwu9I0DA2vpaE7C23pQWEUAAAQQiJEDYOkKwNIuATQQIVdukEAzDMwIEyzxTaiaKAAIIIKAjwHOQZYEAAggg4GUBAtZerj5zj7YAAetoizuvv0gErL/8frU81rKHLkarxo/JpBH9/O62q8JkI96eJSPefidkzEBhMhVwXPDR11rAMdRAa9LgurRpIvEDe/gNroUauk1q3wsBa3+7AQfaIfvylSvSb/gEbbfptIcKL345f4LUqlYx5HUU7IWh1vrjr1dIq+5xYa/Fbi/8V+LjXkzeZTnt+FUA9IWeQ2Ttxi3BTi3V+dUrV5BZ4wdLudKldNuJ5v2lBuC0gLUKVz//4mBRweBQj0CB+hOnTktsnxGy6NNvQ+1Cu07t1q92kU97H9klYL3l913S/uVhYa9p9SJH79iWhkFno4B1hxYNtTB7sPeWP9+koqkXFcYmzNO+58I9zMwxqQ+1E3j/kZNSdZke36nhzpnr00+AgLX19gSsrTelRQQQQACBKAgEH7bOK7lurCe5itSVHIVrRWGEdIEAAmYE/l+oeplcu3wy4CUZsxaSXCUbSq4Sz0iOYvp/ei9gI5yAAAKaAMEyFgICCCCAgJcFeA56ufrMHQEEEECAgDVrAIHoCRCwjp61U3uyOmB96Mhxie0zXFRoVO8Y1qezDHixre4OwCqYOeO9j7QddsM93hzaW3q0a6rbz9Y/dkuTjn1FBU6tOIyCwKGGbpPG5faAtdqtXO3crHaiTnmo3XkXzxgtd5cr7bdEKkTaqvsg3R1676t6t7w3ebgWEI3WEUqt//n3sDaHZT+uD3uYNxUpKB+9M1burVTepy314kK3AfEy+/1Pw+5HNRDbqpGMH9JbN8wdzftLjcVJAWurQu5q3r07tdR2Jc4SE5OqplZ+j6qG1fdofFyPVP3YIWC9968D0rJbnOkdo40WftJu0l3bNNF9Zqhr/d3f9WpVlcTERG1X8lCONs89KROH99F9See7VeukYduXw375Qo1LfT8snDIi4O7z6txvflgr9Zt29ZmO0fM7lLlzjXsFCFhbX1sC1tab0iICCCCAQJQFCFtHGZzuEAhTgFB1mIBcjoBFAgTLLIKkGQQQQAABRwrwHHRk2Rg0AggggIBFAgSsLYKkGQRMCBCwNoHk8VPCDVirMN/pM+fkzLnzWkh0wjsL5edft+mqqhDbknfGyEP336v7+ebtO6Vpp/66weeKd5aRYX07yYO1qmlBNBUY/f7HnyVu9FTZtG2HT3tqd91F00ZL+bK3+nymdjzu9do4n3+vds+dMrhXR7mv2t2SN3cuLWingnP/Hjkm8z/4UkZNnC3HT572ua5hg3oyc1yc5MuT2+ezUEK3KRtxe8Ba7eLbvMsAWb1+cyq7h2vfqwWkCxXI5/cO/XPvX9p62bB5u885jz98v8ydMFS3JpG65UOp9cwFH0v73sN8hqTulQEvtpPnmzwhRQrl19ai2rF7/z//yuTZi3R37VaNTB3dXws/pz2U0ZPP95SDh46m+ih/3tzSr1sbadbwUbmxUIHkHXxPnT4rq9b9KkPGTdO9n43C3NG8v9RknBKw9vcyQVJBWjd5XF7u1ErbGTxTpoyiXiBY8uVyGTpuuu5u1/5qoGrcuscg+XblOp91UL9ODe0FlxpV7pKYzJlFfX+fPH1Gq7W/79K691XRdrEuWqRQcnvpHbBWln2GvSUTZ/1P93Yue1sJ6dvteXnm0brad4DaCXr3/n9kwsyFMmfRZ7qBZfUyxpy3hkidmpV12zS6v5MuSLqfWjV+XLtvr11LlF+2/CEDR0+WpSvW6Larnm3vJ4wUNeaUh9EO/U/8p7a80rmVVL7rDsmZI7t2mZqj+j6dOvcDSZj7ge4c9cLyeoP6/c+98t/YfvLb9j9Tfdz4iYdkxpg4yZM7Z6S+RmnXJQIErK0vJAFr601pEQEEEEAgHQUIW6cjPl0jYCBAqJrlgYD9BAiW2a8mjAgBBBBAIHoCPAejZ01PCCCAAAL2EyBgbb+aMCL3ChCwdm9trZqZUcDaqj6S2jHa9VYF0VSYU4Ul0x7VK1eQWeMHa8HDtIfRjrBxPdtrgemMGTMkX3b+wkV5MW6MtlN2ykPtmKxCbpUqlNWdtgoiLvjoa+nUd4RPcE2FYb+cP0FqVavoc20ooduUjUQ6YJ12wGbDqlatjTUbfpP6zbr6mBqtlaS+VSC/cfu+snPPfp/hmLneqjkktRNsrc+cPS9d+4+SuYu/8BnKqAHdpXdsy+TAc8oTVPC2Xa9hsuTLZT7Xvdr9BVG7zKZc8+qkdxd9Ls+/ONjn/Mkj+0mn1s/63bXX6P7S28022veXmlAoa9Yo7PxI3ZpaoLhAvjx+l8j8D7/Udk9Oe/gLy6rzjHYjfq13R+nT9XmfHcHV985Xy36S5zr10w3M9uzYXNRaUWHppMPf7sNG36Pq2g+/+F6ebd/HZ06BdpMPdt1b8Z1jZKlerpg0oq/u7vXqhZn3lnwlXV4dpevZ5MmHJSG+f9Avy6g5KV/Vb5W7y/kYBtqpfunCSfKfB6qnuu7IsRPayydpg/K1q1fSXj655abCuutTBa3HJsyTfsMnBLU+037H6P11AKP1bfX3Ke05W4CAtfX1I2BtvSktIoAAAgjYRICwtU0KwTA8K0Co2rOlZ+IOESBY5pBCMUwEEEAAgYgI8ByMCCuNIoAAAgg4RICAtUMKxTBdIUDA2hVljOgkohWwDhTu27P/gDTr0l/WbtziM98PZsRLo8ce9OvgLxiot/Oqv/neVe52+V/CKLnj9pJ++1G7Zqtw9t8HD0vViuW0IF2p4jdLqWJFJXeuHLoh1XDDh24PWPsL/g59pZOogLzRYWTjhIC1mpsK+v57+Jhs27Fbtu7YLb/89rv2b5NG9pWbb9QPUKrrRk6YJf1HTvLh8TdvfyFktWOv2jnZ6FC7bKsXEtRuuep/6h65vWQxLYCsdlpOeUT7/lJ9OyFgrV4giYufotUt7VGvVlVtt3V/9b50+bL0Gfa2vD1zoc+191W9Wwvbqt2Xkw4VIj5x6ozs3vePqJcQ1HeQepHh+f8+IW2bPuU3TG+0I/yqj2fqvkCi+gz3Oy7Y+hmF41UAeMGU4bov4yT5GAWQ1csyCyaPEBXSTnsE2sF63sRh0qJRA7+3kr/d6tUFetf668/M7v5qF/OOfYZLhhtu0ILfyuXWEjdLsaJFkne8NrrnjYxXfDhNHqihv8t3RP9jhcYdJUDA2vpyEbC23pQWEUAAAQRsKEDY2oZFYUiuFCBU7cqyMimXChAsc2lhmRYCCCCAgCkBnoOmmDgJAQQQQMClAgSsXVpYpmVLAQLWtiyLrQYVjYC10c6eSRifLP1Bnm7Ty8dGLySd9qQDh45Ii64DZfnqDT7Xpw2DGc232TOPSP8ebeXOMqUkQ4b/t+t1OAULN3zo5oC12p13yLjpMmTsNB/iQGFFdYEbAtahri1/Oyi3b/6MvDXsZcmeLWuqpv2FWFXwcljfTvJw7eo+uyeHMrZo319qjMEGdNU10d7B2ug7auzgnqJ2otb57+PkEqgXEaa8u1gLt99drrRUuOM2LeReqEBeU4FZM7U0qp1RqDbc77hg67f1j93SpGNfUburpz3MWKprjHaU7tGuqcTH9ZAsMTGpmjeapwo9v/v2ULmpSEG/1P5261cXjHutl7YGUh5G/alz1ThVsN5o3Zipu79z/NVl6uj+ol7k4EDASICAtfXrg4C19aa0iAACCCBgcwHC1jYvEMNznAChaseVjAEjoAkQLGMhIIAAAgh4WYDnoJerz9wRQAABBAhYswYQiJ4AAevoWTu1p0gGrNVuoF2ebyK9O7WUQgXy+SUyCtp2adNEVGgua5bUYbeUjV28dFl6Dxkvk2cv8ukjbXDt/IWL2i7Uakdef4cKhKsdsx+6v5rcWebWsIKn4YYP3RywDneXVK8FrC9fuSI7du2XJV8uE7Ub7r6/D/os4Ufq1pT5k17XdpdOefjbKTzpHBXUfKr+A/LEf2prO7Pnz5s7pOBmtO8vNf5gA7rqmmgHrI3Ctem5I7D67j1+8rT2ssL0+Uvks29W6n4tGr3wEO53XLD18/dyQelSxWXxjNFaAD3QoeY9/K13tF3F0x56u4KrcwIFnkcN6C4xmTP77droer0d+48cOyHNuwyQb1eu89vmQ/ffK88+/qCoF5FuK3mLYf+BTNJ+7u87Y3DvjjK4V4eQvh+CHQPnO1eAgLX1tSNgbb0pLSKAAAIIOEiAsLWDisVQbSVAqNpW5WAwCIQkQLAsJDYuQgABBBBwiQDPQZcUkmkggAACCIQkQMA6JDYuQiAkAQLWIbF56iKrA9YqVF2r2j3SsEFdeebRulK4YP6AnkahTL3gmV6D/kJ6aqfPtMG3hLkfSqe+IwKOK+mEOjUriwqyqfDqPRXKBBViCzd86OaAtdHaW/XxTKlVraJhjdwesD577rwW6ly9frOsXPuLfLdynRaGNTr8Baw3b98pjdv3lZ179pta92VvKyEP1b5XHnuwltxX7W7Jlye3qevUSdG8v1R/wQZ01TXRDli//8lSadqpv4+h2kH8/YSRoryjcVy9ek3+PXJMNv72u6xa96t8+8Na+WXLHwG7tkvAWr1k0G/4BBk/7T2fMT/+8P0yd8JQ02v1mx/WSv2mXX3aUc+wpQsmSY0qd6X6LNiAdNqG/9z7l7YGNmze7tOn3nPu2rVELQA+csKsgPVRJyQ9ex+pW0Pq16khZW4tIZkyZTR1rd5J/oLsavfq8UN6h/XiUciD4kLHCBCwtr5UBKytN6VFBBBAAAGHChC2dmjhGHbUBAhVR42ajhCIigDBsqgw0wkCCCCAgE0FeA7atDAMCwEEEEAgKgIErKPCTCcIaAIErFkIgQSsDFirXW8HvtReOrV+NqjwlZVjSDvf9s2fkbeGvSzZs2VN/mjvXwekZbc4bdfWYA81x6cfqSsdWj4j1StVkAwZMhg2QcDaP8+BQ0ekRdeBsnz1hlQnmQ2dui1gnZiYKNt27BEVxv3821Wmgq9pdRs/8ZDMGBMneXLnTPXRpcuXZcCoyTJ26rxgl7x2vnrBoG2zp+TpR+pIjuzZDNuI5v2lBuKEgLW/0LnaeVjtOF60SKGQ6mLmotNnzskX3/8oH37xvamQvl6bH88ep+1wrneE+x0XTP3OnD0vXfuPkrmLv/AZSrDBX6OXDhZOHSHPPVU/VR/hztPoOefvRaL1m7ZJ4w59dXerD1R7tSt9o8fqSYcWDeWO20sGveO0v+9Xf98xgcbD594SIGBtfb0JWFtvSosIIIAAAi4QIGztgiIyBUsECFVbwkgjCNhSgGCZLcvCoBBAAAEEoiTAczBK0HSDAAIIIGBLAQLWtiwLg3KpAAFrlxbWwmkZhb7S7oardtTdvf8fmfruBzJlzmK/o2jYoJ6MH9JLVMDLzOEvaGvm2kDn+NvR96OvlstLg8aGFFxL6vOJ/9SWIS/HSqUKZf2G18IN5bl5B2t/NmYD1ka2/uoeaL2E83motVbB6u9/XC9Dx03XdqoO5zAKme7e94907jdSlq5YE3IXaqflQb06yLOPPyhZYmL8thOt+0sNIJiAbtKAo72DdShjDLlI/3fhkWMn5M3pC2Tqu4sD7nweqC+jHeVDXfdJfQZjE0pI2d/cgh13sOen7TeUsatdrKfN+1D6Dn9bVLg81KN1k8e1Z1XJYkVNN+Hv2ZMe362mB82JthEgYG19KQhYW29KiwgggAACLhMgbO2ygjKdgAKEqgMScQICrhAgWOaKMjIJBBBAAIEQBXgOhgjHZQgggAACrhAgYO2KMjIJhwgQsHZIodJxmMEErJOGqQKh7y35Srq8Ospv6KtWtYoyc9wgUYHMQIdRcC3QtYE+9xcGu379uny9/CctZK36D/XIlTO7TB7ZT5o3fFR3N+twQ3kErP1XRgVIm3cZIN+uXOdzUpW7y4nahfb2ksVCLW3Q14VSa7Wz9LiE+dJ/5KSg+9O7INAuvvv+Pig9B4+TJV8uC6u/zs83ltEDeoha/3pHtO4v1XcwAd2ksbo9YL3l913S/uVhsnbjlrDqnHQxAWvRnhPPxb4qm7bt8DGdN3GYtGjUwNA6lIC1avDq1Wsy/8Mvpddr48IKyqsXnt4ZN0jq1apqajdrAtaW3DqebYSAtfWlJ2BtvSktIoAAAgi4WICwtYuL6/GpEar2+AJg+p4UIFjmybIzaQQQQACB/xPgOchSQAABBBDwsgABay9Xn7lHW4CAdbTFnddfKAFrNUsV+hqbME/6DZ/gd9JPP1JHEuIHSJFC+Q1hVOhTBWVXr99sOWCg3TZPnzmnhdemvLtYftv+Z0j9q+DanLeGSJ2alX2uDzeUR8Daf0nOX7goL8aNkRnvfaR70tKFk+Q/D1QPqaZHj5+U3kPGS/myt8kTD98vZW4tIZkyZTRsK9haqxCyGnvHV4YHHGP+vLnlodr3ykP33yt176siazb8Jm1ees3nukAB66R7d8WaDdruxp99szJg3/5OGDWgu/SObWnoEun7S42NgHXqCv3z72Fp1X2QLPtxfcDaqt33H613n7amShUvKt0HvKG9eJL2IGCdfgHrpFocPHRUZr3/iUybtyTkv7xQvXIFmTV+sJQrXSrg2iBgHZCIEwwECFhbvzwIWFtvSosIIIAAAh4RIGztkUK7eJqEql1cXKaGgAkBgmUmkDgFAQQQQMC1AjwHXVtaJoYAAgggYEKAgLUJJE5BwCIBAtYWQbq4mVAD1orkxKnTEttnhCz69Fu/Ql3aNJH4gT0kR/Zsfs8JdWdPK8uiAuPbd+6R/336jTafYHe1bvPckzJxeB+feQYbuk07JwLWxlUeP+09bWdXvWNYn84y4MW2pnZr1XNv0KJ78g7tKkT/VP0HpNFjD0q1e+7UXc/B1nrP/gPSrEt/v7sM165eSZo984g0ePA+ueWmIqmCzOqlgJbd4nymbSZgnXSRCngfOnJcPlm6Qv73ybfy3SrfncCN9FVIc9G00VK+7K0Bb8VI3V+qYycErBPmfiid+o7wcap4Zxl5P2GkqZ3+AyKLiKqpuifUywF6hwrqN2v4qDR+/CFR4eo8uXMmn2b0PWyXgLXRSxXBrH016c3bd0rj9n1l5579PlRq9/vnnqqf6t+Dvb/TNmrVc+7ylSuy7pet8r9PvpFPlv4QdNg6rmd7Gdyro2TMmMFwSRGwNnPHcY4/AQLW1q8NAtbWm9IiAggggIAHBQhbe7DoDp0yoWqHFo5hIxABAYJlEUClSQQQQAABxwjwHHRMqRgoAggggEAEBAhYRwCVJhHwI0DAmqURSCCcgLVqe/2mbdK4Q1+/Ia9cObPL1NH9taCozve/NrxTp89K+5eHyeLPvvMZ7uDeHWVwrw4hhWQDzd3f50nB03W/btV2c/1u5bqAgWt/QclwQ3k/rNkodRp11B3qvInDpEWjBrqf+QvgBgp0hhJWDdXZn02gMabsT4UAUwahU35Wr1ZVmTthqNx8Y+GghqjCwIPHJMiIt9/Rvc5fcDvYWs9c8LG07z1Mt48Rr3aVXrEtJEtMjO7n/gK7wYZMUzZ+7vwF+XXrDvl+1c9a2HrFTxsDuhmtwWjcX6qPUNbshYuXpOfgsaIc0x6Bdr1X5wd7f73/yVJp2qm/T1+lSxWXxTNGy93lSge0NnOC2uW4dY9B8u1K37C82r14xpg4qXDHbbpNHTh0RFp0HSjLV2/w+dwuAetr1xIlLn6KjJwwy2eMjz98v3a/58uT2wyVfPPDWqnftKvPueqZtXTBJKlR5a5UnwV7f6dt2KqAdcp2ExMT5a8Dh0R9Dy5dsUarnfqLEEaH2rFcORXMn9fwPH8B62CdTRWDk1wnQMDa+pISsLbelBYRQAABBDwuQNja4wvAhtMnVG3DojAkBGwgQLDMBkVgCAgggAAC6SbAczDd6OkYAQQQQMAGAgSsbVAEhuAZAQLWnil1yBMNN2CtAm/jEuZJn9ff9jsGFeybNX6wqB1v9Q61I2e/4RO0nVfTHq0aPyaTRvQTFXpLryMpcP35d6vkjcnv+g1b64UQjUJ5Q1/pJGo3UaPDX5BTXeP0gLW/tXdXudvlfwmj5I7bSwYsudpFvV2vYbLky2W656rd03vFtgy4W2vKi41eGlDr8Mv5E6RWtYo+/QUTwLx46bK2y/Dk2Yt82mnYoJ7MHBdnGBT1FyoOJ2CddiAqcL1m42/y5vQF8tk3K3V9zazhQEUM5/5SbTshYL1mw29Sv1nX5B3RU5p8PHuctju60XHk2Alp22uoqECt2nn6zjK3igpnlypeVPLmzpW8u7lRPx/MiNd2YPd3GK1fuwSs1dj9vVwQTFhdrbnhb72jhbXTHnXvqyLzJ70uRYsUSvVRMPe3nnEkAtZp+0kKXC/46GvtWXX85GmfoZh9gcVfwNrK75hA3w187lwBAtbW146AtfWmtIgAAggggECyAGFrFkN6CRCqTi95+kXAOQIEy5xTK0aKAAIIIGC9AM9B601pEQEEEEDAOQIErJ1TK0bqfAEC1s6vYaRnEG7AWo3v38PHtB2oP/92ld/hdnvhvxIf96Jky5pF9xx/QWIVyl40bbSUL3urJRRqd+KTp8/Inv0HZOee/bJtx275ZcsfWph10oi+kid3TsN+Pvzie3m2fR/dc4INWAfanVuFAIeMmy5Dxk7T7c/pAWujncuNAp1pMYxC6CVuuUmmjHpVHq1X09Qu6IeOHJfYPsPl469X6JobhZ+DCWAazT1QgNHohQS9Ue9eWgAAIABJREFUa9U6On3mnKgdinfv+0e2qjX/2++y/59/5e3XX5Eqd5czXPPqXmnWpb+s3bjF57y0Aeto319qQE4IWBvtDv1q9xdE7YqeMWMGv3XYsHm7PPl8T1E7VKc91G7nqg11fLL0B3m6TS/T308pTzTqw04Ba6Nxjh3cU3p2bB7wXv/n38PSqvsgWfbjeh8rdf2oAd0lJnPmVJ8Fc3/rFSDYgLW6z0+cPCN/7v1Lfv9zr/Zij3r5Q92vw/t18Rlfyj7VPa9eWFIvcaQ9zAas/X2vmlmvljysacTRAgSsrS8fAWvrTWkRAQQQQAABXQHC1iyMSAsQqo60MO0j4C4BgmXuqiezQQABBBAIToDnYHBenI0AAggg4C4BAtbuqiezsbcAAWt718cOo7MiYK3msXTFGmncoY/uDq3qc7Xz7+Lp8VK/Tg3daW/9Y7c06dhXtu/c4/O5Ch/269YmeZfWtCd8t2qd9H19gpQuVUwq3XWHlC9zq9xa4mZtB9LcuXIkh+3Ubttqx9KRE2b59HFTkYKycMoIeaBGZcOy+NvVU81v6YJJUqPKXamuNwpWBtqde+9fB6RltzhRfeodTg9YG+3ivHThJPnPA9VN3SJqd9/YPiP87mKdP29uGTP4JWne8FHJEhPjt00VPn556Jt+21EXGpkHE8BUO2+rgKfeSwmB1sXm7Tulaaf+uveKXsD6mx/WSv2mXXXnrcK5fbo8bxjuNfqOSBnuTY/7S03KCQFrI5tAgVejsKz63lnyzhh56P57tfq+/8lSbW3oHUb3lArGDx6TICPefkf3WjsFrI1eTlCWC6YM9/vXEtTk1FzHJszT/mpC2iOtZ8rPg7m/9RCDCVifOXteuvYfJXMXf+HTVKD1knSBv4C0CmgvnDpCbi9ZzPD71d9O4eNe66WF2DkQMBIgYG39+iBgbb0pLSKAAAIIIBBQgLB1QCJOMClAqNokFKchgICPAMEyFgUCCCCAgJcFeA56ufrMHQEEEECAgDVrAIHoCRCwjp61U3uyKmAdKKCnfJ6q/4BMHzNQChfM78N16fJl6TPsbXl75kKfz4x2IVY783YfGC/vLvrc5zoVmv7onbFyb6XyyZ+pMHbDti/rBsGffqSOJMQPkCKFfMenGlBzHDVxthbSTnvcV/VueW/ycFFjTXkYhQGNQufHT57WAoDT5y/xu7QiEbBW4fP+Iyf59Gk2lBfsfeCvvzlvDZHWTR433dyKnzbK8y8Oln1/H/R7zSN1a0qXNk2kZpW7pEC+PJIhQwZRu8SqnZzf+/AreWvGAlHu/o4mTz4sCfH9td3O9Y5gApgXLl6SnoPHigoxpj3Uup03YZg8eH81n8/UzrtdXx3td4dtvYC12vW4dY9B8u3Kdbr3lrKuU9P/iwXfr/pZWnaP0909+ePZ47T7OumI9v2l+nVCwFqN84c1G6Vp5/66jh1aNNR2TVYvA6Q9Nv72u/aihd7LJ2l3VPf3AohqU/UxfkgvyZE9W6ouEhMT5b0lX0mXV0f5fUHGKGCtdlhWoW61s3TaI2UA3999FUr9jHatf/zh+7W/RpD2u1j1H2iu6jtnwut9tBdz0h7B3N96cw0mYK2un7ngY2nfe5gum/oeix/Yw6eWSSefO39Beg4ep/v8aPzEQzJjTFzAv9bgry5p73nTX9Kc6CkBAtbWl5uAtfWmtIgAAggggEBQAoStg+LiZBEhVM0yQAABKwQIllmhSBsIIIAAAk4V4Dno1MoxbgQQQAABKwQIWFuhSBsImBMgYG3OyctnWRWwVoYq/Kl25V3243q/pG8O7S092jVN3lU65YlGAUQVPFS7WLdq/LgWgFY7wqrAoQroLvjoa93+2jz3pEwc3idVCE3tHKx2O1706be611S7504Z3Kuj3H/vPckBNBWG3blnv0x99wOZMmex7nVxPdtr12XMmCHV50Y716oTVQjw9b6dRQUlVfBR9aVCksPfminLV28wXJqRCFgbBRdVOLPz84212u3YtV/Onjvvs2N3sPfSJ0t/kKfb9PK5bOgrnUSZmj2MdqU124bReapO8ye9LrWqVfR7WrABzPHT3pNer43Tba/sbSVEhVMbPFhLsmXNImrdfvTVchk9cY6ofvwdeuFJtQOyenHhpUFjdS9LurdaPNtAbixUQAueK89/jxyTDz7/TtQ49YLrD9e+V959e6ioQHjSEe37S/UbSkDXKOCugviq1iqE7+/wd58Y7S5s1Kfq54n/1JZXOrfS7qmYzJlFhWSXfLlMXn9zpt+azxgbJ+2aPZ08TFWn5l0GyOr1m3WH3rFlI3m1exvteyfpO3TM1Lm6L6ikbMAoVGv0DKlXq6oWdr7j9pLaywubtu6QiuXLpLINpX6B1pm6f/p2e16eebSu9kKEWs+79/8jE2YulDmLPtMNkiuTxdNHS9WKd+raBXt/p20k2IB1oL9gkLReqt1TXvuOUIf6Tv516w7tfvf3jEu7ZvQm62+tli5VXBbPGC13lyttxdcqbbhYgIC19cUlYG29KS0igAACCCAQsgBh65DpXH8hoWrXl5gJIhB1AYJlUSenQwQQQAABGwnwHLRRMRgKAggggEDUBQhYR52cDj0sQMDaw8U3OXUrA9aqy6Ur1kjjDn387oSqAogLpgyXcqVL+YzQzC7YJqelBQj9heVUgLlF14GGux2b7UedZzQn9bnRrr7B9JP23EgErL/5Ya3Ub9rV1LCCDUHrNbp5+05p3L6vFmBPebRv/oy8NexlyZ4tq6mxqJMiFbJWO41PHd1fmj3ziO6LAUkDDDaAue6XrfJM2966OxqbnnSaE/2Fg48cO6G9WKACu1YdcycMlRaNGviYRPv+CiWgmx4Ba+WuXgp5oecQWbtxS9hl0NtR3egvAYTTodF3zZmz56Vr/1Eyd/EXAbvQC6CHUj+rLc3c48He32kxgg1Yq+sXfrxUOr7yut/naUDwNCeo3b3V7tU3Fi5geKm/sT5a7z5R933B/HmD7ZrzPSZAwNr6ghOwtt6UFhFAAAEEELBEgLC1JYyOboRQtaPLx+ARsL0AwTLbl4gBIoAAAghEUIDnYARxaRoBBBBAwPYCBKxtXyIG6CIBAtYuKmaEpmJ1wNpMSLp3p5YyvF8XyRIT4zOrQ0eOS2yf4fLx1ytCnnGgsJza0Vftet2p74iwg2uB+lKTOH3mnHQfGB9wl1i9CVevXEHbgfWrZat9Po5EwDrQDrgpB9GzY3MZNaC7tttuqIfaiVbtev75t6tSNaF2R35v8nApVCBfUE2rgOm0eUtkwKhJYddWdazqO35Ib3m+yROSKVNGw7EEG8A0c6/467Bwwfxy4eJFnzneVe52+V/CKG3H4LSHleHeLm2aSPzAHql2h0/qL9r3VygB3fQKWCujFT9tlOdfHBzWCx7qe2HW+MG6L6qolxaaduqvhbmDPdRu5AcPHfW5bHDvjjK4Vwe/LxgY7caesjHV/qdzxkuVu8sl/3Mo9Uu6WP3Vg46vDDfc1T2QgbrHR7zaTTq1etbwHg/2/k7bbygBaytfGlEvHc15a4jUqVk5EIn8/ude+W9sP/lt+5+pzrXiOz9g55zgCgEC1taXkYC19aa0iAACCCCAgOUChK0tJ7Vtg2cP/yhnDy2XM/8uk2uXTwYcZ8ashSRXyYaSq8QzkqNYg4DncwICCCCQJECwjLWAAAIIIOBlAZ6DXq4+c0cAAQQQIGDNGkAgegIErKNn7dSerA5YK4e9fx2Qlt3iRO1kq3eoQNvi6fFSv04N3c/Vbru9h4w3tSNq2gby580tE4b3kaZP15cMGTL4LYsKgX701XJ5dcTEkMN5KrA27rWe0rBBPcOdjdUgQgm3qt1ep4zuJ9/+sE4GvTHVZy6RCFhfu5Yo8ZPnSP+RkwIu6dhWjbTwcbasWQKe6+8E1V9c/BQZOWFWqlNKlyoui2eMlrvLlQ66bVXbZT+ul34jJsjPv24L+vqkC6rdc6eM6t9d6tWqGrC+6ppQApihvFDwxH9qa+OaueAjUcHWtMcHM+Kl0WMP6s5b7RTe67Xx8tk3K0N26d+jrfTv8YJuuDqp0WjeX6EEdNMzYK1sVq/fLF1fHS2btu0Iug61qlWUhPgBUr7srbrXhhJwV9+br/ftIpUqlJVG7V/xCVmr77iZ4+K0lz30DqO1n/b8VR/PFDWHpCOU+qVsU4WBXxn2VkhruuxtJbR5N3qsnuHzItT7O+U4QwlYq+tVyHr6/CUycPRkOX7ydNDrRV2Q9CypWeVuU9f7+0sGRs8cUw1zkmcECFhbX2oC1tab0iICCCCAAAIRFQg1bJ2zSF3JWbhWRMdG46EJsFN1aG5chQAC4QkQLAvPj6sRQAABBJwtwHPQ2fVj9AgggAAC4QkQsA7Pj6sRCEaAgHUwWt48NxIBayWpdqBu1T3O7y7CKrCXEN/f7w7FaifiDz7/XoaOm246AN3smUfk1e4viNrF1+yhwuBjp86TOYs+M73jsQqIN378YRnUq72ULFbUbFfy14FDWkju3UWfB7ymdZPHZcjLsVr7/gKIkQhYq4GdOXte2wF6wjvvG47zkbo1Zf6k16VAvjwB52N0gr8w38KpI+S5p+qH3Pa58xdk8WffydiEeT47sRo1qtZP59aNRdUgR/ZspvsPJWCtGlehSRUynzx7kWFfKgQ78KX20rFlQ21cCXM/1HZhT3u0ee5JmTi8j9+xK5fZ73+q1VeN2exRu3olGdSrgzxYq2rAMGpSm9G4v0IJ6KZnwDrJRr1Ior57Js9ZZOq7R9W/Z8cWonYPV/+30aFC1l8v/0leGjQ2YI1VYF9916hw9cHDR6VF14GyfPWGVM2r77wl74yRh+6/V7db1Z/amVutx0BrKu33Vij1SzsI9bz47JtVMnrSbFMvVaj5qF3p1V9TMPsdHur9nTTWUAPW6nrlq3YmHz1xjvbXF8weap10at1YXurQLKi/BqBeeEn7kk04L72YHS/nuUeAgLX1tSRgbb0pLSKAAAIIIBA1gVDD1rmK1JUchK2jVie9jtipOl356RwBBER8dv1Q/08iDgQQQAABBLwiQMDaK5VmnggggAACegIErFkXCERPgIB19Kyd2lOkAtYq8DZg1GQtQOjvmPbGAGnf/BnD3YFVEHLtxi2ydMUaWbPxN9m0dUfyLp5q91EVCqx7X1V57KFacstNhU3tNKw3nhOnTsvqnzfLF9//qO02nbIfFca7p3xZLbitQqYqYFq4YP6QSp6YmCjbduyR9z9ZKt+uXCdrNvymtWM0l2gHrNV41DjX/rJFFn60VFau/UV+2fJH8jjLlS4ldWpWFhWwVuM22incDNKBQ0d0Q50qLD+sT2fJmNH/TuRm2lc7wO7YvU++W/WzrP55kxYATZqPul6tITWP+6pV1HbWVbtmZ8qU0UzTqc4JJ4Cp/n/jaife95Z8pQVVf936hxa6VbukV69cQdsl/bEHa0nuXDmS+9ywebs8+XxPn92GbypSUD56Z6zcW6m84RwuX7kiv27ZoQVxVa3/3PNXqnBsSpeHa98bVq0jeX+FEtC1Q8A6qTiHjx6X739cr9VBfe8krc2U3zuq9uq7J2X9zSxQFab/9JuV8vFXy7V2k8LPNarcJaqm6gWGO8uUSr6H1ZroN3yC7s7oPdo1lfi4HpIlJsZv1+p58sHn32l9qntNvTwQaB6h1M/fAJLudfW8ULvYb9q2U/b9fVA7Xa3niuXLaN9boXyHh3N/q/7DCVgnzVd9T6hd75f/tEFbL7v2/p38XaHOUYFqNceqFe+UOjUqh7Rm1PdO1/6jfP6CRKvGj8mkEf20enIgEEiAgHUgoeA/J2AdvBlXIIAAAgggYEuBUMPW7GwdvXISqo6eNT0hgEBgAYJlgY04AwEEEEDAvQI8B91bW2aGAAIIIBBYgIB1YCPOQMAqAQLWVknSDgIIRErg2rVEGTJumrZTd8rj0Xr3ydwJQ6Vg/ryR6pp2EUAAAQRSCKhAevMuA2T1+s2pXGaMjZN2zZ7GCgFTAgSsTTEFdRIB66C4OBkBBBBAAAFnCIQatmZna+vrS6jaelNaRAABawQIllnjSCsIIIAAAs4U4DnozLoxagQQQAABawQIWFvjSCsImBEgYG1GiXMQQCC9Bb5btU4atn1Z27U56VA7MX86Z7xUubtceg+P/hFAAAFPCHyy9Ad5uk2vVHOteGcZeT9hpLaLPQcCZgQIWJtRCu4cAtbBeXE2AggggAACjhMINWzNztahl5pQdeh2XIkAAtETIFgWPWt6QgABBBCwnwDPQfvVhBEhgAACCERPgIB19KzpCQEC1qwBBBBwgsCJU6elXa9hsuTLZamGO+61XtKzY3MnTIExIoAAAo4WUH9NIC5+ioycMCvVPHq0ayrxcT0kS0yMo+fH4KMnQMDaemsC1tab0iICCCCAAAK2FQg1bM3O1oFLSqg6sBFnIICAvQQIltmrHowGAQQQQCC6AjwHo+tNbwgggAAC9hIgYG2vejAadwsQsHZ3fZkdAm4SmP/hl9KyW1yqKTV+4iGZMSZO8uTO6aapMhcEEEDAdgIHDh2RFl0HyvLVG5LHpv6SwEfvjJV7K5W33XgZkH0FCFhbXxsC1tab0iICCCCAAAKOEAg1bM3O1v+vvISqHbHUGSQCCPgRIFjG0kAAAQQQ8LIAz0EvV5+5I4AAAggQsGYNIBA9AQLW0bOmJwQQCE/g4KGj0rrHIPl25brkhgj3hWfK1QgggIBZgQ+/+F6ebd8n1emxrRrJ+CG9JVvWLGab4TwEhIC19YuAgLX1prSIAAIIIICA4wQIW5svGaFq81aciQAC9hYgWGbv+jA6BBBAAIHICvAcjKwvrSOAAAII2FuAgLW968Po3CVAwNpd9WQ2CLhdQG8X67ie7WVwr46SMWMGt0+f+SGAAALpInDu/AXpNiBeZr//aXL/6gWXhVNGyAM1KqfLmOjUuQIErK2vHQFr601pEQEEEEAAAUcLELb2LR+hakcvaQaPAAJ+BAiWsTQQQAABBLwswHPQy9Vn7ggggAACBKxZAwhET4CAdfSs6QkBBMIXOHz0uHR4+XX5ZOkPyY1Vr1xBFkweIaWKFw2/A1pAAAEEEPARWPfLVnmmbW9Rf0kg6WD3ahZKqAIErEOV838dAWvrTWkRAQQQQAAB1wh4OWxNqNo1y5iJIICAHwGCZSwNBBBAAAEvC/Ac9HL1mTsCCCCAAAFr1gAC0RMgYB09a3pCAAFrBD7+eoW06h4nZ86eT25wxtg4adfsaWs6oBUEEEAAgWSBa9cSZci4aTJs/Izkfytxy02yePpoqVrxTqQQCFqAgHXQZAEvIGAdkIgTEEAAAQQQQEAJeCFsTaiatY4AAl4SIFjmpWozVwQQQACBtAI8B1kTCCCAAAJeFiBg7eXqM/doCxCwjrY4/SGAQLgCFy5ekj7D3pKJs/6X3NRT9R+Q6WMGSuGC+cNtnusRQAABBFII/LFrnzwX+6ps2rYj+V/jB/aQXrEtJWPGDFghELQAAeugyQJeQMA6IBEnIIAAAggggEBaATeFrQlVs74RQMCrAgTLvFp55o0AAgggoAR4DrIOEEAAAQS8LEDA2svVZ+7RFiBgHW1x+kMAASsEtu/cI806D0gV+PtgRrw0euxBK5qnDQQQQAABEbl+/bqMn/ae9B4yPtnj8Yfvlxlj4uTGwgUwQiAkAQLWIbEZXkTA2npTWkQAAQQQQMBTAk4MWxOq9tQSZbIIIOBHgGAZSwMBBBBAwMsCPAe9XH3mjgACCCBAwJo1gED0BAhYR8+anhBAAAEEEEAAAQQQ8LoAAWvrVwABa+tNaREBBBBAAAHPCtg5bE2o2rPLkokjgIAfAYJlLA0EEEAAAS8L8Bz0cvWZOwIIIIAAAWvWAALREyBgHT1rekIAAQQQQAABBBBAwOsCBKytXwEErK03pUUEEEAAAQQQEBE7hK0JVbMUEUAAAf8CBMtYHQgggAACXhbgOejl6jN3BBBAAAEC1qwBBKInQMA6etb0hAACCCCAAAIIIICA1wUIWFu/AghYW29KiwgggAACCCCQRiCaYWtC1Sw/BBBAwJwAwTJzTpyFAAIIIOBOAZ6D7qwrs0IAAQQQMCdAwNqcE2chYIUAAWsrFGkDAQQQQAABBBBAAAEEzAgQsDajFNw5BKyD8+JsBBBAAAEEEAhTIBJha0LVYRaFyxFAwJMCBMs8WXYmjQACCCDwfwI8B1kKCCCAAAJeFiBg7eXqM/doCxCwjrY4/SGAAAIIIIAAAggg4F0BAtbW156AtfWmtIgAAggggAACJgXCCVurLs4eWi5n/l0m1y6fDNhjxqyFJFfJhpKrxDOSo1iDgOdzAgIIIOB2AYJlbq8w80MAAQQQMBLgOcj6QAABBBDwsgABay9Xn7lHW4CAdbTF6Q8BBBBAAAEEEEAAAe8KELC2vvYErK03pUUEEEAAAQQQCEEg2LC1mS4IVZtR4hwEEPCqAMEyr1aeeSOAAAIIKAGeg6wDBBBAAAEvCxCw9nL1mXu0BQhYR1uc/hBAAAEEEEAAAQQQ8K4AAWvra0/A2npTWkQAAQQQQACBMAXCCVsTqg4Tn8sRQMAzAgTLPFNqJooAAgggoCPAc5BlgQACCCDgZQEC1l6uPnOPtgAB62iL0x8CCCCAAAIIIIAAAt4VIGBtfe0JWFtvSosIIIAAAgggYKGAmbA1oWoLwWkKAQQ8I0CwzDOlZqIIIIAAAjoCPAdZFggggAACXhYgYO3l6jP3aAsQsI62OP0hgAACCCCAAAIIIOBdAQLW1teegLX1prSIAAIIIIAAAhESSBm2Vl3kKtlQcpV4RnIUaxChHmkWAQQQcK8AwTL31paZIYAAAggEFuA5GNiIMxBAAAEE3CtAwNq9tWVm9hMgYG2/mjAiBBBAAAEEEEAAAQTcKkDA2vrKErC23pQWEUAAAQQQQAABBBBAAAHbCxAss32JGCACCCCAQAQFeA5GEJemEUAAAQRsL0DA2vYlYoAuEiBg7aJiMhUEEEAAAQQQQAABBGwuQMDa+gIRsLbelBYRQAABBBBAAAEEEEAAAdsLECyzfYkYIAIIIICAH4HvvvtONm3aJJ07d5Zs2bKF5GTVc/DgwYPyxhtvSN++faVIkSIhjYWLEEAAAQQQiLYAAetoi9OflwUIWHu5+swdAQQQQAABBBBAAIHoChCwtt6bgLX1prSIAAIIIIAAAggggAACCNhewKpgme0nygARQAABBFwnkJiYKGXLlpUzZ85oweZOnToFHbQO9zl4+PBhGTFihCQkJEirVq1k2rRprnNmQggggAAC7hUgYO3e2jIz+wkQsLZfTRgRAggggAACCCCAAAJuFSBgbX1lCVhbb0qLCCCAAAIIIIAAAggggIDtBcINltl+ggwQAQQQQMDVAgsWLJDmzZtrc7zpppuSg9ZZsmQxNe9Qn4MqWD1q1CiZOnWqXLhwQTJlyiS7du2S4sWLm+qXkxBAAAEEELCDAAFrO1SBMXhFgIC1VyrNPBFAAAEEEEAAAQQQSH8BAtbW14CAtfWmtIgAAggggAACCCCAAAII2F4g1GCZ7SfGABFAAAEEPCNQrlw5+f3335Pnq4LW/fv3l27dugU0CPY5qILVI0eO1ILVFy9eTG6/Y8eO2i7WHAgggAACCDhJgIC1k6rFWJ0uQMDa6RVk/AgggAACCCCAAAIIOEeAgLX1tSJgbb0pLSKAAAIIIIAAAggggAACthcINlhm+wkxQAQQQAABzwm899570qJFC59533jjjTJw4EDp2rWrXxOzz8GjR49KfHy8TJgwIVWwOqnhvXv3SokSJTxnz4QRQAABBJwtQMDa2fVj9M4SIGDtrHoxWgQQQAABBBBAAAEEnCxAwNr66hGwtt6UFhFAAAEEEEAAAQQQQAAB2wuYDZbZfiIMEAEEEEDAswKJiYlStmxZ+fPPP3UNbrnlFm1H63bt2klMTEyqcwI9B1Ww+o033pBJkybJuXPndNvv0KGDTJs2zbP+TBwBBBBAwLkCBKydWztG7jwBAtbOqxkjRgABBBBAAAEEEEDAqQIErK2vHAFr601pEQEEEEAAAQQQQAABBBCwvUCgYJntJ8AAEUAAAQQQEBF/u1inxFFBa7WjdWxsbPI/+3sOHj9+XEaNGiUTJ06UCxcuGBrv27dPihcvTh0QQAABBBBwnAABa8eVjAE7WICAtYOLx9ARQAABBBBAAAEEEHCYAAFr6wtGwNp6U1pEAAEEEEAAAQQQQAABBGwvQMDa9iVigAgggAACJgQC7WKdsokSJUrIgAEDpE2bNj47Wh87dkzGjBkjEyZMkLNnzwbsmd2rAxJxAgIIIICAjQUIWNu4OAzNdQJpA9aumyATQgABBBBAAAEEEEAAAdsKlOsgN9h2cCL2Htz/wRGwtvMKYmwIIIAAAggggAACCCCAQIQECFhHCJZmEUAAAQSiLjBv3jxp1aqV6X5V0FrtPp3yyJEjh5w7d850G+xebZqKExFAAAEEbChAwNqGRWFIrhUgYO3a0jIxBBBAAAEEEEAAAQRsL0DAOvwSEbAO35AWEEAAAQQQQAABBBBAAAHHCRCwdlzJGDACCCCAgIFA2bJlZceOHVExio2NlalTp0alLzpBAAEEEEAgEgIErCOhSpsI6AsQsGZlIIAAAggggAACCCCAQHoJELAOX56AdfiGtIAAAggggAACCCCAAAIIOE6AgLXjSsaAEUAAAQQMBObOnSutW7eOuFGmTJlk165dUrx48Yj3RQcIIIAAAghESoCAdaRkaRcBXwEC1qwKBBBAAAEEEEAAAQQQSC8BAtbhyxOwDt+QFhBAAAEEEEAAAQQQQAABxwkQsHZcyRgwAggggEAAgTJlysjOnTsj6tSxY0dJSEiIaB80jgACCCCAQKQFCFhHWpj2Efh/AmkD1nYPOFA7BBBAAAEEEEAAAQQQcK6A035/3OChRNeHAAAgAElEQVQAagLWDigSQ0QAAQQQQAABBBBAAAEErBYgYG21KO0hgAACCKS3wJw5c6RNmzYRGwa7V0eMloYRQAABBKIsQMA6yuB052kBpwUcPF0sJo8AAggggAACCCCAgMMFnPb7g4C1wxccw0cAAQQQQAABBBBAAAEE3CpAwNqtlWVeCCCAgLcFbr/9dtm1a1dEEGJjY2Xq1KkRaZtGEUAAAQQQiKYAAetoatOX1wWcFnDwer2YPwIIIIAAAggggAACThZw2u8PAtZOXm2MHQEEEEAAAQQQQAABBBBwsQABaxcXl6khgAACHhaYPXu2vPDCC5YLsHu15aQ0iAACCCCQjgIErNMRn649J+C0gIPnCsSEEUAAAQQQQAABBBBwkYDTfn8QsHbR4mMqCCCAAAIIIIAAAggggICbBAhYu6mazAUBBBBAIEng6tWrctttt8n+/fstRWnfvr1Mnz7d0jZpDAEEEEAAgfQSIGCdXvL060UBpwUcvFgj5owAAggggAACCCCAgFsEnPb7g4C1W1Ye80AAAQQQQAABBBBAAAEEXCZAwNplBWU6CCCAAALJArNmzZK2bdtaJsLu1ZZR0hACCCCAgE0ECFjbpBAMwxMCTgs4eKIoTBIBBBBAAAEEEEAAAZcKOO33BwFrly5EpoUAAggggAACCCCAAAIIOF2AgLXTK8j4EUAAAQT8CVi9izW7V7PWEEAAAQTcJkDA2m0VZT52FnBawMHOlowNAQQQQAABBBBAAAEEjAWc9vuDgDUrGgEEEEAAAQQQQAABBBBAwJYCBKxtWRYGhQACCCBgkcDMmTNFBaPDPdi9OlxBrkcAAQQQsKMAAWs7VoUxuVXAaQEHt9aBeSGAAAIIIIAAAggg4AUBp/3+IGDthVXJHBFAAAEEEEAAAQQQQAABBwoQsHZg0RgyAggggIBpAat2sW7Xrp3MmDHDdL+ciAACCCCAgBMECFg7oUqM0S0CTgs4uMWdeSCAAAIIIIAAAggg4EUBp/3+IGDtxVXKnBFAAAEEEEAAAQQQQAABBwgQsHZAkRgiAggggEBYAioY3aFDh5DbYPfqkOm4EAEEEEDA5gIErG1eIIbnKgGnBRxchc9kEEAAAQQQQAABBBDwmIDTfn8QsPbYAmW6CCCAAAIIIIAAAggggIBTBAhYO6VSjBMBBBBAIFSBcHexZvfqUOW5DgEEEEDA7gIErO1eIcbnJgGnBRzcZM9cEEAAAQQQQAABBBDwmoDTfn8QsPbaCmW+CCCAAAIIIIAAAggggIBDBAhYO6RQDBMBBBBAICyB6dOnS8eOHYNug92rgybjAgQQQAABBwkQsHZQsRiq4wWcFnBwPDgTQAABBBBAAAEEEEDAwwJO+/1BwNrDi5WpI4AAAggggAACCCCAAAJ2FiBgbefqMDYEEEAAAasEQt3Fmt2rraoA7SCAAAII2FGAgLUdq8KY3CrgtICDW+vAvBBAAAEEEEAAAQQQ8IKA035/ELD2wqpkjggggAACCCCAAAIIIICAAwUIWDuwaAwZAQQQQCAkgWnTpklsbKzpa9m92jQVJyKAAAIIOFSAgLVDC8ewHSngtICDI5EZNAIIIIAAAggggAACCGgCTvv9QcCahYsAAggggAACCCCAAAIIIGBLAQLWtiwLg0IAAQQQiIBAsLtYs3t1BIpAkwgggAACthIgYG2rcjAYlws4LeDg8nIwPQQQQAABBBBAAAEEXC3gtN8fBKxdvRyZHAIIIIAAAggggAACCCDgXAEC1s6tHSNHAAEEEAheICEhQTp16hTwQnavDkjECQgggAACLhAgYO2CIjIFxwg4LeDgGFgGigACCCCAAAIIIIAAAj4CTvv9QcCaRYwAAggggAACCCCAAAIIIGBLAQLWtiwLg0IAAQQQiKBA0aJF5eDBg4Y9sHt1BAtA0wgggAACthEgYG2bUjAQDwg4LeDggZIwRQQQQAABBBBAAAEEXCvgtN8fBKxduxSZGAIIIIAAAggggAACCCDgbAEC1s6uH6NHAAEEEAheYOrUqdK5c2fDC/fs2SMlS5YMvnGuQAABBBBAwEECBKwdVCyG6ngBpwUcHA/OBBBAAAEEEEAAAQQQ8LCA035/ELD28GJl6ggggAACCCCAAAIIIICAnQUIWNu5OowNAQQQQCASApcvX9bC0/52sW7btq3MnDkzEl3TJgIIIIAAArYSIGBtq3IwGJcLOC3g4PJyMD0EEEAAAQQQQAABBFwt4LTfHwSsXb0cmRwCCCCAAAIIIIAAAggg4FwBAtbOrR0jRwABBBAIXWDy5MnStWtXnwYyZcoku3btkuLFi4feOFcigAACCCDgEAEC1g4pFMN0hYDTAg6uQGcSCCCAAAIIIIAAAgh4VMBpvz8IWHt0oTJtBBBAAAEEEEAAAQQQQMDuAgSs7V4hxocAAgggECmBm2++WQ4cOJCq+Xbt2smMGTMi1SXtIoAAAgggYCsBAta2KgeDcbmA0wIOLi8H00MAAQQQQAABBBBAwNUCTvv9QcDa1cuRySGAAAIIIIAAAggggAACzhUgYO3c2jFyBBBAAIHwBKZMmSJdunRJ1ciePXukZMmS4TXM1QgggAACCDhEgIC1QwrFMF0h4LSAgyvQmQQCCCCAAAIIIIAAAh4VcNrvDwLWHl2oTBsBBBBAAAEEEEAAAQQQsLsAAWu7V4jxIYAAAghEUqBYsWLy999/a12we3UkpWkbAQQQQMCOAgSs7VgVxuRWAacFHNxaB+aFAAIIIIAAAggggIAXBJz2+4OAtRdWJXNEAAEEEEAAAQQQQAABBBwoQMDagUVjyAgggAAClglMmzZNYmNjJVOmTLJr1y4pXry4ZW3TEAIIIIAAAnYXIGBt9woxPjcJOC3g4CZ75oIAAggggAACCCCAgNcEnPb7g4C111Yo80UAAQQQQAABBBBAAAEEHCJAwNohhYrwMK+c3SdXzuyVK+f2y9Vz/8jVC//KtQuH5drFo3Lt0glJvHJKEq+clcSr5+X6tUtyPfGKyPVrER4VzSOAAAIIIIAAAgiEJHBDRrkhQ2a5IWMWyZApu2TInFMyZM4jGbPkk4xZC0rGbIUlU7YbJVOOmyVzjuKSOVdJyZyzREhdcZGzBQhYO7t+jN5ZAk4LODhLl9EigAACCCCAAAIIIIBASgGn/f4gYM36RQABBBBAAAEEEEAAAQQQsKUAAWtbliVig7p8crtcPL5JLh3fIpdPbpPLp/6Qy6d2/v+BaQ4EEEAAAQQQQAABzwqoQHZMntISk6esxOS9U7LkryBZ81eUmLzlPGvihYkTsPZClZmjXQScFnCwixvjQAABBBBAAAEEEEAAgeAFnPb7g4B18DXmCgQQQAABBBBAAAEEEEAAgSgIELCOAnI6daF2oD5/aLVcPPyTXDiyTi4e3SCJV86k02joFgEEEEAAAQQQQMCJAhky55KsBatItkL3StbCNSV7kfu0HbA53CFAwNoddWQWzhBwWsDBGaqMEgEEEEAAAQQQQAABBPQEnPb7g4A16xgBBBBAAAEEEEAAAQQQQMCWAgSsbVmWkAZ1/eoFOffPN3Lu4Pdy/sByuXR8U0jtcBECCCCAAAIIIIAAAkYCWfJXlOxF60qOmx6UHDf/R27IlA0whwoQsHZo4Ri2IwWcFnBwJDKDRgABBBBAAAEEEEAAAU3Aab8/CFizcBFAAAEEEEAAAQQQQAABBGwpQMDalmUxPagrZ3bL2f2fydm/vpRzf39l+rq0J2bKkl8yZysqmbPdJJmyFZZMWQqJ+reMMXklY+Y8kiFzTsmQMbtkyJhVbsiYRW64IZPIDRlC7o8LEUAAAQQQQAABBCIocD1Rrl+/KtevXZLEaxcl8dp5SbxyVq5dOSXXLp+Uq5eOy9VLR+TqhcNy5cJBuXLhgPZvoR45bnlUchZrIDmLPyGZc90aajNclw4CBKzTAZ0uPSvgtICDZwvFxBFAAAEEEEAAAQQQcIGA035/ELB2waJjCggggAACCCCAAAIIIICAGwUIWDuvqipUfWbPB3Jm7xK5cPinoCagQtNZcpeVLLlulyy5bpMsOUtJTI7iov70OwcCCCCAAAIIIICAdwUSr5yRy+f2y6Wze+TSmV1y6cyfcun0H0EHr7MVrim5SjaUXKWeJWztgOVEwNoBRWKIrhFwWsDBNfBMBAEEEEAAAQQQQAABDwo47fcHAWsPLlKmjAACCCCAAAIIIIAAAgg4QYCAtROqJHL96gU5tWu+nN61UM4f+M70oLPmvVOy56soWfPeJdnylpfM2W82fS0nIoAAAggggAACCCBw5fw/cuHkVrl48jc5f2KTXDy5zTRK9qIPSe7bmkqe21rIDZmymb6OE6MnQMA6etb0hIDTAg5UDAEEEEAAAQQQQAABBJwr4LTfHwSsnbvWGDkCCCCAAAIIIIAAAggg4GoBAtb2Lu+FQ6vl1M7ZcmrnXLl+7WLAwcbkLCk5ClaXHAWrSfb8VdiZOqAYJyCAAAIIIIAAAggEI6B2uj5/fIOcO/qznDu6Vi6f3Rvw8hsyZpU8pVtJntJtJFuR+wKezwnREyBgHT1rekLAaQEHKoYAAggggAACCCCAAALOFXDa7w8C1s5da4wcAQQQQAABBBBAAAEEEHC1AAFre5b31M45cvL36XLh0I8BB5i9QBXJWbi25CxcS2Jylgp4PicggAACCCCAAAIIIGCVwOWze+Ts4R/l7OGVcv7YhoDNZitSS/Le0UHylH4+4LmcEHkBAtaRN6YHBJIEnBZwoHIIIIAAAggggAACCCDgXAGn/f4gYO3ctcbIEUAAAQQQQAABBBBAAAFXCxCwtk95E6+clRPbJsrJ7VPkytn9hgPLnr+S5LrpIcl1Yz3JlLWIfSbBSBBAAAEEEEAAAQQ8K3D14iE58+8yOXPwOzl//BdDh8w5i0vecp0l353dJEPmnJ41S++JE7BO7wrQv5cEnBZw8FJtmCsCCCCAAAIIIIAAAm4TcNrvDwLWbluBzAcBBBBAAAEEEEAAAQQQcIkAAev0L+S1i8fk+JbxcmLr26L+5Lq/I3P2opLn5gaSu+ij7FSd/mVjBAgggAACCCCAAAIGAmpn69MHvpJT/3wpV84f8Htmhsy5JF/5HpK/Qk/JmLUAplEWIGAdZXC687SA0wIOni4Wk0cAAQQQQAABBBBAwOECTvv9QcDa4QuO4SOAAAIIIIAAAggggAACbhUgYJ1+lU28fFqObY6X47+NlevXLvodSM4idSRvsSclZ5G66TdYekYAAQQQQAABBBBAIESBs4eWy8m/PpWzh1b4beGGjFkl/129pcDdfSRDTO4Qe+KyYAUIWAcrxvkIhC7gtIBD6DPlSgQQQAABBBBAAAEEEEhvAaf9/iBgnd4rhv4RQAABBBBAAAEEEEAAAQR0BQhYp8/COLZplKj/JV4+pV+XDDGSr8Szkrd4I3arTp8S0SsCCCCAAAIIIICAxQJqV+uT+z+UE/s+kOuJl3VbzxCTRwpU7Kf9jyPyAgSsI29MDwgkCTgt4EDlEEAAAQQQQAABBBBAwLkCTvv9QcDauWuNkSOAAAIIIIAAAggggAACrhYgYB3d8p7aOUeO/jJMrpzepdtxpiz5JV/JppKvRBNRfy6dAwEEEEAAAQQQQAABtwkkXjkjJ/YtkhN7F8rVS8d1p5c5921SsFKc5Cn9vNumb6v5ELC2VTkYjMsFnBZwcHk5mB4CCCCAAAIIIIAAAq4WcNrvDwLWrl6OTA4BBBBAAAEEEEAAAQQQcK4AAevo1O7CodVyZMMgOX/gO90OM2UpKPlvbSn5SzUXuSFDdAZFLwgggAACCCCAAAIIpKfA9UQ5vuc9Ob57nly9dFR3JNmLPiSFqgyVbEXuS8+RurZvAtauLS0Ts6GA0wIONiRkSAgggAACCCCAAAIIIGBSwGm/PwhYmywspyGAAAIIIIAAAggggAACCERXgIB1ZL2vX70gh9e/Kie2vKXbUYZMOaXA7W2kwK2tCVZHthS0jgACCCCAAAIIIGBXgeuJcmz3u3Lsz9mSePWs7ijzVXhRClcdKTdkymbXWThyXASsHVk2Bu1QAacFHBzKzLARQAABBBBAAAEEEEBARJz2+4OANcsWAQQQQAABBBBAAAEEEEDAlgIErCNXltO7F8qRdX3lytn9up3kv7WVFLy9rWTInCtyg6BlBBBAAAEEEEAAAQQcIpB45Ywc/fMdOb57ru6IM+csLoXuHS25b23qkBnZf5gErO1fI0boHgGnBRzcI89MEEAAAQQQQAABBBDwnoDTfn8QsPbeGmXGCCCAAAIIIIAAAggggIAjBAhYW1+maxePyeG1veTUznd1G89903+kYJmOEpOzlPWd0yICCJgWuHr1mmzevlN+WLNRVvy0Ubbv3CN/7NqXfH2lCmWlxC03Sc2qd0utahXlnvJlJEd2ds00DcyJCCCAAAIIhChw+eweObpjmpw++I1uC3lKt5bC1cdJxqwFQuyBy5IECFizFhCInoDTAg7Rk6EnBBBAAAEEEEAAAQQQsFrAab8/CFhbvQJoDwEEEEAAAQQQQAABBBBAwBIBAtaWMCY3cmbPIjn004ty9fxBn4az5LpVCpXtIjmL1LW2U1pDAIGgBM6dvyCz3/9UJrzzfqpAdaBG8ufNLR1aNJQubZpI8ZtvDHS6Kz/f+9cBWfDR19Kp9bOSL09uV86RSSGAAAII2Efg7KHlcuSPyXLpzG6fQWXKfpMUqfmW5CrVxD4DduBICFg7sGgM2bECTgs4OBaagSOAAAIIIIAAAggggIA47fcHAWsWLQIIIIAAAggggAACCCCAgC0FCFhbV5ZDP3WXE1sn6jZYsHQ7KVims3Wd0RICCAQtcP36dflpw2/y0qAx8vOv24K+PukCFbQeM/glad7wUckSExNyO0668NiJU/LOgo9l1MTZUu2e8jJ/0utSIF8eJ02BsSKAAAIIOFjg6I4pcnTnTN0Z5CvfTYrUnODg2aXv0AlYp68/vXtLwGkBB29Vh9kigAACCCCAAAIIIOAuAaf9/iBg7a71x2wQQAABBBBAAAEEEEAAAdcIELAOv5QXj26Qf1d1kotH1/s0lj1/JSlc7iXJmrd8+B3RAgIIhCygwtVfLftJOvcbKfv+9t1hPpSGR7zaVXrFtnB9yHrX3r+lZfc4WbPhN43pkbo1CViHsmC4BgEEEEAgLIGLJ7fK4e1vyvnjv/i0k7VgVbnx/qmStWCVsPrw4sUErL1YdeacXgJOCziklxP9IoAAAggggAACCCCAQPgCTvv9QcA6/JrTAgIIIIAAAggggAACCCCAQAQECFiHh3ryjxny78oOuo0ULNNJCpZuH14HXI0AApYIbN+5R17oOUTWbtySqr3a1StJu2ZPywM1KkuhAnklZ47syZ9fuHhJ/j18TH5Ys1FmLvhYVq71DXTNnTBUWjRqIDrhJEvGbYdG/ti1T56LfVU2bduhDYeAtR2qwhgQQAAB7woc3TlDju6YqgtwY+3pkrcs//0dzOogYB2MFuciEJ6A0wIO4c2WqxFAAAEEEEAAAQQQQCA9BZz2+4OAdXquFvpGAAEEEEAAAQQQQAABBBDwK0DAOvTFcWjNS3Jiy1s+DWTJdbsUqdBX1O7VHAggkP4Cly5flgGjJsvYqfOSB5MrZ3YZP6S3tHy2gakdqBMTE+WDz7+XV4a9lWoH7Ir/H3t3Am9T9fdx/NfFNc9TJFOEiMwyy9BMpkyRMiRJoWS6ZB6KkohST4ZChpJQInOGCOGPyFjGzPN079Padbd7zj33nr3P2fvevc/97Nfr/+rvnrV+a633Wuf2nOf/PcsD98usScOlyH35En+hNs2AgLVNsJRFAAEEEAhYQN1ifWLHSLl+cV+sGplLvCY5K70fcO2k1pGAdVLbcdabmAJuCzgkphVjI4AAAggggAACCCCAQHACbvv8QcA6uP2mNwIIIIAAAggggAACCCCAgE0CBKzNw96+dlKOrnheLv/5fazOmfI2lLtL9Ba5K8x8YXoggIAtAjv37JemHd8SdYt19PPxO32lfctnTN08HRUVJd8vXyfNOvWSi5eu6LVGD+gm3Tq2NFXLloXaVJSAtU2wlEUAAQQQCE4gKlKO7xgu5w5/HatO2jyPSe6aUyRZqhzBjZEEehOwTgKbzBIdI+C2gINj4JgIAggggAACCCCAAAIImBZw2+cPAtamt5gOCCCAAAIIIIAAAggggAACCSFAwNqc8rVTv8jRFa3kxvm9sTre/WAfyZS3kbmCtEYAAdsFZn27RJp36qOP0/DxWvLpmAjJnDGD6bF93Yb9WK3KMm3cIMmWJZPpem7oQMDaDbvEHBFAAIGkK3Du8Dw5vn1YLIDwjIUld80vJFX28kkXx8DKCVgbQKIJAhYJuC3gYNGyKYMAAggggAACCCCAAAKJIOC2zx8ErBPhkDAkAggggAACCCCAAAIIIICAfwEC1v6NoltcPPiNHF3eQqJuX/PoFJ4uv+QqOUBSZ37QeDFaIoBAggkMfm+y9H9noj5e71dfkME9X5ZkyQK7aX7Zmo3S8MU39FusHyxWSL6aNEKKFsqfYGtKyIEIWCekNmMhgAACCAQicPXsdjn220C5cemgR/e7kqWS3LVmSPr8zwRSNkn0IWCdJLaZRTpEwG0BB4ewMQ0EEEAAAQQQQAABBBAIQMBtnz8IWAewyXRBAAEEEEAAAQQQQAABBBCwX4CAtTHjc7s/luNrXorVOF3OGpK71NsSliK9sUK0QgCBBBfwDlgP6NFRBnTvID4CRYbmdujPY9Kyc1+JjIqSDOnSSooUyWVY71ekZLHCev+de/ZL045vya69B7SfpU+XRhZ/MU6qlC9laIzoRmfPX5B23QfL14uXaz8qXCCvzJk80mOsmAVV+6WrNsqin9bKtp2/y5Yde7SXs2TKIKWK3y+Vyjwo9WpUkoplSkjqVCnjnMvaX7ZJ1QbtDM211AP3y6xJw6XIffnibX/12nXZ8OsObS0bt+6U9Zu363Mr/1BxzUbdLv7A/QUkLMxY+P302fPS6pV+8sOKdVqtl1o3kvcG9tDXdviv4zJz/hJZsmK9bNy6QwvF58uTS1u/GuuJR6pIhvRpY807MjJS/vf7AVG3ny9dvVGfa+kSRaRsyWLSttnTUrF0CUmePJkhIxohgAACCNgvEHnzohzd9rZcOrEy1mB3V50kmYp2tH8SLhyBgLULN40pu1bAbQEH10IzcQQQQAABBBBAAAEEEBC3ff4gYM2hRQABBBBAAAEEEEAAAQQQcKQAAWv/23J62wg59UvvWA2zFGghOR7o4b8ALRBAIFEFho/7P+kzfLw+BxWs/XRMhGTOmMG2eakwcbcBo2XStHn6GOrW7L6vvWgq2K2Czo+3elW/LVsFez8c2lPSpkntMfcz5y7I6InTZeLUOaL+u79HhaH7d+8gjZ98RFKGh8dqbmXA+vqNGzJ34U8yaMwnom7D9vc8VbeaDHzjJVFhZn8h+LgC1rdu3ZYRH34u4z6bqdv5Glc5vD+ohzxa82F9rOMnT0vfEePls5nfxjtVdY7eG9hdC2zzIIAAAgg4R+Dk/0bLmQMzYk0oe/nhkrVUL+dM1CEzIWDtkI1gGklCwG0BhySxKSwSAQQQQAABBBBAAIEQFXDb5w8C1iF6EFkWAggggAACCCCAAAIIIOB2AQLW8e/gqU395PTWobEa5Sj2umQp+Jzbt5/5I5AkBH5ctUHqNX9FX6u6TXriyD7S4plH/QZ4gwGat+gnady+p17isVqVZdq4QZItSyZDZaOiomTo2M8kYtRHevvpHw6WVo0e9+j/1/GT8krvkTL/h9g3dvobqEOrhjKi76vaDdcxH6sC1iqs3HPIWJk2Z5G/qXi8rvZoWO8u0ql143hvifYVsH7rlbby1tAPZPaCpYbGVAHpKWMHSo2Hy2gB8HbdB4lav5GnZuWy8vn7bxOyNoJFGwQQQCABBc7sny4nd70fa8SsD/WV7OWGJOBMnD8UAWvn7xEzDB0BtwUcQkeelSCAAAIIIIAAAgggkPQE3Pb5g4B10jujrBgBBBBAAAEEEEAAAQQQcIUAAeu4t+nkhjflzPZ3YzXI/dAgyXDPE67YXyaJAAIix078LW269pelqzfqHCpQ3O/19tKuRQPJkD6tLUwHDh+VFp37yIZfd2j1VWj468/eldpVKxgaz3veFcuUkBkThkmBvLn1/pevXJWeQz6QCZ/P9qipbmZ+uFxJKVoov/bzi5cuy5qNW2Xlul9jja1u1u7Vpa1HkHnvgcMyb9Fyre2Zs+dl2txFmqN6ihUuIM/WryupU6XU/pwyPIU0b/Co3J0jq0ftE6fOyEs9h8YKfiuHCg+VkEplS0j6dGnjnZsKf/d46bk4Q9beAeumT9fRbuSePvdOoFu51alWQRvr8F/HZdnqjbFu0q5fr7oMfutl6T9qoj5fNU+1V+UfekBb1y9b/yfL1myMdSN2RLf2MqB7R0mWLMzQvtIIAQQQQCBhBC78tUiObu0fa7AsD74hOSq+kzCTcMEoBKxdsElMMWQE3BZwCBl4FoIAAggggAACCCCAQBIUcNvnDwLWSfCQsmQEEEAAAQQQQAABBBBAwA0CBKx979LJ9d3lzI73PF68Kyxc7ik7StLlqOqGrWWOCCDwn4C6CfqLeYul9as+QlaZMkiLho9Jkydra0HatGlSW+Z24+ZN6TV0nLz38Zd6TTNhXBXmbfjiG3qgt2u75jIqoqsWII5+Fi5do4W4L166ov1I3cY8buib8nitKrFCycph38Ej8taQcfL14n/D0+pRgenZH4+U4kUK+ly7utW52Uu9Zdv/ftdef7Tmw/LF+CGSNXPGOK18Bb9VYLnz803ltfYtJFfObB591dxUIL3fyAky45sf9NdUn4/f6SfNG9TzOZZ3wDpmo3o1KsnQXp2lzINFJSzsTvhZze2dj6bJwOCamXwAACAASURBVNEfe9RUc4oOkb/xcmvp2bmNZM+a2aPN/kN/SdeId0S5Rz++gu+WHSIKIYAAAggEJXDp5Br5a3NPiYq84VEnS4lukqPSmKBqh0pnAtahspOsww0Cbgs4uMGUOSKAAAIIIIAAAggggIBvAbd9/iBgzUlGAAEEEEAAAQQQQAABBBBwpAAB69jb4uvm6mQpMsg95UZLmiylHbmPTAoBBOIXUKHaviMmyNjJM+JtWOPhMtqtxY9ULS8litwnGTOkC4rWOyStblKe+sGgWAFj70Fu346UgWM+lsHvTdZfWjJzvNStXlH/s68A99zJo6TRE4/EO+fjJ09L+zcGe4SEx7zdXbp1bOmzXyABaxVof65LhF5PBaUnDO8lLRs+5hF29h7w6rXrMmr8FHk7Rvi5VpVyMm3cILnn7hyx5hdXwLrBozVk0qi+kjN7Fp9rOnv+grTrPtgjaB7d0N+t2bv2HpAWL/fVA+eq3/zPx4i6BZsHAQQQQMB5AlfObJG/NvWQ2zcveEyOm6z/5SBg7bwzy4xCV8BtAYfQ3QlWhgACCCCAAAIIIIBA6Au47fMHAevQP5OsEAEEEEAAAQQQQAABBBBwpQABa89tO7Wpn5zeOtTjh8lTZpE85d6TVJmKu3KPmTQCCPwroMK7oydOl1ETpug3PvuzKV2iiDxWq7Ko25ADueFa3Yjcpmt/Wbp6ozaUChp//dm7Wog7vufoiVPS6pV+suLnzVozX8FsFRJWt3JH36Zc6oH7Zdak4VLkvnz+liXzFv0kjdv31Nu1bvKEjB/WS5uf92M2YO0rvOwvtBxzzAsXL8ur/UbJ1NkL9R9PHh0h7Vo0iDU3XwFrdRP1N5+Nlgql4/+dPWnaPOn01jCPmk2friOTRvWRzBkzxGnoK9geX0Dd72bQAAEEEEDAdoFr53bKn5u6ya3rZzzGyvpQX8lebojt4zt5AALWTt4d5hZqAm4LOISaP+tBAAEEEEAAAQQQQCApCbjt8wcB66R0OlkrAggggAACCCCAAAIIIOAiAQLWdzbr9LYRcuqX3h67p4Wry4+VVBmLuWhXmSoCCMQlEBUVJVt27JEh73/q8/bi+ORU+Ljh47WkU5vGUrF0iXhvYo6uo8YbOvYziRj1kV46olt7GdC9oyRLFhbncN8uWSUN2naPt493uLhwgbwyZ/JIKVmssN8DsHvfQen45lDJkD6tPFT8filaKL+ocHHK8PBYfc0GrL1v7Y7vBuq4Jupdo8lTtWXyuxGxbhT3FbBu2+xp+XBoT0mbJnW8Dmt/2SZVG7TzaDP9w8HSqtHjfv3e+/hL6f72GL3doDc7idpXHgQQQAAB5wpcO79L/vzltVgh6+zlh0vWUr2cO3GbZ0bA2mZgyiMQQ8BtAQc2DwEEEEAAAQQQQAABBNwr4LbPHwSs3XvWmDkCCCCAAAIIIIAAAgggENICBKz/3d5zuz+W42te8tjrZCkyyL0VxnFzdUi/A1hcUhWIjIwUFRyeu/AnmT53kfbfzTxP1a0mg3u+rIWT/T0bt+yUZ17sIeo2a/XUrFxWvhg/RHLnzO6zq/cNyXHdyHzl6jV5LeJdmfzlN3qdDq0airotOkumuG9g9jdf79fNBKx9BcqVU9/XXhQfAa44p+J9g3dc4XFfAWujt0n/tmuvNGn/luw9cFibh5mA+hfzFstzXSL0+ROwNnuqaI8AAggkjoC6yfrIxlfl9s0LHhO4u+okyVS0Y+JMKpFHJWCdyBvA8ElKwG0BhyS1OSwWAQQQQAABBBBAAIEQE3Db5w8C1iF2AFkOAggggAACCCCAAAIIIBAqAgSsRS4e/Eb+WtrQY0vvCguXeyuOlzRZSofKVrMOBBCIQ0CFrY+fOi2r1m+R75f/LCt+3iyH/jzm10uFmMcN7SnNG9SL9zbr8xcuSfs3Bsuc75bpNZfMHC91q1f0OcaBw0elRec+suHXHdrr6tbsT8dESOaMsUPTn86YL+17DPao82CxQvJc4yfkqTpV5f6C+SR58mR+1xJfAzMB64uXrsgrfUbItDmL9JIzJw6TZvXrmZqDr/D4/M/HSP161T3q+ApYx2cbs7P3uiqXKylfThgq+fLk8jtXAtZ+iWiAAAIIOFbgypktcmTDKxIVecNjjvfU+VrS53/GsfO2a2IErO2SpS4CsQXcFnBgDxFAAAEEEEAAAQQQQMC9Am77/EHA2r1njZkjgAACCCCAAAIIIIAAAiEtkNQD1tdO/SKHvqsuUbeveexznvLvS7ocVUN671kcAgj4FogOXG/atkvmLfop3sB1+nRpZOLIPtLimUfjvaF50rR50umtYfqAvV99QbsBO1mysFiTUGM2bt9T/3l8NzL/dfyktH61vyxfu8nnYlRYWN2Y3eiJR6TCQ8UlZ/Yspm6SVkXNBKy9b55W/bu88KzkyZ3T1HG7efOWFnZf+8s2vZ9yfql1I486vgLWa+Z/KlXKl/I7npl1eRcjYO2XlwYIIICAowUunVwjf/7yuscc70qWSvI9tUpSZS/v6LlbPTkC1laLUg+BuAXcFnBgLxFAAAEEEEAAAQQQQMC9Am77/EHA2r1njZkjgAACCCCAAAIIIIAAAiEtkJQD1revnZRDC6rKjfN7PfY490ODJMM9T4T0vrM4BBAwLnDr1m3ZtfeAqNuip81ZKGfOXfDoXOqB+2XGR0OlWOECcRbduWe/NO34llZHPSr0/MX4IZI7Z3aPPtdv3JCegz+QDz6dqf28cIG8MmfySClZrHCctVet/1U6vjlUC0L7eyqWKaGFrZ+uW02K3Jcv3pu3o2uZCSJ7t/U3HzOvD3qzk0R0a+/RxTtgbcQrkHV5z5OAtZmdoy0CCCDgTIELfy2So1v7e0wuPGNhyff0GkmWKoczJ23DrAhY24BKSQTiEHBbwIGNRAABBBBAAAEEEEAAAfcKuO3zBwFr9541Zo4AAggggAACCCCAAAIIhLRAUg5YH/n+cbn85/ce+5uj2OuSpeBzIb3nLA4BBAIX2H/oL3lj0Pvy9eLlHkVU8HdA944+b6RWDS9fuSpd+o6Sz2ct0PvN/3yM1K9X3aOOd0C5bbOn5cOhPSVtmtTxTvrgkaMy4N1JMnX2QsOLe7BYIenx0nPS5Kna8dZ3U8Bahd1nTRquhcf9PWbW5V2LgLU/XV5HAAEE3CFwZv90ObnrfY/Jps3zmNz72GJ3LMCCWRKwtgCREggYFHBbwMHgsmiGAAIIIIAAAggggAACDhRw2+cPAtYOPERMCQEEEEAAAQQQQAABBBBAQCSpBqxPrH9dzu4Y63EEshRoITke6MGxQAABBOIVOHHqjLzUc6jM/2Gl3i6uG6ljFpq36Cdp3L6n/qNuHVvKiL6vSniKFPrPvIO70z8cLK0aPW5oR6KiouTQn8dk+tzFMn3uIkM3WqvCDR+vJe8N7C758uTyOY6ZIHJi32BNwNrQUaERAggggEAMgZP/Gy1nDszwMMlc4jXJWckzeB2qaASsQ3VnWZcTBdwWcHCiIXNCAAEEEEAAAQQQQAABYwJu+/xBwNrYvtIKAQQQQAABBBBAAAEEEEAggQWSYsD63J7Jcnx1Bw/pdDlrSJ5yoxNYn+EQQMBOgUuXr8jEqXNlxbrNcv36Ddl74IhM/WCgVK9UJuhhl63ZKA1ffEMuXrqi1cqVM5ssmPKelC1ZLM7aBw4flRad+8iGX3dobSqXKylfThiqB5u9b7muWKaEzJgwTArkzW16vpGRkXLk6AlZtX6LLPhxlSxbvVHOnLsQZx0Vsp40qo9kz5o5VptgAtZmAs+mFykip8+el1av9JMfVqzTupsZz8y6vOfGDdaB7BZ9EEAAAecK/Lmph1w6ceeLU2qmd1f7RDIVae/cSVs0MwLWFkFSBgEDAm4LOBhYEk0QQAABBBBAAAEEEEDAoQJu+/xBwNqhB4lpIYAAAggggAACCCCAAAJJXSCpBayv/b1ZDn5TzmPbw9Pll/yV/0/CUqRP6seB9SMQUgLnL1yS9m8MljnfLdPXNXFkH3mpdaOg16luim7Zua/8vOk3vdaa+Z9KlfKl4qx94+ZN6TV0nLz38Zd6m7mTR0mjJx7R/rxzz35p2vEt2bX3gPbnru2ay6iIrpIyPDzo+aqxf//jsCz6aa2om7SjQ94xC8ecS8yfmwki7zt4RJp36iObf9ullUifLo0smTFeKpV9MOg1+CpAwNoWVooigAACSU4g8uZFOfjzC3Lj0kGPted/ZpOkylY2pD0IWIf09rI4hwm4LeDgMD6mgwACCCCAAAIIIIAAAiYE3Pb5g4C1ic2lKQIIIIAAAggggAACCCCAQMIJJLWA9cFvysu1vzd5AOer/H+SOrM94b+E20lGQgABbwFfgWYVrn5vYA9JnSplUGCnTp/VAtZLV2/U6/gLWKuGP67aIPWav6L36daxpYzo+6qEp0ghn86YL+17DNZfWzJzvNStXjGoefrqrG63XvzTz/JKn5GiguLRT+e2TWX0gG6SKqVnoNtMwPrs+QvS+tX+snDpGr3u9A8HS6tGj1u+DlWQgLUtrBRFAAEEkqTA1bPb5dDPL3isPVW2cpL/mV9C2oOAdUhvL4tzmIDbAg4O42M6CCCAAAIIIIAAAgggYELAbZ8/CFib2FyaIoAAAggggAACCCCAAAIIJJxAUgpYn1j3qpzd+aEH7t0P9pFMeYO/zTbhdoyREEDAjIB3aDlfnlwy55ORUq7UA2bKxGr726690qT9W7L3wGHttQeLFZKvJo2QooXyx1v32Im/pU3X/nowu3K5kvLlhKGSI1sW6TZgtEyaNk/rX6daBZn6wSDJlTNbnPXUTdfqBu1ft++W7bv2SesmT0iHVg0NrSsqKkomTp0rnXuP0Ns/WvNh+WL8EMmaOaNHDTMBa1+h9kBu4lZB7Zd6DpO/z5yTYoULSKH898rT9app/4z5ELA2tN00QgABBBAwKHDu8Dw5vn2YR+vMxbtIzofHGazgvmYErN23Z8zYvQJuCzi4V5qZI4AAAggggAACCCCAgNs+fxCw5swigAACCCCAAAIIIIAAAgg4UiCpBKwvHpgtfy171mMPMuVtKHc/2NeR+8KkEEDAGoGde/ZL045viQojRz8qhPzewO6SNk3qgAZR4eQPPp0pr/cfrfdv8lRtmfxuhGTMkC7emqrv0LGfScSoj/R26qbqvPfcLc1e6i3b/ve79vOIbu1lQPeOkixZWJz1vpi3WJ7rEqG/bvZ27rW/bJOqDdrp/a0IWKti8xb9JI3b99TrqoD0zInDpGSxwoa9l6xcL0069JSLl65ofVTQfMGU96RsyWIeNQhYGyalIQIIIICAQYHj24fKucNfe7S+p/ZXkr5AU4MV3NWMgLW79ovZulvAbQEHd2szewQQQAABBBBAAAEEkraA2z5/ELBO2ueV1SOAAAIIIIAAAggggAACjhVICgHr29dOy4F5D8qtK8f0fUiZvpAUqPalyF1xhxcdu2lMDAEEDAvcunVbBrw7SYZ98JlHn15d2kqfri9K+nRpDNeKbrhy3a/y/GsD5NCfd36nTB4dIe1aNDBUa+OWnfLMiz1E3WatnsE9X9ZuwH7mhR7an1WY+JvPRkuF0sXjred9i7bZILN3QLt9y2dk7OA3JE3qVB7jmrnBWnU8eOSoFvxWAe7op3PbpjKqX1dDofZTp89qt1d/vXi53r9Z/Xry8Tt9JUP6tB5zI2Bt6MjRCAEEEEDAjEBUpBxY3VKuX9yn90qeJpcUaLRdkqXKaqaSK9oSsHbFNjHJEBFwW8AhRNhZBgIIIIAAAggggAACSVLAbZ8/CFgnyWPKohFAAAEEEEAAAQQQQAAB5wskhYD1sZXPy/m9Uz02I+/Dn0iaLKWdv0HMEAEEghbYe+CwtH61v2z4dYdHrafqVpO3XnleKpcrKWFh/r9scf3GDZm9YKn0G/mRR7i6VpVyMm3cILnn7hyG5nr2/AVp132wHiBu+HgtuTd3Tu1WbPWoP386JkIyZ8wQb73LV65Kl76j5PNZC/R2DR6tIZNG9ZWc2bPE2/f4ydPS/o3BsnDpGr3dxJF9RN2C7f14B6xrVi4rX4wfIrlzZvc5hq8bvlXDt3t0lJ6vPC+pU6WMc27KeMykL6TP8PF6GxWCnzZusKi1eT8ErA0dORohgAACCJgUuHJmixxe18GjV8bCbSRXjSkmKzm/OQFr5+8RMwwdAbcFHEJHnpUggAACCCCAAAIIIJD0BNz2+YOAddI7o6wYAQQQQAABBBBAAAEEEHCFQKgHrC/snylHf2rhsRfZ7u8k2Qq3d8X+MEkEELBGYMGPq6Tta2/LmXMXYhWsVrG0tHjmUVHBYRV0Tpf231utVVD4wsXLcuToCVn001qZPneRbN915zZL1SZfnlwyZexAqfFwGVMTnTRtnnR6a5jPPmPe7i7dOrY0VG/JyvXSpENPuXjpit5eBccHdO8gZR4sGis4rta0Zcce6T3sQ1F9o58q5UvJ9A8HS/57c8caV93U3bJzX/l502/aayrwPGF4L2nZ8LE4g+m+bqFWfZVzRLf2UrRQfvH+94+6+VrdNj519kKPOcR3+zUBa0PHhEYIIIAAAgEI/L13svz9+0SPnrkfmSEZCjYPoJpzuxCwdu7eMLPQE3BbwCH0doAVIYAAAggggAACCCCQdATc9vmDgHXSOZusFAEEEEAAAQQQQAABBBBwlUAoB6yjbl2V/XOKys1Lh/U9UbdWq9ureRBAIGkJqGDxrG9/lFd6j/AZsg5EI0umDDJ+eC9pVr9urLCwv3o79+yXph3fkl17D3g0LVwgr8yZPFJKFivsr4T2urrxue+ICTJ64vRY7UuXKCIPlyspee+5W3vt8F/HZd2m37SAdcxHBabV7dUq/OwjZCXnL1zSbrue890yj36qfvasmSVFiuQyrPcrseas1vZCt4Gxbg5XRVTfOtUrStbMGeXGjZuyct2vsmzNxlhrqFejknw0orcUzHePTw8C1oaOCY0QQAABBAIUULdYq9uso58U6fJKwSa75a7kqQOs6LxuBKydtyfMKHQF3BZwCN2dYGUIIIAAAggggAACCIS+gNs+fxCwDv0zyQoRQAABBBBAAAEEEEAAAVcKhHLA+sT61+XsjrEe+5K/yhRJlam4K/eKSSOAQHACKmS9+bdd8nr/0bL2l21BFSv/0AMyos+rUqtKOdPhajXw5StXpUvfUfL5rAUe82jb7Gn5cGhPSZvGeHBL3crda+g4+eSLr02vSYXE1Y3ZrRo9LsmTJ/PZX7l98OlMzS2uZ8nM8VK3esVYL+89cFi69BnlcVu20UmqcPWHw3qKCp3H9RCwNqpJOwQQQACBQASundspB9c+79E1c4nXJGel9wMp58g+BKwduS1MKkQF3BZwCNFtYFkIIIAAAggggAACCCQJAbd9/iBgnSSOJYtEAAEEEEAAAQQQQAABBNwnEKoB66snfpZDC6p4bEi2wu0k2/0vu2+TmDECCFgqcPXadfnux9Uy7rNZsnrDnVspjQzyYLFC8nKbJtKm6ZOmQtC+an8xb7E81yXC46XpHw7Wws5mH3WT9WczvpWR46fIoT+PGere8PFa0u/1dtpt0r5uro5ZxF+IW92A/VLrRj7HVWHyj6d/LWMnzzA0NxX67vd6e+n4XEO/xgSsDW01jRBAAAEEghD4+/eP5O+9n3pUyPf0Wkmds3IQVZ3TlYC1c/aCmYS+gNsCDqG/I6wQAQQQQAABBBBAAIHQFXDb5w8C1qF7FlkZAggggAACCCCAAAIIIOBqgVANWB9eVEeuHF2m703K9AWlQPWvXL1XTB4BBKwViIyMlCNHT2i3WW/d+bts2b5b9h444hECLnJfPilWuIDUeLiMVK9URkoWKxznTc9mZ3fg8FFp0bmPbPh1h9a1YpkSMmPCMCmQN7fZUnp7FR5X9ZasXC/rf90u23b+LiocrZ6Ya6lfr4bkvzeXhIWFGR5LhbgXLVsrM+cv0caIGeTu/eoLMrjny5IsWdz1VNBaWc//YaVs37VPtu7cIxcvXdHGr1T2QSlaKL80ebK2VKtYWjKkT2toXgSsDTHRCAEEEEAgSIEDq56V6xf361XS5K4teZ9YGmRVZ3QnYO2MfWAWSUPAbQGHpLErrBIBBBBAAAEEEEAAgdAUcNvnDwLWoXkOWRUCCCCAAAIIIIAAAggg4HqBUAxYn987RY6tbOuxN3nKvSvpctZ0/X6xAAQQCB0B74B113bNZVREV0kZHh46i2QlCCCAAAIIhIDApRMr5M9Nb3isJFeNzyVj4eddvzoC1q7fQhbgIgG3BRxcRMtUEUAAAQQQQAABBBBAwEvAbZ8/CFhzhBFAAAEEEEAAAQQQQAABBBwpEIoB6z++KiQ3L/yhe2fIVVdylxnuSH8mhQACSVdg3qKfpHH7njrAkpnjpW71ikkXhJUjgAACCCDgYIGjv/aWC8d+1GeYIsN9ct+z+xw8Y2NTI2BtzIlWCFgh4LaAgxVrpgYCCCCAAAIIIIAAAggkjoDbPn8QsE6cc8KoCCCAAAIIIIAAAggggAACfgRCLWB9etsIOfVLb49VF6wxW8LTFeAsIIAAAo4RuHzlqnTpO0o+n7VAm1OdahVk6geDJFfObI6ZIxNBAAEEEEAAgTsCNy4dkP0rm3qQZC8/XLKW6uVqJgLWrt4+Ju8yAbcFHFzGy3QRQAABBBBAAAEEEEAghoDbPn8QsOb4IoAAAggggAACCCCAAAIIOFIglALWkTcuyL6ZeSXyxnndOkvB1pKj2GuOtGdSCCCQdAU2btkpz7zYQ46d+FtDGD2gm3Tr2FJ8hJySLhIrRwABBBBAwGECJ3eNlTP7p+mzCgvPKIWaH5aw8AwOm6nx6RCwNm5FSwSCFXBbwCHY9dIfAQQQQAABBBBAAAEEEk/AbZ8/CFgn3llhZAQQQAABBBBAAAEEEEAAgXgEQilgfWpTPzm9dai+2rDk6aTQIwskLEV6zgACCCDgGAF1e3XPIR/IhM9na3MqVriAzP54pBQvUtAxc2QiCCCAAAIIIBBbIPLmRdn309MSeeuS/mLWh/pK9nJDXMtFwNq1W8fEXSjgtoCDC4mZMgIIIIAAAggggAACCPwn4LbPHwSsOboIIIAAAggggAACCCCAAAKOFAiVgPXta6dl34w8EnX7mu6cvWgXyXpfW0e6MykEEEgaAn8dPykZ06eTdGnTSGRkpPxx6E8Z8v6nMnX2Qh2gR6fnZGivzpIyPDxpoLBKBBBAAAEEXCxw+o/P5dTuD/UV3JUslRRq8ackS5XVlasiYO3KbWPSLhVwW8DBpcxMGwEEEEAAAQQQQAABBETEbZ8/CFhzbBFAAAEEEEAAAQQQQAABBBwpECoBa+/bq5OnzCaFai8SuSvMke5MCgEEkoaAClI//9qAOBerbq+eOXGYlCxWOGmAsEoEEEAAAQTcLhAVKfuWPSG3rv+tr8TNt1gTsHb7gWT+bhJwW8DBTbbMFQEEEEAAAQQQQAABBDwF3Pb5g4A1JxgBBBBAAAEEEEAAAQQQQMCRAqEQsI68eUn2fZlb1F/ZHf3kKPa6ZCn4nCPNmRQCCCQdgW+XrJIGbbv7XHD6dGlk4sg+0uKZR8VHuCnpILFSBBBAAAEEXCZwZv90ObnrfX3WYSnSS6GWRyUsRTqXrUR8/d8gbvjfNF3nzIQRUAJuCziwawgggAACCCCAAAIIIOBeAbd9/nDD/zMiKuZxiIry+KN7TwozRwABBBBAAAEEEEAAAQQQiFcgFALWp7eNkFO/9NbXmTxlFilU+3tur+bsI4BAogus/WWbVG3QLtY8VLh6WO8u0ql1Y0mePFmiz5MJIIAAAggggIAJAe0W68fk1vUzeqfs5YdL1lK9TBRxRlNusHbGPjCLpCHgtoCD03bF289p82M+CCCAAAIIIICAP4FiHcQNGVJ/y+B1lwi47fOHG94cBKxdcviZJgIIIIAAAggggAACCCBgpUAoBKz/mJlPbl46rLNkL9JZshZ60UomaiGAAAIBCRw/eVpGT5ouC5askj1/HJJ8eXJJ/XrVpV3LBlKyWGFurg5IlU4IIIAAAggkvsDpfZ/JqT0T9ImkSJdX7mt+KPEnZnIGBKxNgtEcgSAE3BZwCGKptnQlYG0LK0URQAABBBBAIAEFCFgnIDZDue5v0CFgzaFFAAEEEEAAAQQQQAABBBBwpIDbA9bn906RYyvb6rZ3hYVL4To/iPprunkQQAABBBBAAAEEEEAAATsEIm9elL1LH5WoyBt6+Vw1PpeMhZ+3YzjbahKwto2WwgjEEiBgHdyhIGAdnB+9EUAAAQQQQCDxBQhYJ/4eJKUZuO3zBwHrpHQ6WSsCCCCAAAIIIIAAAggg4CIBtwesDy2oKldPrNXFsxRoITke6OGiHWCqCCCAAAIIIIAAAggg4EaBk/8bLWcOzNCnnjpnFcn39BpXLYWAtau2i8m6XMBtAQencROwdtqOMB8EEEAAAQQQMCtAwNqsGO2DEXDb5w8C1sHsNn0RQAABBBBAAAEEEEAAAQRsE3BzwPrqiZ/l0IIqHjYFa8yW8HQFbPOiMAIIIIAAAggggAACCCCgBG5cOiD7Vzb1wMj39FpJnbOya4AIWLtmq5hoCAi4LeDgNHJvv6JPbnLaFJkPAggggAACCCDgIbB7YTmPPxOw5oAkpIDbPn8QsE7I08FYCCCAAAIIIIAAAggggAAChgXcHLA+vqajnNv9ib7WdDlrSJ5yow2vnYYIIIAAAggggAACCCCAQDACf27qIZdOrNRLZCraQe6u+nEwJRO0LwHrBOVmsCQu4LaAg9O2i4C103aE+SCAAAIIIICAPwEC1v6EeN1OAbd9/iBgbedpoDYCCCCAAAIIIIAAAggggEDAAm4NWEfduiq/T8siUbev6WvPU+5dSZezZsAWdEQAAQQQQAABBBBAAAEEzAhcOrFC/tz0ht7lrmSprLdS9AAAIABJREFU5P7WZ+Su5KnNlEm0tgSsE42egZOggNsCDk7bIgLWTtsR5oMAAggggAAC/gQIWPsT4nU7Bdz2+YOAtZ2ngdoIIIAAAggggAACCCCAAAIBC7g1YH1uz2Q5vrqDvu4UaXLLfbW+DdiBjggggAACCCCAAAIIIIBAIAJ/LK8vN68c1bveXe0TyVSkfSClErwPAesEJ2fAJCzgtoCD07aKgLXTdoT5IIAAAggggIA/AQLW/oR43U4Bt33+IGBt52mgNgIIIIAAAggggAACCCCAQMACbg1YH15UR64cXaavO1vhdpLt/pcDdqAjAggggAACCCCAAAIIIBCIwN+/fyR/7/1U75omd23J+8TSQEoleB8C1glOzoBJWMBtAQenbRUBa6ftCPNBAAEEEEAAAX8CBKz9CfG6nQJu+/xBwNrO00BtBBBAAAEEEEAAAQQQQACBgAXcGLC+eXG//DHrPo81F6wxW8LTFQjYgY4IIIAAAggggAACCCCAQCACNy4dkP0rm3p0va/ZH5IifcFAyiVoHwLWCcrNYElcwG0BB6dtFwFrp+0I80EAAQQQQAABfwIErP0J8bqdAm77/EHA2s7TQG0EEEAAAQQQQAABBBBAAIGABdwYsD7z2ztycmNPfc1pspSWvA9/ErABHRFAAAEEEEAAAQQQQACBYAQOr+sgV85s0UvkqDBKspR8M5iSCdKXgHWCMDMIApqA2wIOTts2AtZO2xHmgwACCCCAAAL+BAhY+xPidTsF3Pb5g4C1naeB2ggggAACCCCAAAIIIIAAAgELuDFgfejbynL15Dp9zTmLvyGZ8zcP2ICOCCCAAAIIIIAAAggggEAwAmcPzpQTO9/VS6TO8bDkq/9zMCUTpC8B6wRhZhAENAG3BRyctm0ErJ22I8wHAQQQQAABBPwJELD2J8Trdgq47fMHAWs7TwO1EUAAAQQQQAABBBBAAAEEAhZwW8D65sX98ses+zzWW6j2QkmeKmfABnREAAEEEEAAAQQQQAABBIIRuHXthOxb9qRHifua/SEp0hcMpqztfQlY207MAAjoAm4LODht6whYO21HmA8CCCCAAAII+BMgYO1PiNftFHDb5w8C1naeBmojgAACCCCAAAIIIIAAAggELOC2gPXZnR/IiXWv6etNk7Ws5K00KeD10xEBBBBAAAEEEEAAAQQQsELg8PqX5MrpzXqpnA+PlczFu1pR2rYaBKxto6UwArEE3BZwcNoWErB22o4wHwQQQAABBBDwJ0DA2p8Qr9sp4LbPHwSs7TwN1EYAAQQQQAABBBBAAAEEEAhYwG0B6yPfPy6X//xeX2+OYq9LloLPBbx+OiKAAAIIIIAAAggggAACVgic2T9dTu56Xy+VNs9jcu9ji60obVsNAta20VIYgVgCbgs4OG0LCVg7bUeYDwIIIIAAAgj4EyBg7U+I1+0UcNvnDwLWdp4GaiOAAAIIIIAAAggggAACCAQs4KaAddStq7Ln8zQeay1YY7aEpysQ8PrpiAACCCCAAAIIIIAAAghYIXDj0gHZv7KpR6kiba/IXclTW1HelhoErG1hpSgCPgXcFnBw2jYSsHbajjAfBBBAAAEEEPAnQMDanxCv2yngts8fBKztPA3URgABBBBAAAEEEEAAAQQQCFjATQHrS4e+lT9/bKCvNTxdfilYY07Aa6cjAggggAACCCCAAAIIIGClwP6VTeTGpYN6yTx150u6fPWtHMLSWgSsLeWkGALxCrgt4OC07SRg7bQdYT4IIIAAAggg4E+AgLU/IV63U8Btnz8IWNt5GqiNAAIIIIAAAggggAACCCAQsICbAtYn1r8uZ3eM1deaOX8zyVn8zYDXTkcEEEAAAQQQQAABBBBAwEqBEzvfkbMHZ935zFLiNclZ6X0rh7C0FgFrSzkphkC8Am4LODhtOwlYO21HmA8CCCCAAAII+BMgYO1PiNftFHDb5w8C1naeBmojgAACCCCAAAIIIIAAAggELOCmgPWBeQ/J9TPb9LXmKfeupMtZM+C10xEBBBBAAAEEEEAAAQQQsFLg0okV8uemN/SSKbOUkgKNtlo5hKW1CFhbykkxBOIVcFvAwWnbScDaaTvCfBBAAAEEEEDAnwABa39CvG6ngNs+fxCwtvM0UBsBBBBAAAEEEEAAAQQQQCBgAbcErG9fPSl7v8jpsc776y2XsBTpA147HRFAAAEEEEAAAQQQQAABKwUib16U35fU8ihZuNUJSZY6h5XDWFaLgLVllBRCwK+A2wIOfheUwA0IWCcwOMMhgAACCCCAQNACBKyDJqRAEAJu+/xBwDqIzaYrAggggAACCCCAAAIIIICAfQJuCVhfPPiN/LW0oQ6RKtMDkr/KVPtgqIwAAggggAACCCCAAAIIBCBwcG0buXbuf3rPe+p8LenzPxNAJfu7ELC235gREIgWcFvAwWk7R8DaaTvCfBBAAAEEEEDAnwABa39CvG6ngNs+fxCwtvM0UBsBBBBAAAEEEEAAAQQQQCBgAbcErE9tfEtO/zZKX2eWAi0kxwM9Al43HRFAAAEEEEAAAQQQQAABOwRO/m+0nDkwQy+dtWRPyV5hpB1DBV2TgHXQhBRAwLCA2wIOhheWQA0JWCcQNMMggAACCCCAgGUCBKwto6RQAAJu+/xBwDqATaYLAggggAACCCCAAAIIIICA/QJuCVgfXlhLrhxboYPkLj1MMuSuZz8QIyCAAAIIIIAAAggggAACJgQuHF0iR7f00XukyVVT8j653ESFhGtKwDrhrBkJAbcFHJy2YwSsnbYjzAcBBBBAAAEE/AkQsPYnxOt2Crjt8wcBaztPA7URQAABBBBAAAEEEEAAAQQCFnBLwPr3KRkk8uZFfZ331ZovKdLcE/C66YgAAggggAACCCCAAAII2CFw88pf8sfyBnrpsBTp5f7nL9gxVNA1CVgHTUgBBAwLuC3gYHhhCdSQgHUCQTMMAggggAACCFgmQMDaMkoKBSDgts8fBKwD2GS6IIAAAggggAACCCCAAAII2C/ghoD1jXO7ZP+cB3SM5CmzSKE6S+zHYQQEEEAAAQQQQAABBBBAIACBfUvrya3rZ/SeBZv8T8IzFQugkr1dCFjb60t1BGIKuC3g4LTd8xuwzlXWaVNmPggggAACCISewLHNobcmG1dEwNpGXEr7FXDb5w8C1n63lAYIIIAAAggggAACCCCAAAKJIeCGgPWF/TPl6E8tdJ602R+WeyuMSwwuxkQAAQQQQAABBBBAAAEE/Aoc2fiqXD61Tm+X+5EZkqFgc7/9EroBAeuEFme8pCzgtoCD0/aKgLXTdoT5IIAAAggkSQEC1qa2nYC1KS4aWyzgts8fBKwtPgCUQwABBBBAAAEEEEAAAQQQsEbADQHrU5v6yemtQ/UFZynYWnIUe80aAKoggAACCCCAAAIIIIAAAhYLnNw1Vs7sn6ZXzfpQX8lebojFowRfjoB18IZUQMCogNsCDkbXlVDtCFgnlDTjIIAAAgggEI8AAWtTx4OAtSkuGlss4LbPHwSsLT4AlEMAAQQQQAABBBBAAAEEELBGwA0B67+WNpKLB7/WF5yr1NuSMc9T1gBQBQEEEEAAAQQQQAABBBCwWOD8n9/JsW1v61XT528o99SZZ/EowZcjYB28IRUQMCrgtoCD0XUlVDsC1gklzTgIIIAAAgjEI0DA2tTxIGBtiovGFgu47fMHAWuLDwDlEEAAAQQQQAABBBBAAAEErBFwQ8D6wNzicv3s//QF568yRVJlKm4NAFUQQAABBBBAAAEEEEAAAYsFrp3bKQfXPq9XTZn5ASnQeKfFowRfjoB18IZUQMCogNsCDkbXlVDtCFgnlDTjIIAAAgggEI8AAWtTx4OAtSkuGlss4LbPHwSsLT4AlEMAAQQQQAABBBBAAAEEELBGwA0B6z2fhUtU5E19wffXWy5hKdJbA0AVBBBAAAEEEEAAAQQQQMBigcibF+X3JbX0qneFpZAiL96weJTgyxGwDt6QCggYFXBbwMHouhKqHQHrhJJmHAQQQAABBOIRIGBt6ngQsDbFRWOLBdz2+YOAtcUHgHIIIIAAAggggAACCCCAAALWCDg9YH3z0iH5Y2Z+fbHJU2aRQnWWWLN4qiCAAAIIIIAAAggggAACNgnsW1pPbl0/o1e/r/lBSZEun02jBVaWgHVgbvRCIBABtwUcAlmjnX0IWNupS20EEEAAAQQMChCwNgj1bzMC1qa4aGyxgNs+fxCwtvgAUA4BBBBAAAEEEEAAAQQQQMAaAacHrK8cWymHF9bUF5s6UwnJV+VzaxZPFQQQQAABBBBAAAEEEEDAJoFDa9vK1XM79Op5n1whaXLVsGm0wMoSsA7MjV4IBCLgtoBDIGu0sw8Bazt1qY0AAggggIBBAQLWBqH+bUbA2hQXjS0WcNvnDwLWFh8AyiGAAAIIIIAAAggggAACCFgj4PSA9fl90+TYijb6YjPkqiu5ywy3ZvFUQQABBBBAAAEEEEAAAQRsEjj6a2+5cOxHvXqumlMlY6HWNo0WWFkC1oG50QuBQATcFnAIZI129iFgbacutRFAAAEEEDAoQMDaINS/zQhYm+KiscUCbvv8QcDa4gNAOQQQQAABBBBAAAEEEEAAAWsEnB6wPr1thJz6pbe+2CwFW0mOYt2sWTxVEEAAAQQQQAABBBBAAAGbBE7uek/O7P9Cr569/HDJWqqXTaMFVpaAdWBu9EIgEAG3BRwCWaOdfQhY26lLbQQQQAABBAwKELA2CPVvMwLWprhobLGA2z5/ELC2+ABQDgEEEEAAAQQQQAABBBBAwBoBpwesT6x/Xc7uGKsvNkex1yVLweesWTxVEEAAAQQQQAABBBBAAAGbBM7sny4nd72vV89c4jXJWenOn20a1lRZAtamuGiMQFACbgs4BLVYGzoTsLYBlZIIIIAAAgiYFSBgbUqMgLUpLhpbLOC2zx8ErC0+AJRDAAEEEEAAAQQQQAABBBCwRsDpAeujy1vKhT9m6IvN/dAgyXDPE9YsnioIIIAAAggggAACCCCAgE0CF/5aJEe39terZ7ivheSu9aVNowVWloB1YG70QiAQAbcFHAJZo519CFjbqUttBBAwIvDFF1/Ic8/dufhj+vTp0qpVKyNdaYNA6AgQsDa1lwSsTXHR2GIBt33+IGBt8QGgHAIIIIAAAggggAACCCCAgDUCTg9YH1lcTy7/9aO+2HsrfCBps1e2ZvFUQQABBBBAAAEEEEAAAQRsErh86mc5srGrXj3tPXXl3seX2DRaYGUJWAfmRi8EAhFwW8AhkDXa2YeAtZ261EYAASMCBKyNKNHGiQI3btyQ33//XRYtWiS7d++Wd955R7JmzRrYVAlYm3IjYG2Ki8YWC7jt8wcBa4sPAOUQQAABBBBAAAEEEEAAAQSsEXB6wPrgN+Xl2t+b9MXmrzJFUmUqbs3iqYIAAggggAACCCCAAAII2CRw7dxOObj2eb16qmzlJP8zv9g0WmBlCVgH5kYvBAIRcFvAIZA12tnHjQHr69evy9y5c2XQoEGyZ88ejefRRx8VFdIMONhmJ/J/tQcPHiz9+9/5GxgCHVKtOyIiItDurux39epV6datm0yaNCmo+a9Zs0aqVKkSVA06Wy9AwNp6UyraL7Bv3z5p3ry5bN682Zp/DxGwNrVpBKxNcdHYYgG3ff4gYG3xAaAcAggggAACCCCAAAIIIICANQJOD1jvn32/3Di/V19swZpzJTxtPmsWTxUEEEAAAQQQQAABBBBAwCaBG5cPyf4VjfXq4RkLS8Gmv9s0WmBlCVgH5kYvBAIRcFvAIZA12tnHTQHryMhI+emnn7Rg9erVqz1YCFjbeUoSvzYB68TfAztnQMDaTl1q2yWgvuDTrFkz2bZtmzZE0P8eImBtaqsIWJviorHFAm77/EHA2uIDQDkEEEAAAQQQQAABBBBAAAFrBJwesN73ZW65deWYvthCtRdL8lTZrVk8VRBAAAEEEEAAAQQQQAABmwRuXTsl+5Y9rldPniaXFGp51KbRAitLwDowN3ohEIiA2wIOgazRzj5uCFhHRUXJb7/9JiNHjpQZM2b45Ag62GYn8n+1ucE6cGQC1oHbuaEnAWs37BJz9BYgYJ24Z4KAdeL6J/XR3fb5g4B1Uj+xrB8BBBBAAAEEEEAAAQQQcKiA0wPWv0/NJJE3zut699dbLmEp0jtUk2khgAACCCCAAAIIIIAAAv8KRN68KL8vqaVzhIVnlPvbnHMUDwFrR20HkwlxAbcFHJy2HU4PWB8+fFjGjRsnkyZNkosXL+p8uXLlkmPH7lwc4IaA9cKFC2XHjh0+j4D6+fTp0/XXnnjiCalevbrPtiVKlJAnn3zSaUfJ1vn4Clh36dJF8uTJY2rcRo0aSeHChU31obH9AgSs7TdmBOsFCFhbb2qmIgFrM1q0tVrAbZ8/CFhbfQKohwACCCCAAAIIIIAAAgggYImA0wPWe/4vtUTdvqavtcjjP8tdYeGWrJ0iCCCAAAIIIIAAAggggIBdAlGRN2TP4sp6+buSpZIiL1y1a7iA6hKwDoiNTggEJOC2gENAi7Sxk1MD1pcvX5aPP/5YhgwZImfOnNEF8uXLJ8OGDZObN29K27Zt9Z+7IWAd3zZ6B0wHDRokERERNu68u0r7ClivWbNGqlSp4q6FMFufAgSsORhuFCBgnbi7RsA6cf2T+uhu+/xBwDqpn1jWjwACCCCAAAIIIIAAAgg4VMDpAevdnyYXibqt6xV9YqPIXWEO1WRaCCCAAAIIIIAAAggggMB/AlGRsntRhTscdyWTou1uOYqHgLWjtoPJhLiA2wIOTtsOJwasd+3aJa1atZItW7Z4cD311FPyzjvvSNGiRcU7kEnA2mkny9r5ELC21tNp1QhYO21HmI8RAQLWRpTsa0PA2j5bKvsXcNvnDwLW/veUFggggAACCCCAAAIIIIAAAokg4PiA9WTPj9RFn9yUCEoMiQACCCCAAAIIIIAAAgiYF/D+H9SLto8yX8TGHg4OWJcRkV9tXDqlk65AWRHZnBjLd1vAITGM4hvTiQFrdXt1ly5d5PPPP9emnj59eunfv7+8/PLLkjZtWu1nBKzNnSRlunbtWpk/f75s375dtm7dKhcvXtR9H3roIcmaNauUL19eSpUqJRUrVpRs2bKZG8TG1k4KWEdFRcnu3bvlyy+/lIULF2pfBMiSJYvUrl1bGjVqJE8//bR+To2SqJonTpyQjRs3irqZe/369R57VLp0aW1f1BcJHnnkEcmRI4fR0one7uTJk7J06VJZsGCBZqVCqepRt9EXL15cKlWqJFeuXJERI0boc50+fbr2JQsnPuosrl69Wnsv/frrr9peqUedAfX+UfujzkCRIkUkLMzay0wOHz4sM2fOlEWLFsnKlSu1343qFveGDRtK48aNtfewW57Tp0/LjBkz5JtvvtHOvfp9pMzUGW/evLn2OyhQP/V+OnTokFZ7+fLlsm3bNu3P6ol+LzVp0kSqVasmGTJkCJiMgHXAdJZ0JGBtCSNFAhRw2+cPAtYBbjTdEEAAAQQQQAABBBBAAAEE7BUgYG2vL9URQAABBBBAAAEEEEAg6QoQsDa993X/6fG2iMz7J6s42nRvOiDgX+BNEXnmv3P2o//m1rVwW8DBupVbU8mJAWu1snnz5mmBQRVYfP/99+Xhhx+WmP+/NgLWxvZfhUFVUH3s2LF6sNVITxXyVcFNpzwJGbD2PlsxLc6cOSOjRo2SCRMm6AF1byPlNmnSJC087O9RwXcV1P3ss89k2bJl/pprr6sg7yuvvCJvvvmmFrCN7wnGzbuvCnjPmjVLC8EaeU6dOiWjR4+O1yquOk4MWF+/fl3mzp0rgwYNMvReUqFn9cUQ9eUFI4/6AkTVqlX1pjEN1F5MnDhRhgwZIuoM+nrUvqg2NWrU8PhdaWRsO9rEfB8VLlxY5syZIyVLlpTIyEjt93u/fv3idezcubMMHjxYO+9mnoMHD8qAAQNk6tSpfrupkH+3bt2kY8eOkjp16jjbq3movbTy8XnGjyXK99SsXFaC1iJgnaDcDOYl4LbPHwSsOcIIIIAAAggggAACCCCAAAKOFCBg7chtYVIIIIAAAggggAACCCAQAgIErA1vYp1/WqpgtUrJ/S0ieUXkquHeNETAuIBKJh0WEXXl7c//nbsECVq7LeBgnDRhWjo1YH3s2DGZPHmydOrUSbJnzx4Lg4C1//Ohgpi9evWSTz75xH9jrxYErJ/TRaIt9u7dq92svmTJEr+e6vbdadOmiQqWxvd4n2O/hWM0aNq0qYwbN05y5swZZ7fEClivW7dOu3Fe3RwcyOO0gLV6L0VERGhhcTOPCvCOGTNGu2Hax99u4lEqroC1Cqr36NFDO0/+HjWeOlNO+HKEry8qqPeFCoH36dMnzi8oxFyjClmrLzRE/80F8a1f3Vr9ww8/yOuvv24oAB+zVuvWrbUvA/j6d41qR8Da38lLnNcJWCeOO6P+K+C2zx8ErDm5CCCAAAIIIIAAAggggAACjhQgYO3IbWFSCCCAAAIIIIAAAgggEAICBKz9bmLtf1qoYPWdqxBFeorIO3570gCBwAXeEpERMbqv/e8cLg28pP+ebgs4+F9RwrZwasDanwIB6/iF1G27ffv21UKDMR91G2zlypWlQoUKEh4err10+vRpLQh76NAhPZhIwNozYJ0jR45Y4eratWtrtwWr58cff5TVq1d7WKsQ6cCBAyV58uRxbpavgHWlSpWkTJkykjev+k6UaEFUtR8rV66MVcffGIkRsF61apV2I/CePXs85lu6dGntJvrode3evVtUENu7nerkpIC1umW8Z8+escLV6r2kzoC6oTpZsmSya9cuWbFihfY+ivmo0POUKVP0sxLXYfAVsK5Xr16scLUKKdepU0fSpEmj+X333XceJdu0aaMF7zNkyODv16itr/sKWCsb9aUZdabVo27drl+/vmTNmlV27twpCxcu9LihW93QroLlDRo08DtX9f54/vnnY/mrc6e81BjxvZfiC3MTsPbLnygNCFgnCjuD/ifgts8fBKw5uggggAACCCCAAAIIIIAAAo4UIGDtyG1hUggggAACCCCAAAIIIBACAgSs49zER/55RQWrq3m14PbqEDj3LliCusX6qIhk8pqrrUFrtwUcnLaPBKydsSPeYcRBgwZpN+YG+qiQa/PmzUXdBK4eFfIcMmSING7cWFKnVm9V348K5KrAa548eSRbNnUhvTOeYILCZlfgvRdfffWVdivw/PnztVLqdmAVXC9fvryEhYVpP1OBdnVTsQo8Rz+lSpWSWbNmaSHSuB5Vt2vXrlqAVAVjVU1ft/Wq23m3bNkivXv39rhBu1ixYjJ79mwpXry4zyGCcfPua2Q9f/31l6jbgJcvX67PR4WEhw4dqoXGo72iX1TrUqFb5fnhhx/qfZwSsL59+7a2rypgHf2o0G///v21ELl3iFmZzZ07V/r16+cR9FVnRq0pf/78cZ4F74D1Rx99JNu3b9eD3eocKadHH31UD+1HRkbKl19+KSocHB1aVvNbvHhxot9i7f0+UiYqLK32W4XT3333XWnZsqWkTJlSN9m/f7/2flBB6+inbdu22tmI7xZrdbu8OncbNmzwe+7UmTtw4IC2RzNmzPDYj/fff18b3/t/11Hz2bFjR6y9UzebqzVF/55V78dnn3023t+x0UXUlzPUlyk8nmObzf66StLtCVgn6e1P9MW77fMHAetEPzJMAAEEEEAAAQQQQAABBBBAwJcAAWvOBQIIIIAAAggggAACCCBgjwAB61iutf75iQpWV49DvJeIjLRnN6iKgIdAbxEZFofJmv/O6TIrzdwWcLBy7VbUImBthWLwNawMWKsAoQq0xgxof/zxx9K+fftYwcHgZ54wFYIJCpudofdeqBtwVbhZPSoIPX78eLnnnntilT179qy0a9dOvv76a/21mTNnSrNmzeKcggqUqiC70duG1S3JL7zwgkeQdOLEifLSSy/5HCMYN7MBaxVGHjVqlEfIXHlNmjRJcubMGe82eJs7JWC9adMmadKkiR6WVuFl5d2iRYt430u+blNW4ehu3brF2c87YB3z3KlbqydPniwlSpSI5ajC/SoA/sEHH+ivDRs2TAvjJ+bj63Z2NR/1ZQ8VHn/sscd8WmzcuFGeeeYZPbRctmxZUe+jQoUK+VyOr9v6jZw7XzeTK2cVui5QoIAhOvVlFPX+Vn8DgHpU+F2tW92WHdBDwNoUGwFrU1w0tljAbZ8/CFhbfAAohwACCCCAAAIIIIAAAgggYI0AAWtrHKmCAAIIIIAAAggggAACCHgLELDWReK6sTom2WkRySsiVzhJCCSAQDoROSgi8aWLLA1auy3gkAB7YGoIAtamuGxrbGXA+sqVK/Laa69pgczoZ82aNYl+o20weMEEhc2OG1cw1EhoU4WJO3XqpA8Z7E3k3nNX4fn33ntPevToob+kQrsjRoyQ8PDwWEsNxs1swFrdCqyCx9G3CKsbr1VYVd3q6+9xYsBaBcYHDhwogwcP1qevbihXP0uePHm8S1L7pN5/6pbr6KdOnToydepUyZUrl8++3gHr6EYq9Pt///d/8Tr++OOPom4Kj35U4F6dk/huq/e3J8G+7ut95C9crcZUN3G/8sor2s3QRn5/7dy5U5o2bSrqywfqUedNBbJLlizpdwm+blxX+6a+KGHkIWBtRMm+NgSs7bOlsn8Bt33+IGDtf09pgQACCCCAAAIIIIAAAgggkAgCBKwTAZ0hEUAAAQQQQAABBBBAIEkIELCWqiIyXET7p79HXWE4wl8jXkfAQoG+IjLEQD0VtB7wz83rPxloG2cTtwUcglmrHX0JWNuhar6mlQFrXwFFdaNu9epx/SUH5ueb0D18BYW7dOkiefLkMTwVdfvvk08+6be9r2CokZCrKrzX9DMxAAAgAElEQVRq1SqpUaOGPoYdQVfvIG58YyRkwPrTTz/VbkmPftQN6gMGDJBkyZKZNnfCDdbegXEV3J09e7YUL17c73pUg2PHjkmbNm1k6dKlevslS5ZI3bp1ffb3FbBWgeQpU6Z4nClfnXfv3i3PPvusbN++XXs56JuUDa0w/kbe7yOjt3+rcLoKsav/RD9x3QTv6wsHZs6dqu99blu3bq3dUq/m6+8hYO1PyN7XCVjb60v1+AXc9vmDgDUnGgEEEEAAAQQQQAABBBBAwJECBKwduS1MCgEEEEAAAQQQQAABBEJAIAkHrFWgWl2lWNPgNp77Jztyr4hcMtieZghYIaBusT4iIpkMFlv9T7u3Aw1auy3gYNAkwZoRsE4w6ngHsjJgfe3aNe2G4wkTJuhjdu7cWUaNGiVp06Z1xoJNzsJXUNhkCTF6m7T3XhgNuar5rF+/XrtJWIXc1WNHwNo7TOuEgLX3/qhw6uLFiw3fmu7EG6y//fZbUbeWRz9du3bV3kMpU6Y0dPR83YA9bNgw6d1bfe8t9uMdsDYaSFaV9u3bJ82bN5fNmzdrhZ0YsO7QoYN2q7aR30HDhw8XdVt49BNX4P78+fNaqH/OnDlaU3U7+DfffCMVKlQwtEeqkfcN2GXLltVuwC5UqJDfGgSs/RLZ2oCAta28FPcj4LbPHwSsOdIIIIAAAggggAACCCCAAAKOFCBg7chtYVIIIIAAAggggAACCCAQAgJJMGCtgtXqKr9HTG6fSqeom655EEhogX7/fRnAzLjqRmt1zu9c92mgt9sCDgaWlKBNCFgnKHecg1kZsFaDeN/Kqn6mbtNVt8Lmz5/fGYs2MYvEDFj37NlThg4dKsmTJ/c7Y+/ApR0BazNjJNQN1kePHpVWrVrJihUrNKOaNWuKOtO5c+f2a6YaODFgPXjwYOnfv78+f3WTtHoPmXm8Q9rxnQfvgLXyVDcpZ8yY0e+Qp0+f1vx/+OEHra0TA9ZGv+Bg5jx4vxfq1KkjX375pWTPnt2vWXQD75C2+vmaNWsMfTmAgLVhZlsaErC2hZWiBgXc9vmDgLXBjaUZAggggAACCCCAAAIIIIBAwgoQsE5Yb0ZDAAEEEEAAAQQQQACBpCOQhALWgQar1WHg9uqk85Zw4krN3mIdcw2r/vmDutF6uZGFuS3gYGRNCdmGgHVCasc9ltUB6+PHj2s3uy5cuNBjUHUrbsOGDUXdJqtueQ0PD3cGgJ9ZJGbA2kww1CrMW7duabdgR0ZGxiq5f/9+adeunWzfvl17zQk3WP/222/SpEkT2bt3rzan1q1ba+Fgdd6MPE4LWAcTTI+5XnWj9NNPPy3Hjh3Tfvzkk0/KtGnTJHPmzLFYvAPWdoTzjeyFVW2C+Z1m9DxYYXbjxg3p1auXdrt29KNusG7WrJlfCgLWfolsbUDA2lZeivsRcNvnDwLWHGkEEEAAAQQQQAABBBBAAAFHChCwduS2MCkEEEAAAQQQQAABBBAIAYEkELCuJCJDRKR2ENsV8V+NIErQFYGgBNTVn+pG6kAfQ0FrtwUcAsWwqx8Ba7tkzdUNJowY10jr1q2Tl19+WbZt2+azSb58+aR+/fpakLBixYqGbmg2tyrrWlsVeDUyIzv2wt+4KlC9YcMG+eqrr7RbiFVw0+jjhIB1sEFXo4FaoybBtjt79qwWEo/+gsKDDz6o7U3RokVNlTYTwA3W0NTEEqBxMO8jo+dh1qxZ0rx5c301AwYMEPUf7/9dxt9yvW8rnz59unYjuL/HzP76q6W9fmyzoWY0+leAgDUnITEF3Pb5g4B1Yp4WxkYAAQQQQAABBBBAAAEEEIhTgIA1hwMBBBBAAAEEEEAAAQQQsEcghAPWKlg9+J+/nbxOkHLcXh0kIN0tEVC3WKtrO9U/g3lW/tNZ3Wi9wlcRtwUcgoGwoy8BaztUzdcMJowY32i7d++WN998U7777rt4J6UCpCqM3aZNG0mbNq35BdjcI1QD1lFRUbJ8+XLtBt1ffvklIEUnBKy//fZbadCggT5/s0FXo4HagIAC6HT69GktYKvC7uopVaqUqDBvkSJFTFUzE8AlYH2H1uh5sOr3JgFrU8faMY0JWDtmK5LkRNz2+YOAdZI8piwaAQQQQAABBBBAAAEEEHC+AAFr5+8RM0QAAQQQQAABBBBAAAF3CoRgwFoFqweJSF2LdkTdHKyC2jwIJLaAusFanUcrHp9Ba7cFHKyAsLIGAWsrNQOvZVVQ0NcMrl+/LkuXLpWRI0fK6tWr452kCpKOHj1aHnnkEdO3wAa+ev89QzFgrcLVM2bMkE6dOsnFixf9I8TRwgkB62DPr9FAbcBIJjsSsDYJ5qN5MGfC6HkIZoyYUyZgHfx+J0YFAtaJoc6Y0QJu+/xBwJqziwACCCCAAAIIIIAAAggg4EgBAtaO3BYmhQACCCCAAAIIIIAAAiEgEEIBaxWsVgHUehZuC7dXW4hJqaAFMonIEQtusY45kTUi0vufm97VP8VtAYegRS0uQMDaYtAAy1kVFIxv+MjISFE36i5YsECmT58u27dv99k8ffr0MnHiRGnRooVjQtahGLBeuXKlPP/883Lo0CF9H8qXLy+vv/661K1bV7JmzSphYWGx9sj7VmQnBKy9b7Du1q2bjBgxQsLDww29I4wGag0Vs6CRd8Ba3fD+1VdfSdGiRU1V5wbr53SvQYMGSUREhCE/o+fBu53Zm9OjJ0PA2tC2OK4RAWvHbUmSmpDbPn8QsE5Sx5PFIoAAAggggAACCCCAAALuESBg7Z69YqYIIIAAAggggAACCCDgLoEQCFiXE5EhIvKoDfJv/xfatqE0JREISEDdpt4voJ7xd1ohIhG7PhGPK3mLdRA3ZAhs4AisJAHrwNys7pUQAeuYc44OW8+ePVvGjh0rZ86c8ViSusl61qxZUqRIEauXGlC9UAtYX758Wbp06SKff/657tGhQwctlJwlS5Z4jZwYsF67dq1UrVpVn3d8oW9fizMaqA3o8ATQ6cqVK/Laa6/J5MmT9d5r1qyRKlWqmKq2fv16qVevnn5Defv27bX3W5o0aWLVCdbQ1MQSoHEwv9OMnodVq1ZJjRo1Aj53quO1a9ekR48eMmHCBL2O+vJD9erV/SqZCdD7LaYaHNtsqBmN/hUgYM1JSEwBAtbW60fFLKn+mg8eBBBAAAEEEEAAAQQQQACB0BcgYB36e8wKEUAAAQQQQAABBBBAIHEEXBywVsFqFTZ9zCa5SyKSS0TUP3kQcIqAHbdY62urUESk6zMiZQv9+yMC1ua2nYC1OS+7WgcTRgx2TqdOnZJRo0bJu+++61FqzJgxom4idsITagHr3377TZo0aSJ79+799/dWsWIyc+ZMKVmypF9uJwasN2/eLE8//bQcO3ZMm79amwonZ8yY0e96VIbqvffe00Ku0Y+6Yb1Vq1Z++9rV4MaNG9KrVy9tXtHPlClTpE2bNqaGVF9SaN68ud6nd+/eom5LTpYsWaw6BKzvkBgNWHufuzp16siXX34p2bNnN7xPZ8+eldatW8vChQu1PoULF5Y5c+YE9F589NFHRc1d3T4f0EPA2hQbAWtTXDS2WICAtcWgIkLA2npTKiKAAAIIIIAAAggggAACjhcgYO34LWKCCCCAAAIIIIAAAggg4FIBFwasy/93q/QTLiVn2gg4XqBSUZEuDUSeG8kN1mY2i4C1GS372iZmwFqt6tatWzJgwAAZNmyYvsjOnTvL6NGjJVWqVPYt3GDlUAtYewdvVcBz/Pjxkj59er8iZgLWqpgK9Pbv31+va/Qm5uPHj4u6cTk6eBrfreb79u3TgsQq8KqeypUra0HXfPny+V3Ppk2btED2oUOH9LaJHbBWE5k0aZJ06tRJn5P6soG6YTw8PNzvmlSD27dvS0REhAwfPtzQughY32E1GrA+evSoFsRfsUL9hRYiuXLlkgULFkjZsmUN7ZFq5P1lh8cee0ymTZsm2bJl81uDG6z9EtnagIC1rbwU9yNAwNr6I0LA2npTKiKAAAIIIIAAAggggAACjhcgYO34LWKCCCCAAAIIIIAAAggg4FIBFwasXSrNtBFwpcByEVFpwjWunH0CT5qAddzgly9f1m4V/u677yRTpkzStm1bqVatmoSFhVm+S4kdsFYLWrVqldSoUUNf20svvaTd4Js6dWrL12u2YKgFrL3324y1CiS3bNlSv/3aX1/vgPX8+fOlfv368W6BOvs9e/aUCRMm6O3iC1ifP39eC2Orm3/Vo4LiixcvlipVqsQ7zokTJ0TNX80p5uOEgLUKPD/++ONy8eJFbWoVK1aUGTNmSIECBQwd3wMHDkiLFi1kw4YNWnt1S/ns2bOlePHiPvsTsL7DYjRg7ev3gvpSiArDe/9vM77Qfd2erkLx6ssmvm4Z966hbv9X78WlS5dqL9WsWVO7wTp37tyGzkisRtxgbcqNgLUpLhpbLEDA2mJQbrC2HpSKCCCAAAIIIIAAAggggIAbBAhYu2GXmCMCCCCAAAIIIIAAAgi4UYCAtRt3jTkjkGACP4jIEALWxrwJWPt2iiv4qW6w7dGjhyRPntwYsMFWBKzjhwr1gLUKJ48dO1bSpEkTL8S6devk5Zdflm3btunt/AWsVUi+e/fuensVuO7bt2+cAVR1m7kKqfbq1ctjLvEFrFVQdejQodqNzdGPv6CqrxB3dF8nBKzPnj0r7dq1k6+//lpfk7rhXQXP/YVvlaH6XRHTo2vXrjJq1ChJmTKlzz0mYH2HxWjAWvWYN2+eNG7cWO8c3zn1ht+1a5cWgo9+P6kbsL/55hupUKGCod/c6oyo2+ejb3k3+sWCOIsTsDbkHt2IgLUpLhpbLEDA2mJQAtbWg1IRAQQQQAABBBBAAAEEEHCDAAFrN+wSc0QAAQQQQAABBBBAAAE3CrgwYF39H+e3/7kg9BE3ejNnBNwgUKOkyCtPizw7VO5yw3ydMkcC1rF34vbt2zJw4EBRQVTvRwXoVOCydu3alm5hYgesVSBU3dqqAqTRj78grqUAfoqFWsD6xx9/lHr16umr9hcKvX79unb7cb9+/eTQoUMeWv4C1t5j1apVS6ZNmyb33HNPLHV1DiZOnCh9+vTRb26ObuRvjsuWLZOGDRvq/VR7deOzurnZ+1HhanXWYp63mG2cELBW8/n000+1m7mjn3z58slHH30kjz32WJwBdRU2V78jVKg9eq9UP3W7d7ly5eI86QSs79CYCVgfO3ZM2rRpo98irap06NBBC7hnyZIlTm91+7T6sox6L0Q/6s/qiwJxheC9i924cUP7IoL6EkP0o8ZWf06bNq35X5EErE2ZEbA2xUVjiwUIWFsMSsDaelAqIoAAAggggAACCCCAAAJuECBg7YZdYo4IIIAAAggggAACCCDgRgEXBqyjA59VRWS4iKh/2vFcEpFcIqL+yYOAUwQyicgREUlnx4SqPyjyan2REvn/rV6sAwFrM85ODVhv3rxZC3nG9ahw3JYtW/SXVZBOBTpTpEgRq4u6jVTd2JsqVSpDNN63knp3GjRokMfNtIaKimi3nO7YscNnc/VzFSqNfp544gmpXl19Nyf2U6JECXnyySfjHPbIkSPy/fffS5kyZaRIkSKSLl38b70LFy7Ixx9/LGpdFy9e1OoaCYQaXbcV7UItYL1nzx5p1qyZx03UKpipwp3Zs2fXySIjI2Xr1q3y7rvvamFl9aiQf+rUqeXkyZPan/0FrA8cOKDd0rthwwa9rroFe+TIkVqt6Ee9p9QNy2os9VSpUkVy5Mih3+DsL2Dt68ZndU4/+OADKViwoD7OwYMHtfd29HpUAFu9P9V8tm/frrVzSsBaGat9+fbbbz1+16ige8eOHWOFaFVwXL2XhgwZImfOnNH7GLn5noD1nd8UZgLWqpd3e/Wzp556SvuiTOnSpT3C8CoAr/7dob5Q8t133+mDVqxYUf7v//7P5xcC4vsd5n2Dtmr7xhtvaDedx3wvR9dQ72n1O/ratWva72ePh4C1qX9dELA2xUVjiwUIWFsMSsDaelAqIoAAAggggAACCCCAAAJuECBg7YZdYo4IIIAAAggggAACCCDgRgEXB6yjuWv+81/UjdY1bPBXdQfaUJeSCAQqoM5j/0A7x9Nvsaq76xP5JWYbAtbmpJ0asPYOG5pblWdrfwFU79qnT5+WVq1ayQ8//OBz2EAD1upG6P79g38r+BvfO7yrwtKFCxeW+++/X/LmzauvSYWp169fLxs3box1W7GRQGgwe2K2b6gFrNWN1CpUPHr0aA8KtVcqXK/+qc7h0qVLPb5IoH6uztHq1avlk08+0fr6O99x3ciuwp3169eXrFmzys6dO7UvAESHgtVrKiiswtDPP/+8No6/gLVqs2TJEmnSpInHeVJfflBB6+LFi8caRwW81Y3ZZcuW9QicOyVgrda0cuVKzcD75nC1FzVr1tQDubt27ZIVK1bEate6dWttn32FbWNuPgHrOxpmA9Yq2K4CzRMmTIj1q6VGjRpStWpV7csE6nfemjVrtD2N+ai9HDNmjHYDu/f/puPvd5WvEL7qo869+psOHnroIUmWLJk2tgp2q/eaOks+zzgBa3/cHq8TsDbFRWOLBQhYWwxKwNp6UCoigAACCCCAAAIIIIAAAm4QIGDthl1ijggggAACCCCAAAIIIOBGgRAIWEezq6C1Cp/6vqY0sM0598/fan8vt1gHhkcvywXsuL36exGJ+OeCyk1qtm4LOFguHGRBAtaxAVX4VYX11M27vp65c+dKo0aNTMsnVsDa7ETV7cLqP2nTpjXb1bb2oRaw1n537dolL7zwgsfN0vEBqtDz+++/L9WqVZMePXrIpEmTtOb+Ataqzd69e0UFfWPeYh3XWNHhanWDesygq5GA9a1bt7Qwca9evfyeBRV4VYHYli1bavOLeaO3kwLW6sZjFcjt1KmTqC8vmHmMhqtVTQLWd2TNBqxVTxVgVl9aGDdunJkt0r7MEGi4OnqguEL48U2EgLWpbfLZmIB18IZUCFzAbZ8/ov86rcBXbH/PqJhDqH/58iCAAAIIIIAAAggggAACCIS+AAHr0N9jVogAAggggAACCCCAAAKJIxBCAetowFr//Bd187RVQWt1RergxNkdRkXAQ2DAf2fbChZ1nbB6n6yPWcxtAQcrIKysQcDat2Zc4Vd1s7UK8GXOnNn0Njg9YK2Cu+qG7UceeUTCwsJMr8/ODqEYsFZeu3fvljfffFO+++67ePmeffZZGT58uBQsWFC8LYwErFVxdXOuaquCvHE99erVk5EjR2q37qrHbMBa9VHzUyHrUaNGxboZPXrc8uXLi7olvVatWtqNwd63rjspYB09Z3Wb94ABA2Tq1Kl+j7oKqav3UuPGjSVlypR+26sGBKzvMAUSsFa91Zdj1Bdg1C3/RsLwbdq0kYEDB0r+/PkN7VF8jbZu3SoRERF+38vRNQhYB00uBKyDN6RC4AJu+/xBwDrwvaYnAggggAACCCCAAAIIIICAjQIErG3EpTQCCCCAAAIIIIAAAggkaYEQDFhH76dVQWtusU7S7xDHLD6diBwREXWLdTDPkn/+1mgV1PYIVkcXdFvAIRgIO/o6NWBtx1rN1lSBymHDhmmBvezZs8uLL74oL7/8sqibd538/D97dx5gc73/cfzVzNj3LZQ1W7YkJKQoaU+57epqUUQbColkj0IlorgtWlRaVFosESKhbClbIYXs+z5+v8+593xzzpyZ7zlnznfm+z3nef6513w/2/vx+Uy37/Waz5hbhDdt2qSffvpJK1as0I8//qg9e/Zo6dKl2rlzp7V0c3OruZXYhFwvv/xymVCo24LVbnaO1dpMKHT27Nl65513fHtk9s18LrjgArVo0cJ3s3ONGjVisjcHDhzQZ599po8//th3m/WGDRtUtGhRXXrppbr11lt15ZVXKk+ePJkuzVw8acLj48aN08yZM301+ecxt79fe+21rrohPdyCTV3G7JNPPvHVZfbL/Nl86tatq0aNGqlVq1a+W8Zj4RjuumgXKGBC/nPmzNHkyZN9//z7/vv//uuDOYONGzf2nffrr7/ed3t18N/hZMbS/LPXfF9NmTJFc+fOlQldm5u1zcf887V69eq+M9KsWTPfDzHkzJkzcLrNizMzfcL1JWCdcFvuqoK99v5BwNpVx4fFIIAAAggggAACCCCAAAII+AUIWHMWEEAAAQQQQAABBBBAAAFnBOI4YO0Hu+T//4u5qbdpJgR7SRqYif50RSCzAuYm9b6ZGGSaJDNGyGC1f1yvBRwy4eFIVwLWjrAyKAIIIIAAApEJELCOyIuAdURcNI6xgNfePwhYx/gAMBwCCCCAAAIIIIAAAggggEBsBAhYx8aRURBAAAEEEEAAAQQQQACBYIEECFj7S85M0JpbrPnWyU6BzNxePV1Sb7tgtb84rwUcsnNTQs1NwNptO8J6EEAAAQQSUoCAdUTbTsA6Ii4ax1jAa+8fBKxjfAAYDgEEEEAAAQQQQAABBBBAIDYCBKxj48goCCCAAAIIIIAAAggggECwQAIFrP2lX/r//8XcaH1hhKfhCUnPRNiH5gjEQsDcoN4/woFm/O+cz42kn9cCDpHUlhVtCVhnhTJzIIAAAgggYCNAwDqiI0LAOiIuGsdYwGvvHwSsY3wAGA4BBBBAAAEEEEAAAQQQQCA2AgSsY+PIKAgggAACCCCAAAIIIIBAsEACBqz9BJEGrc0t1mdIOsQpQiALBSK9vfobSX0kRRSs9tfjtYBDFu5DWFMRsA6LiUYIIIAAAgg4K0DAOiJfAtYRcdE4xgJee/8gYB3jA8BwCCCAAAIIIIAAAggggAACsREgYB0bR0ZBAAEEEEAAAQQQQAABBIIFEjhg7acwQeu+kpqEcTp6SBoSRjuaIBArgZ6SBoYx2ExJT0UbrPaP77WAQxguWdqEgHWWcjMZAggggAACoQUIWEd0MghYR8RF4xgLeO39g4B1jA8AwyGAAAIIIIAAAggggAACCMRGgIB1bBwZBQEEEEAAAQQQQAABBBAIFiBgbYm0lNRPUsMMTsk2SeW5xZrvoywSMLdXr5dULIP5ZvzvBwTmxGJNXgs4xKLmWI5BwDqWmoyFAAIIIIBAlAIErCOCI2AdEReNYyzgtfcPAtYxPgAMhwACCCCAAAIIIIAAAgggEBsBAtaxcWQUBBBAAAEEEEAAAQQQQCBYgIB1mjPR4v+/8nQGN1p3k/QsJwmBLBB4QtKgdOaZK8k8N/8Zs4/XAg4xKzxGAxGwjhEkwyCAAAIIIJAZAQLWEekRsI6Ii8YxFvDa+wcB6xgfAIZDAAEEEEAAAQQQQAABBBCIjQAB69g4MgoCCCCAAAIIIIAAAgggECxAwDrdM3HZ/z8xQevGQS22SyrHLdZ8LzkskEfSX5IKB80zW1IfSbOcmN9rAQcnDDIzJgHrzOjRFwEEEEAAgRgJELCOCJKAdURcNI6xgNfePwhYx/gAMBwCCCCAAAIIIIAAAggggEBsBAhYx8aRURBAAAEEEEAAAQQQQACBYAEC1rZnIlTQ+jFJw2x70gCB6AW6S3rmlO5z/hesnhn9kPY9vRZwsK8oa1sQsM5ab2ZDAAEEEEAgpAAB64gOBgHriLhoHGMBr71/ELCO8QFgOAQQQAABBBBAAAEEEEAAgdgIELCOjSOjIIAAAggggAACCCCAAALBAgSswz4TLf+/pbnRupEkbrEOm42GUQiY26s3Siouae7/gtXfRDFOxF28FnCIuECHOxCwdhiY4RFAAAEEEAhHgIB1OEpWGwLWEXHROMYCXnv/IGAd4wPAcAgggAACCCCAAAIIIIAAArERIGAdG0dGQQABBBBAAAEEEEAAAQSCBQhYR3wm/EHr9yU9H3FvOiBgL/C4pFb/C1bPsG8euxZeCzjErvLYjETAOjaOjIIAAggggECmBAhYR8RHwDoiLhrHWMBr7x8ErGN8ABgOAQQQQAABBBBAAAEEEEAgNgIErGPjyCgIIIAAAggggAACCCCAQLAAAeuoz8S5kpZE3ZuOCKQvUPf/A9Y/ZQeQ1wIO2WGU0Zy2AWu3LZj1IIAAAggggEDCCxCwTvgjkK0AXnv/IGCdrceFyRFAAAEEEEAAAQQQQAABBNITIGDN2UAAAQQQQAABBBBAAAEEnBEgYO2MK6Mi4EUBrwUc3GZMwNptO8J6EEAAAQQQQMBOgIC1nRDPnRTw2vsHAWsnTwNjI4AAAggggAACCCCAAAIIRC1AwDpqOjoigAACCCCAAAIIIIAAAhkKELDmgCCAgF/AawEHt+0cAWu37QjrQQABBBBAAAE7AQLWdkI8d1LAa+8fBKydPA2MjQACCCCAAAIIIIAAAgggELUAAeuo6eiIAAIIIIAAAggggAACCGQoQMCaA4IAAn4BrwUc3LZzBKzdtiOsBwEEEEAAAQTsBAhY2wnx3EkBr71/ELB28jQwNgIIIIAAAggggAACCCCAQNQCBKyjpqMjAggggAACCCCAAAIIIJChAAFrDggCCPgFvBZwcNvOEbB2246wHgQQQAABBBCwEyBgbSfEcycFvPb+QcDaydPA2AgggAACCCCAAAIIIIAAAlELELCOmo6OCCCAAAIIIIAAAggggECGAgSsOSAIIOAX8FrAwW07R8DabTvCehBAAAEEEEDAToCAtZ0Qz50U8Nr7BwFrJ08DYyOAAAIIIIAAAggggAACCEQtQMA6ajo6IoAAAggggAACCCCAAAIZChCw5oAggIBfwGsBB7ftHAFrt+0I60EAAQQQQAABOwEC1nZCPHdSwGvvHwSsnTwNjI0AAggggAACCCCAAAIIIBC1AAHrqOnoiAACCCCAAAIIIIAAAghkKEDAmgOCAAJ+Aa8FHNy2cwSs3bYjrAcBBBBAAAEE7AQIWNsJ8dxJAa+9fxCwdvI0MDYCCCCAAAIIIIAAAggggEDUAgSsoyzDHLEAACAASURBVKajIwIIIIAAAggggAACCCCQoQABaw4IAgj4BbwWcHDbzhGwdtuOsB4EEEAAAQQQsBMgYG0nxHMnBbz2/kHA2snTwNgIIIAAAggggAACCCCAAAJRCxCwjpqOjggggAACCCCAAAIIIIBAhgIErDkgCCDgF/BawMFtO0fA2m07wnoQQAABBBBAwE6AgLWdEM+dFPDa+wcBaydPA2MjgAACCCCAAAIIIIAAAghELUDAOmo6OiKAAAIIIIAAAggggAACGQoQsOaAIICAX8BrAQe37RwBa7ftCOtBAAEEEEAAATsBAtZ2Qjx3UsBr7x8ErJ08DYyNAAIIIIAAAggggAACCCAQtQAB66jp6IgAAggggAACCCCAAAIIZChAwJoDggACfgGvBRzctnMErN22I6wHAQQQQAABBOwECFjbCfHcSQGvvX8QsHbyNDA2AggggAACCCCAAAIIIIBA1AIErKOmoyMCCCCAAAIIIIAAAgggkKEAAWsOCAII+AW8FnBw284RsHbbjrAeBBBAAAEEELATIGBtJ8RzJwW89v5BwNrJ08DYCCCAAAIIIIAAAggggAACUQsQsI6ajo4IIIAAAggggAACCCCAQIYCBKw5IAgg4BfwWsDBbTtHwNptO8J6EEAAAQQQQMBOgIC1nRDPnRTw2vsHAWsnTwNjI4AAAggggAACCCCAAAIIRC1AwDpqOjoigAACCCCAAAIIIIAAAhkKELDmgCCAgF/AawEHt+0cAWu37QjrQQABBBBAAAE7AQLWdkI8d1LAa+8fBKydPA2MjQACCCCAAAIIIIAAAgggELUAAeuo6eiIAAIIIIAAAggggAACCGQoQMCaA4IAAn4BrwUc3LZzBKzdtiOsBwEEEEAAAQTsBAhY2wnx3EkBr71/ELB28jQwNgIIIIAAAggggAACCCCAQNQCBKyjpqMjAggggAACCCCAAAIIIJChAAFrDggCCPgFvBZwcNvOEbB2246wHgQQQAABBBCwEyBgbSfEcycFvPb+QcDaydPA2AgggAACCCCAAAIIIIAAAlELELCOmo6OCCCAAAIIIIAAAggggECGAgSsOSAIIOAX8FrAwW07R8DabTvCehBAAAEEEEDAToCAtZ0Qz50U8Nr7BwFrJ08DYyOAAAIIIIAAAggggAACCEQtQMA6ajo6IoAAAggggAACCCCAAAIZChCw5oAggIBfwGsBB7ftHAFrt+0I60EAAQQQQAABOwEC1nZCPHdSwGvvHwSsnTwNjI0AAggggAACCCCAAAIIIBC1AAHrqOnoiAACCCCAAAIIIIAAAghkKEDAmgOCAAJ+Aa8FHNy2cwSs3bYjrAcBBBBAAAEE7AQIWNsJ8dxJAa+9fxCwdvI0MDYCCHhC4PiBP3V072od3fubju/foGMHNun4oS06cXibUo/s0omje3Xy+EGdTD2ik6nHPVETi0QAAQQQQCAcgdOSUnRaUi6dlpJXyTkLKilXESXnLqGUPKWUI18ZpeQvr5wFz1LOglWVku/McIakDQIxFSBgHVNOBkMAAQQQQAABBBBAAAEELAEC1hwGBBDwC3gt4OC2nSNg7bYdYT0IIIAAAgggYCdAwNpOiOdOCnjt/YOAtZOngbERQMB1Akf3rNHhbQt0aPsiHdmxREd2LteJIztdt04WhAACCCCAgNsEknMVVa6itZWr2LnKU7y+cpdoqJyFqrhtmawnzgQIWMfZhlIOAggggAACCCCAAAIIuEaAgLVrtoKFIJDtAl4LOGQ7WNACCFi7bUdYDwIIIIAAAgjYCRCwthPiuZMCXnv/IGDt5GlgbAQQyHaBY/s36sCf03Twr290cMtsHT+wKdvXxAIQQAABBBCIF4GUfGWUt9RFynvGJcp35mXKkb9cvJRGHS4RIGDtko1gGQgggAACCCCAAAIIIBB3AgSs425LKQiBqAW8FnCIulCHOhKwdgiWYRFAAAEEEEDAMQEC1o7RMnAYAl57/yBgHcam0gQBBLwlYG6m3rdhsvb/8bkOb1vkrcWzWgQQQAABBDwskLtEfeUve40KlG/lu+maDwKZFSBgnVlB+iOAAAIIIIAAAggggAACoQUIWHMyEEDAL+C1gIPbdo6Atdt2hPUggAACCCCAgJ0AAWs7IZ47KeC19w8C1k6eBsZGAIEsEzA3Ve9d9472/fa+Du/4KaJ5k1LyKWf+CsqZr6xy5DlDOfKUUkqu4krOVVTJOQoqKSW/klLy6LSknDrttOSIxqYxAggggAACbhY4efKETqYeVerxQ0o9vl8nju3ViSM7dfzIdh07tEXHDv2lowf+0NH965V6/EBEpeQuVlcFzrpZBSvdzs3WEcnR+FQBAtacBwQQQAABBBBAAAEEEEDAGQEC1s64MioCXhTwWsDBbcYErN22I6wHAQQQQAABBOwECFjbCfHcSQGvvX8QsHbyNDA2Agg4LrB/w6fas/o17dvwSVhzJSXnVp4idZS7cE3lLlRduQtWVY68Z4bVl0YIIIAAAggkssCxg3/q8N7VOrznFx3e/bMO7Vqq1BOHwyIpUP56Fap6t/KXvy6s9jRCwC9AwJqzgAACCCCAAAIIIIAAAgg4I0DA2hlXRkXAiwJeCzi4zZiAtdt2hPUggAACCCCAgJ0AAWs7IZ47KeC19w8C1k6eBsZGAAFnBE6e0K6Vo7X7lzE6snul7Rx5i9ZV3uINla94A1+4mg8CCCCAAAIIxEbAhKwPbF+og9sX6OBO+98gkatwDRWu3kFFanSU+K0QsdmEOB+FgHWcbzDlIYAAAggggAACCCCAQLYJELDONnomRsB1Al4LOLgNkIC123aE9SCAAAIIIICAnQABazshnjsp4LX3DwLWTp4GxkYAgZgKpB4/qF0rRmjnihd04vC2DMfOf3pT5S/VTOY/U3IVjek6GAwBBBBAAAEE0gocP7JT+/+eo/1bZvn+M6NPcu4SKlrrERWp1VlJKXnhRCBdAQLWHA4EEEAAAQQQQAABBBBAwBkBAtbOuDIqAl4U8FrAwW3GBKzdtiOsBwEEEEAAAQTsBAhY2wnx3EkBr71/ELB28jQwNgIIxExgx9JntHPZszpxZGe6Y+YuXFOFzrxSBUq3JFQdM3kGQgABBBBAIHIBE7bet3mq9vz5pQ7v/jndAZJzFVXRcx5XsTo9Ip+EHgkhQMA6IbaZIhFAAAEEEEAAAQQQQCAbBAhYZwM6UyLgUgGvBRzcxkjA2m07wnoQQAABBBBAwE6AgLWdEM+dFPDa+wcBaydPA2MjgECmBXavGq8dPw3Qsf3r0x2rUNnrVLhsK+UpUifT8zEAAggggAACCMRW4NCupdr9x2Tt+ePTdAfOkb+CitXtpcLV7o3t5IzmeQEC1p7fQgpAAAEEEEAAAQQQQAABlwoQsHbpxrAsBLJBwGsBh2wgynBKAtZu2xHWgwACCCCAAAJ2AgSs7YR47qSA194/CFg7eRoYGwEEohY4uGWOti/urYObvw05RlJKPhWpcIuKlL9JKblLRD0PHRFAAAEEEEAgawSOH96mXRs+0K717yn1+IGQk+YtfbGK1+uvvKWaZs2imMX1AgSsXb9FLBABBBBAAAEEEEAAAQQ8KkDA2qMbx7IRcEDAawEHBwgyNSQB60zx0RkBBBBAAAEEskGAgHU2oDOlJeC19w8C1hxeBBBwlcDJE0f198Ju2rXihZDrMsHqomfdqaJntVFSch5XrZ3FIIAAAggggIC9QOqJQ9r529va+duEdIPWRWo9otMbDNVpyTntB6RFXAsQsI7r7aU4BBBAAAEEEEAAAQQQyEYBAtbZiM/UCLhMwGsBB5fxiYC123aE9SCAAAIIIICAnQABazshnjsp4LX3DwLWTp4GxkYAgYgE9m/4VH8v6KKje9eF7FesUlsVq3y3klLyRzQujRFAAAEEEEDAfQKpx/drx9rXtGPdGyEXl7NgJZ3ecLjyl7/OfYtnRVkmQMA6y6iZCAEEEEAAAQQQQAABBBJMgIB1gm045SKQgYDXAg5u20wC1m7bEdaDAAIIIIAAAnYCBKzthHjupIDX3j8IWDt5GhgbAQTCFtj6/aPp3lpd8MwrVLzK/cqZr1zY49EQAQQQQAABBLwhcPTARm1f84r2/vlVyAWb26xLXvC8N4phlTEXIGAdc1IGRAABBBBAAAEEEEAAAQR8AgSsOQgIIOAX8FrAwW07R8DabTvCehBAAAEEEEDAToCAtZ0Qz50U8Nr7BwFrJ08DYyOAgK3A4e2LteW7Djq8bVGatrkKnKUS1R5U/pIX2Y5DAwQQQAABBBDwtsD+rbO1bdVLOrLvtzSF5C5RX6WajFHu4vW8XSSrj1iAgHXEZHRAAAEEEEAAAQQQQAABBMISIGAdFhONEEgIAa8FHNy2KQSs3bYjrAcBBBBAAAEE7AQIWNsJ8dxJAa+9fxCwdvI0MDYCCGQosHvVeG2Z0y5km2KV2qrE2Q8hiAACCCCAAAIJJrDt15Hase6NkFWXajpOhavdm2AiiV0uAevE3n+qRwABBBBAAAEEEEAAAecECFg7Z8vICHhNwGsBB7f5ErB2246wHgQQQAABBBCwEyBgbSfEcycFvPb+QcDaydPA2AggkK7A3wse087lw9I8N7dWl6zxuPIWb4AeAggggAACCCSowMHtC7V15bMhb7MuWrurTm/4XILKJF7ZBKwTb8+pGAEEEEAAAQQQQAABBLJGgIB11jgzCwJeEPBawMFtpgSs3bYjrAcBBBBAAAEE7AQIWNsJ8dxJAa+9fxCwdvI0MDYCCKQRSD1+UJtnttG+DZ+keVa43A0qWauHTjstGTkEEEAAAQQQSHCBkydPaOuKZ7R748dpJAqUv16lm7+tpJS8Ca4U/+UTsI7/PabCrBH4buFSXdgqut8AUK1SeZUvU1pnlCqhC88/Vy2anq+yZ5RUUlJS1iyeWeJS4O2PvtQdD/a2amt/Z2uN6NtVeXLnCqh3x649atOpl76eNd/6+tzJ49WkQZ24dMlMUcFWdWpU1XtjB8t8D/NBAAEEEEAglAABa84FAgj4BbwWcHDbzhGwdtuOsB4EEEAAAQQQsBMgYG0nxHMnBbz2/kHA2snTwNgIIBAgcGzfb/rzm1t0eNuiNDKlavdU4XKtEUMAAQQQQAABBAIEdm/8SFuWD0qjkrtEfZ15yXvKUeAsxOJYgIB1HG8upWWpQGYC1qEW2rRhXT3S7jZdc9mFypUzZ5bWEs1kR44e1efT5ipHjhRd1/KiaIagT4wFCFiHD5qamqpv5/+otev/0H1tbki3IwHr8E1piQACCCDwXwEC1pwEBBDwC3gt4OC2nSNg7bYdYT0IIIAAAgggYCdAwNpOiOdOCnjt/YOAtZOngbERQMASOLx9sf6cfqOO7V8foJIzX1mVrvO08hTh9imOCwIIIIAAAgiEFji0a6k2L31aRw/8EdAgR/4KOrPFJOUuXg+6OBUgYB2nG0tZWS4Q64C1v4AbrmyuEX27+G64duPHBFPnLVqmIaPe0OfT5uitl/qrTesr3bjUhFsTAWv7LT958qR+Xbtez7z0ut78YIr6Pd5BvTu3S7cjAWt7U1oggAACCAQKELDmRCCAgF/AawEHt+0cAWu37QjrQQABBBBAAAE7AQLWdkI8d1LAa+8fBKydPA2MjQACPoGDW+boz2nX68SRnQEi+Yo3VOlz+yslV1GkEEAAAQQQQACBDAWOH9mpzUt668D2BQHtknMV1ZmXfaK8pZoiGIcCBKzjcFMpKVsEnApYm2IanldLowZ1V71zqmdLbRlNOnT0m+o+4EWrCQFr92wRAWv7vZj0+Qzd06Wv9u0/6GtMwNrejBYIIIAAApEJELCOzIvWCMSzgNcCDm7bCwLWbtsR1oMAAggggAACdgIErO2EeO6kgNfePwhYO3kaGBsBBHRw80xt+vpapR4/EKBRqMzVKl2nL0IIIIAAAggggEBEApuX9tGeTVMC+iSl5FOZyz9T3tLNIxqLxu4XIGDt/j1ihd4QCBWwnjt5vJo0yPg3CZkbdPfuO6B9Bw7qx+W/auInX+vz6XOswKe/ehOyfm1EH1WvUtFVIP1HjNNTz46x1kTA2j3bQ8Dafi+CjQhY25vRAgEEEEAgMgEC1pF50RqBeBbwWsDBbXtBwNptO8J6EEAAAQQQQMBOgIC1nRDPnRTw2vsHAWsnTwNjI5DgAubm6k1fXZkmXF204u06vUaXBNehfAQQQAABBBCIVuDvlcO18/d3Arr7QtZXfMlN1tGiurQfAWuXbgzL8pxAtAHr4EJN4Hrxsl/06FPDZMY89XPDlc01dmhPlShWxDU+BKxdsxVpFkLA2n5vIg1Y249ICwQQQAABBAIFCFhzIhBAwC/gtYCD23aOgLXbdoT1IIAAAggggICdAAFrOyGeOyngtfcPAtZOngbGRiCBBQ5vX6w/vmypE0d2BigUq3yPSlTrmMAylI4AAggggAACsRDYtmq0dqz9T8BQybmKquyVU5W7eL1YTMEYLhAgYO2CTWAJcSEQq4C1H+PPLX+r0xNDNPnrbwN8nu/XVQ/fe6uCv3ezC5GAdXbJ289LwDpyI7sbrO1HpAUCCCCAAAKBAgSsOREIIOAX8FrAwW07R8DabTvCehBAAAEEEEDAToCAtZ0Qz50U8Nr7BwFrJ08DYyOQoALH9v2mjVMu1bH96wMEile5T8Wrtk9QFcpGAAEEEEAAgVgLbF89VtvXvBowbI78FVTu6hnKUeCsWE/HeNkgQMA6G9CZMi4FYh2wNki/rPldd3fuqwU/rrDMGp5XS++OHqSK5c5whSMBa1dsQ8hFELC23xtusLY3ogUCCCCAQOYECFhnzo/eCMSTgNcCDm6zJ2Dtth1hPQgggAACCCBgJ0DA2k6I504KeO39g4C1k6eBsRFIQIHU4we1ccrFOrxtUUD13FydgIeBkhFAAAEEEMgCgVA3WecuUV/lrv5WSSl5s2AFTOGkAAFrJ3UZO5EEnAhYG7+Jk6fq/scHaN/+gxbnuGG9de9trVzBS8DaFdsQchEErO33hoC1vREtEEAAAQQyJ0DAOnN+9EYgngS8FnBwmz0Ba7ftCOtBAAEEEEAAATsBAtZ2Qjx3UsBr7x8ErJ08DYyNQAIK/DntBu3b8ElA5UUr3q7Ta3RJQA1KRgABBBBAAIGsEPh75XDt/P2dgKkKlL9eZ172cVZMzxwOChCwdhCXoRNKwKmA9a49e9W+2yB98Nl0y/PGay7VuOd6q1DB/GEZHz12TEtWrNas+Ys1f9Ey383Yq9ZtsPpWq1Re1atU1MWNztPlzRrJ/DkpKSnk2IcOH1HnPsM0dsJHYc3d7/EO6t25XYZtY7m+sBYVRaO/t+/UN98t0tez5mvpz6v104pVvlGMVd1a1dTiooa69rKmOr140ShGl8z40+f8oM+mzvaN7d+f8mVKq06NKmrepL6ua3mxKpQtne7eBE+clQHrvfsOaM6CnzRpyowAn1PXf/0VzWT+HPy/O5GApaam+mzMPsz8bpGWrlyjDZs2+4a4oF5tnVf7bLW6/GI1bVhXeXLnCjl08A8FZDR/+ztba0TfrtZYO3btUZtOvXzzm0+dGlX13tjBvnMQzse//s+mzdE3cxdq4ZKftXP3Xl9Xc47q1Kyqqy5pohYXna8ihQqGM6SvTfBez508Xk0a1PE9O378hBb8tELvfzpNPyz5Wd8vXh5wdltd0cw3Z8EC+cKej4YIIIAAAuELELAO34qWCMS7gNcCDm7bDwLWbtsR1oMAAggggAACdgIErO2EeO6kgNfePwhYO3kaGBuBBBP4e8Fj2rl8WEDVhcpcrdJ1+iaYBOUigAACCCCAQFYLbF7aR3s2TQmYtmjtrjq94XNZvRTmi6EAAesYYjJUQgs4FbA2qOPfnax2XftbvlUqltOkcUN0TvUqGZofOHhIr7/3mUb+572AQLXdRl1zWVP1fay9L/AZ/M+IWAasnVifXW2RPt+2Y5eef/VdjXlzkhWETW+MooULqtPdN+vxB/6tAvnD+w0P6//4S8PGvKU3Pvg84Jby9Oa44crm6vXovSH3JrhPVgSszR6+8tbHGvD8OFsfs75/33S172xVKHtGRFtx8uRJX/B8wPPj9fGXM2371q5eWU93vV8m1B38wwLZEbA2wepv5/+oIaPesMLZGRVhzlKHf9+oR++7TSWKFbGtN72A9ZKfV6v30Jf1+bQ5GY5h5jM/DNGuzfXKlTOn7Xw0QAABBBAIX4CAdfhWtEQg3gW8FnBw234QsHbbjrAeBBBAAAEEELATIGBtJ8RzJwW89v5BwNrJ08DYCCSQwO5V47VlTuDNX/mKN1TZhqMSSIFSEUAAAQQQQCA7Bf5Y0EkHti8IWEKppuNUuNq92bks5s6EAAHrTODRFYFTBJwMWC/7ZY1ubNdda37faM341kv91ab1lenugWn7YM+hmvrt91HtkwlcjhrcQ7dcd1lAyDpWAWun1hdVsSE6mUCvCcR26D4oonC6GerqFhdq1KDuvtua0/uY8c0tyI8+NSzi8c3eDH+6i2//U1KS053D6YD1r2vX65Hez0V8xozL8Kc7y4TFw7nN+sjRo3ph3ERfiHvf/oMRbbEJWXfr1DbgNuusDlib7xkToh86+o2I129uoX5xwOO+m7kz+oQKWG/dtkNdnh5h3fAdDtwj7W7TwB4dlS9vnnCa0wYBBBBAIAwBAtZhINEEgQQR8FrAwW3bQsDabTvCehBAAAEEEEDAToCAtZ0Qz50U8Nr7BwFrJ08DYyOQIAKHty/W+k/qB1SbM19ZlWs0Xim5ovsVxAlCR5kIIIAAAgggEEOB40d2auP8e3X0wB8Bo1a4fpFyF68Xw5kYKqsECFhnlTTzxLuAkwHrXXv26s6HntKU6XMtxj5d71efLveFDKhu3bZT7bsN1OSvvw1gN8HcBufWVP061VUgfz7fs41/btH8Rct8twMHf+rUqKr3xg5WtUrlrUdHjx3Th1O+8fUzn9nf/6gvZnxnPb/jX1ep1tmVrD/XqlbJFzg+9ePk+mJ1zky4uu0jfdKEU43hpU3P17k1qyo5OVm/rPlds+YtTtPOhIfHDu0Z8vZhE65+95OvfeHt4MBwuOObG7J7P9pOne9vk27I2smAtan77s59teDHFWnOWOMGdXT+uTWVM2cO7di1R9NnL0hzvsz6xwzpqduuvzzDkPXx4yc0bOxb6jFwZJqtNefS7EW5M0vp6NFjmrdomb5buCSN6dBeD6tL+zuUnJzkG8N8H61Ytc7331f8uk5vffiFNfZVlzbRRRecZ/3ZjP2vqy9Rzhw5fF8z9bTp1Mu6hTrU98ipCzU3fHcb8KJGv/5B1Os3db7y7JMB6woeLHivzS3nEyZ9YZ1L492kwblqXP8c376Y798Zc34IGe63++GNWH2PMQ4CCCCQKAIErBNlp6kTAXsBrwUc7CvK2hYErLPWm9kQQAABBBBAIPMCBKwzb8gI0Qt47f2DgHX0e01PBBD4n8D6yQ10eNuiAI/yjccrT5E6GCGAAAIIIIAAAlkqcGjXUm2YF3hjde4S9VWh1cIsXQeTxUaAgHVsHBkFAScD1qFujW5/Z2uN6Ns14GZeswsnTqT6bsrtOfif33RkwpVPdb5P99/RWgUL/DdYferHBH5/XvWbnnp2jD7+cmbAs2F9Oqvz/benG4INvg3YLpyZ1euL5mSa27VNoP3U8LAJPvd6tJ3uva1VGkMTgH/u5bc08j8TA8K9z/frqofvvTWNnTkrJqS7YdNma3lm/IE9OunOG69Kc3uwucHZhNr7DX81IBBr9vWVZ3vp1lYtQ5bpVMA6VEA+I5/U1FT9uPxXPfnM6IDbrs1N1m+PGiBzS3N6n4mTp+r+xwcEuDY4t4bPqnnj+gHhcnOOTfC7+8CR+nzaHGtIM8+kV4eofp0aaaYJNur3eAf17hz4m8NO7RRJwNqc9eFj3/IFrE/9mHoHPdFJF55/rpKS/hv69n+27djlu+169BsfBNTc8LxamjCyn6pULBfWXvsbmTPSse1NMjdTly5ZPKCvOVfvfPyVHuv7vHbu3ms9Mz8cMH54bxUpVDCabx/6IIAAAggECRCw5kgggIBfwGsBB7ftHAFrt+0I60EAAQQQQAABOwEC1nZCPHdSwGvvHwSsnTwNjI1AAghs/f5R7VrxQkClpWr3VOFyrROgekpEAAEEEEAAATcK7N74kbYsHxSwtCK1HlHJC55343JZUwYCBKw5HgjERsDJgLVZYXCQ+fJmjXzh1GJFCgUU8PvGv3Rbx54B4WBz+22726/P8KZgM8juvfv0cK9nfTff+j8m8DtqUA+ZoGaoT6QB66xeX6S7a0KxfYe/4vP2f0xA9z/Dn1LzJvXTNQx107IJxb47epAqljvDGsuEsdt3G6QPPptufc3cgvzykB5qVO+cDJdrgt8P9hwaEFI2YV0Taq9Q9p85/IM4EbAOFZAPx8esyYR4zU3Ur779sVXnv2+6WiMHdAsZ/N+8dbv+/fBTmj7nB6t9q8sv1qjB3XVmqdPTtQoVADdB96G9H1aunDkD+jkZsF60dKVuvK97QJDefD+ZH1ooUaxIuus3QXHzgw5dnh4R0Ldrhzs0sEfHNDWYgYLrMF8z37OjB/fQ7TdckSbI7Z881G3qpt+Xb4/MMPge6fcV7RFAAIFEFiBgnci7T+0IBAp4LeDgtv0jYO22HWE9CCCAAAIIIGAnQMDaTojnTgp47f2DgLWTp4GxEYhzgf0bPtWmaa0Cqixc7gaVqv1knFdOeQgggAACCCDgdoEtywdq98Z/QlJmvWUum6z85a9z+9JZ3ykCBKw5DlkpMH/xcr35/uf65ruF+m3jn76pzyp3pi5p0kD/vvkaNapXOyuXE9O53BKw/nTqbLW6q4tVW6S30U6bvUAtb+1k9W/R9Hy9M3pguoHQSAPWWb2+SDc5VADc3BzcpvWVtgH1v7fvHgBvbwAAIABJREFU1H2PDZCp0f8ZN6y379Zr/2fG3B90wz2PWbcTmzDrpFeHquXFF4S11GW/rNGtHXr6bmr2f9K7KduJgHWwj1n/mCE9ddv1l9v6mPX+ueVv3+3gM7/772/oMv0//s9zuvTC89PU/9EX3+hf7bpZXzdB9HdfHqjqVSraWs3+/kfd+kBPmZC2+Zg+H7wyRDWrnRXQ16mAdaigvgnom7OUUTjcvzgTfB73zie6//GB1nojuYnbdMookH0qggn939ulf8Dt9W+80Fcm/M4HAQQQQCDzAgSsM2/ICAjEi4DXAg5ucydg7bYdYT0IIIAAAgggYCdAwNpOiOdOCnjt/YOAtZOngbERiGOBkyeO6vcPa+jo3nVWlbkKnKUKTd/Vaaclx3HllIYAAggggAACXhA4efKE1s+5TUf2/WYtN2fBSqr4r5U6LTnwhkgv1JOoayRgnag7n/V1P9B9sMZM+DDDiTvc+S+9POSJrF9cDGZ0OmA9dsJH6tD9n98cUO+c6po4ZpAqVygbsPqFS1Zq5rxF+mn5r1q/abPuuvlatb8z/N9+tGrdBt3S/gktXbnaN64Jtb43drCqVSofUinSgHVWry/SrQ0O3F7X8iK9+lwvnV68aFhDjX93stp17W+17XjXTb4bi3Pnyqmjx475bnAe8co71vP0blZObzITvDX9u/YdYTW5onljX3C3eNHCAd2cCFgH15fRDdTp1RA8Ruf7b9czTz6knDlyWF0OHT6izn2GyZx7/2fQE53UrWNbJScn2e7FgYOH9OCTQ/X6e59Zbc33yy3XtczQqN/jHdS7c7t0x9+xa4/adOqlr2fNz/D7Y8Omzbq945Oat2iZNdaH44aq9VWX2K7d3yBU8Ll/twf05CP3pAmzB+91JLdQmzB476Eva/DI16y12TmEXQQNEUAAAQREwJpDgAACfgGvBRzctnMErN22I6wHAQQQQAABBOwECFjbCfHcSQGvvX8QsHbyNDA2AnEssPX7R7VrxQsBFZZr+LLyFm8Qx1VTGgIIIIAAAgh4SeDg9oXauOCBgCUXqfWISl7wvJfKSOi1ErBO6O3PsuKvuP0hK5BoN+nlzRrpq3dG2jVz3XOnA9ZvfjBFbR/pY9VtF3yOFsjpgHW06/L3i3R9kcwXKgBtwtEmABz8z8r0xjU3TD/S+zmVKlFMdWufrXrnnK0Lzz9XuXLm1F9bt/nCubPmLba6T504Spdd1DCSZcrMcWO77lrz+0Zfv9Ili+uzN0bIhO5P/cQ6YB0q9PzWS/19t3tH8glef7PG9fT2qAE6o2QJa5jggLKp8ZP/DNP5dWuGPdWrb3+sCZO+UO3qlVWz6lm66ILzVOvsShka2QWLww1YB98EH6rGcAoJ/sGKG6+5VOOe661CBfNnWEek8wXPY+cQztppgwACCCDwXwEC1pwEBBDwC3gt4OC2nSNg7bYdYT0IIIAAAgggYCdAwNpOiOdOCnjt/YOAtZOngbERiFOBg1vmaOPnFwVUV6xSW5U4+6E4rZiyEEAAAQQQQMCrAtt+Hakd694IWH65a2Yrb6mmXi0podZNwDqhtjtbig3n5urghXnxJmunA9bBN0U3rn+O3hk9UOXLlI7pvkYaYI70BuvMLjbS9UUyn7kx+M6HntKU6XOtbt9+9IovmBuLz/eLl6vlbZ20b/9B33DR7uGevfvV7rH+mvT5DGtZoYLOsQ5YBwfEzS3JU98dpQvq1Y6IZ9uOXb7bnafP+cHXL1RAPNiqRdPzfee9RLEiEc1l1zjYyC5YHG7A2twG3XPwKGv6ULd0263NPF+87Bdd27azNm/d7mue3g9WBNfR7vbr9UL/x5Q3T+5wplGkDmENSiMEEEAAAZ8AAWsOAgII+AW8FnBw284RsHbbjrAeBBBAAAEEELATIGBtJ8RzJwW89v5BwNrJ08DYCMSpwMYpzXRw87dWdbkKnKWKF70fp9VSFgIIIIAAAgh4XeD32TfryL7frDLylr5Y5a6e5fWyEmL9BKwTYpuzrcj5i5er8bV3RzX/vM9eU6MIg5tRTRSjTlkdsDY3fZtbf4sVKZTpCszNzevWb/LdrPzhlG80Y+5/g6/mY3dTdlYErDOzvkhwgsPb5ubj98c+o7MrV4hkmHTbfjp1tlrd1cV6nt5txHaTnTiRqt5DX5YJ8fo/oYLBsQ5Yh7o5+85/XaWiEZ5BcxP2+59O0y9rfrfWH3yTd2YDw3aG/ueRBovDCViHugl9+NNdfDehR/oJdev53Mnj1aRBnYChguvoeNdNMrev586VM6wpI3UIa1AaIYAAAgj4BAhYcxAQQMAv4LWAg9t2joC123aE9SCAAAIIIICAnQABazshnjsp4LX3DwLWTp4GxkYgDgV2rxqvLXPaBVRWpv5w5S8ZeKN1HJZOSQgggAACCCDgUYH9W2dr06J/QmOmjFJNx6lwtXs9WlHiLJuAdeLsdXZUGs3t1f51eu0WaycD1qECtVe3uFATRvZTkUIFw9ra1NRU7dm3Xxs2bZG5QXjFr+tkArNLf16tn1asSneMrApYO7W+sHD+1+jXtet1c/seWv7LWt9X6p1TXRPHDFLlCmUjGSbdtuEGnsOZLDjYnhUB61BnPJy1htMm+AbuNz+YoraP9LG6RhoYDmdO0ybSYHE4AWsTIO/cZ5jGTvjIWkaoG8bDWWPwfKZPOAFru5u4g+eO1CGctdMGAQQQQOC/AgSsOQkIIOAX8FrAwW07R8DabTvCehBAAAEEEEDAToCAtZ0Qz50U8Nr7BwFrJ08DYyMQhwLrJlbUsf3rrcoKnnmFzjh3QBxWSkkIIIAAAgggEE8Cfy3ppb1/fmWVlCN/BVW69Z/bKeOp1niqhYB1PO2m+2qpdmFrrf5tY1QLq3pWOa2a+09AMapBsrCTkwHrffsPqlPPZzRh0hdWRe3vbK0RfbsqT+5c6VZpgp7mVurX3vtUM+b8oJ2790Ys4mTAOivWF0nBwXsYy1vCzTqcDFiHOg/hzhduiDcrA9bhBMgj2dv02kYaLHZDwDpUWDvSOoI9Mts/FnvBGAgggEC8ChCwjtedpS4EIhfwWsAh8gqd7UHA2llfRkcAAQQQQACB2AsQsI69KSOGL+C19w8C1uHvLS0RSHiBHUuf0baFTwQ4nNXsI+XMVy7hbQBAAAEEEEAAAXcLHD2wUb/Nah2wyBINBqtYnR7uXniCr46AdYIfAIfLz1GuoY4fPxHVLCkpyTq2cUFUfbOjk5MB67+2blObTr18YWn/Z9ATnfTEQ3eHLNXcBv3Nd4vUc/BLWrhkZdgcRQsXVN1aZ2vlmt+0eet2Xz8nAtZZub6wi5fk5YC1OQv9uz2g5OQkq2QC1va7H2mw2A0B66kTR+myixoGFBdpHcEyme1vL00LBBBAIHEFCFgn7t5TOQLBAl4LOLhtBwlYu21HWA8CCCCAAAII2AkQsLYT4rmTAl57/yBg7eRpYGwE4kgg9fhBrXu3rE4c2WlVVaxSW5U4+6E4qpJSEEAAAQQQQCCeBbb9OlI71r1hlZicq6gq3faHklLyxnPZnq6NgLWnt8/1iydgPV5NGtTJ9D6Z4O+VbR6Sucna/5n8+nBd1/KiNGObQPuYCR/6wtWntg9uWL5MadWsdpbq1qqmeudU9/1nmdIltW7DJt3S/gktXbna1yXWAeusXl8k+Mt+WaMb23XXmt//e+u6cZk4ZpAqVygbyTDptg038BzOZOHc8BzufNHeYB3rG75PrXvshI/Uofsg60sd77pJw/p0Vu5cOcPhCbtNpMFiNwSs505O+8+VSOsIBsps/7DBaYgAAggkoAAB6wTcdEpGIB0BrwUc3LaRBKzdtiOsBwEEEEAAAQTsBAhY2wnx3EkBr71/ELB28jQwNgJxJLBjyUBtW9TLqigpJZ8qXzpFSSn546hKSkEAAQQQQACBeBZIPb5fa2dcrdTjB6wyS9QfoGLnPhnPZXu6NgLWnt4+1y++2oWttfq3/4ZVI/1UPaucVs39KNJu2dbeqRusT548qRGvvKOufUdYtWUUev5m7kLd8VBv6wZq08ncTH3bDVfomhYXqtbZlXV68SLKmSNHSKtV6zY4GrDO6vVFciCCa69dvbLeH/uMzq5cIZJh0m376dTZanVXF+v5jddcqnHP9VahgpG98x89dkw9Bo70nQv/J9SN5rEOWH+/eLla3tbJCu7HOoB+Klzw2tvdfr1e6P+Y8ubJHZO98A8SabA4nIB1qP0Z/nQXdb7/9ojXvmHTZt3e8UnNW7TM17dA/rya+u4oXVCvdsBYkdYRvJDM9o+4MDoggAACCSRAwDqBNptSEbAR8FrAwW0bSsDabTvCehBAAAEEEEDAToCAtZ0Qz50U8Nr7BwFrJ08DYyMQLwInT2jN26V14vA2q6LiVTuoeJV28VIhdSCAAAIIIIBAgghsXzNO21ePsapNzl1CVdpslk5LThABb5VJwNpb++W11T7QfbDvNuVoPh3u/JdeHvJENF2zpY9TAevNW7fr3w8/pelzfrDqan9na43o21V5cucKqPXAwUN68Mmhev29z6yvmxu0xw590ndbdTgfJwPW2bG+cGr2t9m2Y5cvzHqq9bcfvaKLLjgv7GEOHT6ix/o9r1/W/K7qVSr6br++pdVlOqNkCS1e9ouubdvZCr9HG1DetWev7nzoKU2ZPtdal7lp+5brWgasM9YB67Xr/9CtHXr66jAfE/b98u2RMbmlPRh49vc/6uLW91tfbtH0fL0zeqBKFCsS9l6Ys2xuwc6XN4/OrVnVF5S/6doWypXzn1uwIw0WhxOwNgs04fcuTw+31hrtDdzhhtojrSMYMbP9w94UGiKAAAIJKEDAOgE3nZIRSEfAawEHt20kAWu37QjrQQABBBBAAAE7AQLWdkI8d1LAa+8fBKydPA2MjUCcCOz6eaS2zn/YqsZ3e3WLr5SUnCdOKqQMBBBAAAEEEEgUgdQTh7R2+hUBt1iXbPSiitR8KFEIPFUnAWtPbZfnFjt/8XI1vvbuqNY977PX1CjoltaoBsqiTk4FrIODj6acD8cNVeurLklT2bJf1ujGdt215vf/3hpuArCTXh2qlhdfELZCcLA1o9uyzaD9R4zTU8/+80M1b73UX21aXxlyvuxYX9iFSzp85KjvpvDRr39gdYv05uG/tm5Tm069NGveYt8YVSqW06RxQ3RO9SoKfmaeT504Spdd1DCSZSrYsXTJ4vrsjREyge1TP7EOWO/Zu1/tHuuvSZ/PsKYZ1qez72bm4P8tyaig3zf+pXu69FVKcrLq1j5bFcqU1r+uvlQlSxS1ugWHudOrMaN5ps1eoJa3drKa3HnjVRo1qIfv+8L/iTRYHG7AOnjuZo3r6e1RA3xB+0g+Yyd85AuJ+z/p3XoeaR3Ba8hs/0hqoi0CCCCQaAIErBNtx6kXgfQFvBZwcNteErB2246wHgQQQAABBBCwEyBgbSfEcycFvPb+QcDaydPA2AjEicDvk2rqyO6VVjXFKt+jEtU6xkl1lIEAAggggAACiSawbdVo7Vj7H6vsXIVrqOKNPycagyfqJWDtiW3y9CKjucXaa7dXmw1yImBtbkG+u3NfLfhxhXUGrmt5kV59rpdOL/5PGNX/MDjU2bj+Ob5bf8uXKR3WGTp58qTv5l0TMvZ/Yhmwzo71hVX4KY3GvztZ7br2t75yw5XNNX54bxUpVDCsoWbM/UE33POY9u0/6Gt/aiD26LFj6jFwpM/Y/0nvNvL0JjtxIlVDR7+hnoNHWU2uaN5YE0b2U/GihQO6xTpgHep8NG9S3zf3maVOD8vHjDHunU90/+MDrfahzmmo284jCXMbp77DX/H9AID/EyosH2mwONyA9YZNm323oc9btMyaP6MfPgiF9/f2nbrvsQH6dOps63H/bg/oyUfuSRNoj7SO4Pky2z+szacRAgggkKACBKwTdOMpG4EQAl4LOLhtEwlYu21HWA8CCCCAAAII2AkQsLYT4rmTAl57/yBg7eRpYGwE4kBg/4ZPtWlaq4BKKl/6pVJyR3azURxQUAICCCCAAAIIxInA8cPbtHZG4A2mZS6brPzlr4uTCuOnDALW8bOXbq7kitsf0tez5oe1xMubNdJX74wMq62bGsU6YL1120617zZQk7/+1irT3Lz7yrO9dGurliFLN0HMVnd1sZ6ZG40njhmkyhXKhkVlbka+tUNPmWC3/xPLgHV2rC+swk9p9POq33TT/d0DDEyA2NzKbXdL86HDR9S5zzCZW4f9n+BQcHAAO9JbxkPtUXrB41gHrE1Ni5au1I33dZcJEPs/zzz5kLq2v0MpKcm23OZ29Tsfeirghwa6dfy3+nd/QDlz5AjoHxx2N2fx3ZcHqnqVirbzrFq3Qbe0f0JLV672tTU3YH/yn2E6v27NgL6RBovDDViHCnhHEkYPFURPrwZTUKR1BANmtr/thtAAAQQQSGABAtYJvPmUjkCQgNcCDm7bQALWbtsR1oMAAggggAACdgIErO2EeO6kgNfePwhYO3kaGBuBOBD4c9oN2rfhE6uSQmWvU+lznoqDyigBAQQQQAABBBJZYPOyftrzx6cWQYHy1+vMyz5OZBJX1k7A2pXbEpeLCucmay/eXO3frFgFrFNTU7VwyUrfLdJmzFM/He+6SUN7Pax8efOEPCPfL16ulrd1sm5PNo3CDQebYLEJdAfPWbt6Zb0/9hmdXblCyDnNDcFPPTvGejZmSE+ZW5lDfbJjfZF+M4UKxpobwN94oa8ubnReusOZfXvn46/U8YlnLP9Q4fRde/aqfbdB+uCz6dZY1SqV1yvPPqmLLkh/fNPYhJMf7DlUU7/93urb8Lxavj2uUrFcmrU5EbA+cvSonnxmtIaNeeuf/33Pn1cj+nZV25uuyTBkbW717j7wRb38xiSrr7Gd9OoQ1a9TI836N2/drn8//JSmz/nBetbq8os1duiTKlki7Q3u/kah5knvpvBgoyceulvmlujk5KSQex1uwNp0DhVGv+naFho5oFuG6zfh6o+/nKkuT48ICLI/ePfNGtr7EeXJnct2r/s93kG9O7cL+/gTsA6bioYIIIBAxAIErCMmowMCcSvgtYCD2zaCgLXbdoT1IIAAAggggICdAAFrOyGeOyngtfcPAtZOngbGRsDjAsf2b9S6ieUDqijfeLzyFKnj8cpYPgIIIIAAAggkusChXUu1Yd69AQyVbt2gHPnThsAS3So76ydgnZ36iTf3/MXL9eb7n+ub7xbqt41/+gDOKnemLmnSQP+++Ro1qlfbsyjRBqxNMHfPvv3a8vcO/fDTz5ow6QuZW46DP+EES0MFUk2AdUD3B2SCnbly5kwz7t/bd+qN9z/XMy+9rp2794b0nzt5vJo0CP2OOuKVd9Tl6eFWP7POUYO768xSp6cZKzvWF82BWv/HX7rjwd4BYXO/47+uvjRNwHXvvgN6Ydy7evblNwPC7c/366qH7701zc3X5qy06dQrIDxbtHBB9Xq0ne6/44Y0AXoTav5ixnd6YtBLMjcz+z/m9msTaL/t+stD3q7tRMDazB3qFmrz9c73365H77td5c4sFcBuAsM/rVilPs+N1efT5gQ8s7v92tzgfudDvQNcW158gQb26Kjzap+tpKR/gtBmnrXr/1D3ASN9AWX/J6MQd/Ct6iawPu653qp1dqWQRyeSgLUJ6w8f+5a6DXgxYKwG59bQoCce1CVN6ges3zQy4784fqJGvPJ2QM1mXa+N6JPu7d2ZDUhntn8032f0QQABBBJFgIB1ouw0dSJgL+C1gIN9RVnbgoB11nozGwIIIIAAAghkXoCAdeYNGSF6Aa+9fxCwjn6v6YlA3AvsWPqMti18wqozd+GaqtDkjbivmwIRQAABBBBAIDEE1n/XVod3/2wVW6LBYBWr0yMxivdIlQSsPbJRLNP1AqEC1rFatAmUvjSoW8hbik+dwwRMx73zie5/fGCaqc0tyY3qn2PdRG2CnHMW/CRzq/SpHxP+NDdkz5q32Prytx+9ku7tysEBVdPJhIXr1KyqHCkpuvD8c9X9wbbKmSOHsmN90e7Bt/N/VNtH+gSEoM1YJqzbrHE9X9D1xIkTWvLzas2Y80OacHpGt40bh3c/+Vodug8KCNH67S5ter7OrVlVycnJ+mXN77692LBpc5pS7MLJTgWszULS8zHPzE3fZt8L5M+nffsP+G6gXvDjijTrb3vzNRrWp7OKFSmU7jYdP35Cw8a+pR4DR6ZpU7dWNbW4qKGvv5ln7g9LfOs69WMXQl+87Bdd27azTPjf/zF9zq1ZzRekr3JWOQ3q0UkFC+TzPY4kYG3aHzh4yBewHv36ByG/J81em0D60aPHNG/RMn23cEmaMxHODeqZDUhntn+032f0QwABBBJBgIB1IuwyNSIQnoDXAg7hVZV1rQhYZ501MyGAAAIIIIBAbAQIWMfGkVGiE/Da+wcB6+j2mV4IJITA+o/P0+EdP1m1lqz5mIpUuDUhaqdIBBBAAAEEEIh/gV3rJ2rrz89ZheYuVlcVbggMP8W/grsrJGDt7v1hdd4RcCpgfc+t12lgj04qdXqxsDBMoPPJZ0b7blSO9OOf67X3PlXPwaOs7m+80Ff/vunqkMOFuu351IZ33niVRg3qIRNaNZ+sXl+kBqe2n794mR7o/oyWrlwd0TD3tblBJvxsgubpfUzI+pOvZqW5lTqcicy4A7p3lJknJSU53S5OBqzNpNH6mL7mXJhwdYliRWxLNiHrMRM+VM/BL6UJH2fU2Zy5EX27qu1N16TrtGvPXrXvNkgffDY95FAmTP/2qAE6o2QJ3/NIA9b+M29uiDffk/v2H7St99QG5gceXuz/uC6wud0/swHpzPaPqCgaI4AAAgkmQMA6wTacchHIQMBrAQe3bSYBa7ftCOtBAAEEEEAAATsBAtZ2Qjx3UsBr7x8ErJ08DYyNgIcFjuxYot8/rhtQQeUWU5WSq6iHq2LpCCCAAAIIIIDAPwLHj+zU2uktA0gq3vCTchU7FyaXCBCwdslGsAzPC8Q6YH3Dlc3VpX0bNa5/jpKSkiLyOXT4iMa8+aEGPD8uzc3KoQa6vFkjde/U1nfzsJkr+Fbq9ne29gVVzY2+wR8TFP5q5nw90GNwyFuWgwOqpn9Wri8iuBCNt+3YpWFj3tLoNz6wDceaW8Kf6nKf/nX1JcqVM2dYU5uAer/h4zRpynTb8c2AJuje8+F7ZOay+zgdsDbzG5/nX31XY96cFNZZi8bIzGPO2U8rVqnPc2P1+bQ5dqXrmsuaqu9j7WVuuQ7+37ngzuYW6049h4S8ZbtKxXKaNG6IzqlexdctmoC16ZeamqpvvlukfsNf9d0cb/cxIfoeD96l++9orUIF89s1V2YD0pntb7tAGiCAAAIJLEDAOoE3n9IRCBLwWsDBbRtIwNptO8J6EEAAAQQQQMBOgIC1nRDPnRTw2vsHAWsnTwNjI+Bhge0/9tX2H5+2Ksh/elOVaTDCwxWxdAQQQAABBBBAIK3ApoWdtf/vf8JQxc97WsXP6wOVSwQIWLtkI1iG5wUyE7A2IdAzSpVQ/To1fIFqc2ttkULp334cLtbf23fqs2lzNH32Al84ddW6Db6u5cuUVp0aVdS8SX2ZcLUJvZ4a4v5941+6rWNPK3BavUpFTRwzyAqZhprfBIXHvztZ0+f8oO8XL7eaBAdUT+2blesL1yy9dumt1dg1qn+Orrqkic+yYIF8EU9lwsObNv+tL2Z8p1nzFgXslRnfnI9mjevrqkubqEzp020Dw/4FZEXA2j+XuQl6+uwf9MU33+nXteutM2BukT63ZjVfDeaHBhqeVytkUD9cNBNUXrn6d3385UyZ77mFS362gt3mlufmjevr6hYXqmHdWhne7h08nwmKv/nBFH35zTz9sGRFQNh96sRRuuyihr4u0Qas/fOZ27jN9+JXM+eFXP95tc/2naWmDetGdJYyG5DObP9w9492CCCAQCIKELBOxF2nZgRCC3gt4OC2fSRg7bYdYT0IIIAAAgggYCdAwNpOiOdOCnjt/YOAtZOngbER8LDA+skNdHjbIquCUuf0VuGyrTxcEUtHAAEEEEAAAQTSCuz+Y7K2LOtvPchdor4qtFoIlUsECFi7ZCNYBgIIIIAAAggggAACCMSdAAHruNtSCkIgagGvBRyiLtShjgSsHYJlWAQQQAABBBBwTICAtWO0DByGgNfePwhYh7GpNEEg0QSO7d+odRMDf6Vv5RZTlZKraKJRUC8CCCCAAAIIxLnA8SM7tXZ6y4AqK926QTnyl4vzyr1RHgFrb+wTq0QAAQQQQAABBBBAAAHvCRCw9t6esWIEnBLwWsDBKYdoxyVgHa0c/RBAAAEEEEAguwQIWGeXPPMaAa+9fxCw5twigEAagd2rxmvLnHbW1/MWratyjV5FCgEEEEAAAQQQiEuBjfPv08GdP1m1lWo6ToWr3RuXtXqtKALWXtsx1osAAggggAACCCCAAAJeESBg7ZWdYp0IOC/gtYCD8yKRzUDAOjIvWiOAAAIIIIBA9gsQsM7+PUjkFXjt/YOAdSKfVmpHIB2Bv2a20d5171hPi1ftoOJV/glcA4cAAggggAACCMSTwPY147R99RirpIKVbtcZzd+OpxI9WwsBa89uHQtHAAEEEEAAAQQQQAABlwsQsHb5BrE8BLJQwGsBhyykCWsqAtZhMdEIAQQQQAABBFwkQMDaRZuRgEvx2vsHAesEPKSUjICdwNp3y+r4gU1Ws/KNxytPkTp23XiOAAIIIIAAAgh4UuDQrqXaMO+fG6tT8pVR5dv+8GQt8bZoAtbxtqPUgwACCCCAAAIIIIAAAm4RIGDtlp1gHQhkv4DXAg7ZLxa4AgLWbtsR1oMAAggggAACdgIErO2EeO6kgNfePwhYO3kaGBsBDwoc3bNGv31Q1Vp5UnJuVb1irgcrYckIIIAAAggggED4Aqu/ulCOb3ucAAAgAElEQVSpJw5bHc66abVyFqoS/gC0dESAgLUjrAyKAAIIIIAAAggggAACCIiANYcAAQT8Al4LOLht5whYu21HWA8CCCCAAAII2AkQsLYT4rmTAl57/yBg7eRpYGwEPCiwd+1b+mvWndbK8xVvqLINR3mwEpaMAAIIIIAAAgiEL/DHgk46sH2B1eGMZhNUsPId4Q9AS0cECFg7wsqgCCCAAAIIIIAAAggggAABa84AAghYAl4LOLht6whYu21HWA8CCCCAAAII2AkQsLYT4rmTAl57/yBg7eRpYGwEPCiw9ftHtWvFC9bKi1W+RyWqdfRgJSwZAQQQQAABBBAIX2DbqtHasfY/VocitR5RyQueD38AWjoiQMDaEVYGRQABBBBAAAEEEEAAAQQIWHMGEEDAEvBawMFtW0fA2m07wnoQQAABBBBAwE6AgLWdEM+dFPDa+wcBaydPA2Mj4EGBjVOa6eDmb62Vn1nvWRUo1dyDlbBkBBBAAAEEEEAgfIF9W2bqz8WPWx3ylr5Y5a6eFf4AtHREgIC1I6wMigACCCCAAAIIIIAAAggQsOYMIICAJeC1gIPbti7Yz23rYz0IIIAAAggggICdQPX75IUMqV0ZPPeIgNfeP7zwzXHy1L0/eTLgjx45FiwTAe8IrJlQTCeO7LQWXKn5ZOXIe6Z3CmClCMS5wHcLl+rCVvdaVdapUVXvjR2sapXKZ6ryHbv2qE2nXvp61nxrnH6Pd1Dvzu0yNS6dEUAAAa8IHDv4p9bNbGUtNzlXUVW5c4dXlh+36yRgHbdbS2EIIIAAAggggAACCCCQzQLBN5ad3c5df/8W/D4o8Rf+2XxkmD6OBbwWcHDbVhCwdtuOsB4EEEAAAQQQiFSAgHWkYrTPjIDX3j8IWGdmt+mLQJwJHD/wp9a+W8aqKikln6pe/s9t1nFWLuUg4EkBAtae3DYWjQACHhFY/fXFSj1+wFpt5ds2KSUfP2iWndtHwDo79ZkbAQQQQAABBBBAAAEE4lmAgHU87y61IRCZgNcCDpFV53xrAtbOGzMDAggggAACCDgrQMDaWV9GDxTw2vsHAWtOMAIIWAIHN8/UximXWH/OXbimKjR5AyEEEHCRAAFrF20GS0EAgbgTWP9dWx3e/bNVV7mrv1He0s3jrk4vFUTA2ku7xVoRQAABBBBAAAEEEEDASwIErL20W6wVAWcFvBZwcFYj8tEJWEduRg8EEEAAAQQQcJcAAWt37Ue8r8Zr7x8ErOP9RFIfAhEI7F41XlvmtLN6FDzzCp1x7oAIRqApAgg4LUDA2mlhxkcAgUQW+GtJL+398yuLoFTTcSpc7d5EJsn22glYZ/sWsAAEEEAAAQQQQAABBBCIUwEC1nG6sZSFQBQCXgs4RFEiXRBAAAEEEEAAAQQQQMAlAl57/yBg7ZKDwzIQcIPA9sVPaftP/a2lFKt8j0pU6+iGpbEGBBD4nwABa44CAggg4JzAtlWjtWPtf6wJitftreL1+jk3ISPbChCwtiWiAQIIIIAAAggggAACCCAQlQAB66jY6IRAXAp4LeAQl5tAUQgggAACCCCAAAIIJIiA194/CFgnyMGkTATCEdg8+x7tWf2a1bRU7Z4qXK51OF1pgwACWSRAwDqLoJkGAQQSUmD3xo+0Zfkgq/ZCVe9W6Yv+CVwnJEo2F03AOps3gOkRQAABBBBAAAEEEEAgbgUIWMft1lIYAhELeC3gEHGBdEAAAQQQQAABBBBAAAHXCHjt/YOAtWuODgtBIPsF/vj6Kh3440trIWXqD1f+khdl/8JYAQIIWAIErDkMCCCAgHMC+7fO1qZFXawJ8pW9UmUv/8K5CRnZVoCAtS0RDRBAAAEEEEAAAQQQQACBqAQIWEfFRicE4lLAawGHuNwEikIAAQQQQAABBBBAIEEEvPb+QcA6QQ4mZSIQjsD6yQ10eNsiq2n5Jq8rT+Fa4XSlDQIIZJEAAessgmYaBBBISIFDu1dow3d3WbXnLlFfFVotTEgLtxRNwNotO8E6EEAAAQQQQAABBBBAIN4ECFjH245SDwLRC3gt4BB9pfREAAEEEEAAAQQQQACB7Bbw2vsHAevsPjHMj4CLBH57v7KO7l1nreisZh8pZ75yLlohS0EAAQLWnAEEEEDAOYGjBzbqt1mtrQlyFqyks25e69yEjGwrQMDalogGCCCAAAIIIIAAAggggEBUAgSso2KjEwJxKeC1gENcbgJFIYAAAggggAACCCCQIAJee/8gYJ0gB5MyEQhHYM1bp+vE4W1W08otpiolV9FwutIGAQSySMCNAevU1FSt/2OzPp36rWZ+t0hLV67Rhk2bfSLVKpVX9SoVdXGj83R5s0a+PyclJUWldfLkSW3a/Lc+nzZHX82cFzBP3VrVVKdmVV11SRPfPAUL5AtrjkOHj6hzn2EaO+EjX3vT9+1RA1SsSCGt/+MvvTh+oj76YqavHjNH04Z1dfN1l6lh3VpKSUkOaw4aIYCAdwSOH9mptdNbWgtOzl1CVe742zsFxOFKCVjH4aZSEgIIIIAAAggggAACCLhCgIC1K7aBRSDgCgGvBRxcgcYiEEAAAQQQQAABBBBAICoBr71/ELCOapvphEB8Cqx+Pb9Sjx+wiqt6xRwlJeeJz2KpCgGPCrgtYL3k59XqN/xVffzlzLBEr7msqfo+1t4XVg4OzWU0gAk793lurN78YIrtPEULF1SvR9vp/jtuUL68Gf8zLFTA+q2X+mv29z+qy9MjrKB48KSTXx+u61peZLsWGiCAgLcEUk8c0uqvmlqLTkrJp6p37fdWEXG2WgLWcbahlIMAAggggAACCCCAAAKuESBg7ZqtYCEIZLuA1wIO2Q7GAhBAAAEEEEAAAQQQQCBqAa+9fxCwjnqr6YhA/Ams+k8OnUw9bhVW7aoFOu00bmiNv52mIi8LuCVgbW6TNrdV39OlX7oh5PScC+TPqxF9u6rtTdfY3gJtbsf+cMo3erz/CxHP0/LiC/TSoG6qUrFculseKmB9722tMpyvRdPz9eaL/VS6ZHEvHyXWjgACIQROnjyhVV80tJ6clpSiavccwyobBQhYZyM+UyOAAAIIIIAAAggggEBcCxCwjuvtpTgEIhLwWsAhouJojAACCCCAAAIIIIAAAq4S8Nr7BwFrVx0fFoNA9gr8Oi7wHwlnX70oexfE7AggkEbALQHrX9b8rrs799WCH1cErPGCerXVtGFdFStSyPf1jX9u0Yw5P2jVug0B7Uw4+a2R/XXJhQ3S3WUT4n73k6/Vofsg7dt/MKBdtUrl1aj+OTq7cgXf1816Zs1bnCaE3fC8WnptRB9Vr1Ix5DzBAWuzroL581nrNf1NoDpvntxauGSlZsz9QU93ba/O998e0Q3cHGUEEPCOgNv/gtk7krFZKQHr2DgyCgIIIIAAAggggAACCCAQLOD2998Qv/3OC3+nyUFDwJMCXgs4eBKZRSOAAAIIIIAAAggggIBPwGvvH174PyNOnnq2TNiKDwIIOCNAwNoZV0ZFIJYCbghYHz12TL2HvKyho9+0Sru6xYUa0beLKlcomyZ4fPz4CX09a7669h0RELS+65Zr9dLAbsqXN09Iom/n/6i2j/QJCE03OLeGBvbopOaN66e5/dqEpT+cMkO9hrwc0OeGK5tr7NCeKlGsSJp5ggPW/gbmlm0zz/133KBcOXNa/f7evlMpKSkqWrhgLLeVsRBAwEUCbv8LZhdRZclSCFhnCTOTIIAAAggggAACCCCAQAIKuP39l4B1Ah5KSs42Aa8FHLINiokRQAABBBBAAAEEEEAg0wJee/8gYJ3pLWcABOJHgIB1/OwllcSvgBsC1hs2bdbtHZ/UvEXLfNDmlud3Rw9SxXJnZAj/zdyFuuOh3tq8dbuvnbkt+rM3RqjeOdXT9DNB5vseG6BPp862nrW6/GKNGtxdZ5Y6PcN5Fi/7RZ16Dgm4XfuVZ59Uu9uvTxP+Ti9g3b/bA+rx4F1pQtzxe7KoDAEE/AJu/wvmRNspAtaJtuPUiwACCCCAAAIIIIAAAlkl4Pb3XwLWWXUSmAcB790gx54hgAACCCCAAAIIIICAdwUIWMd+77jBOvamjIhASAEC1hwMBNwv4IaA9feLl6vlbZ20b/9BH1j7O1trRN+uypM7V4aAR44eVbf+L+rF8ROtdmOG9PT1D/589MU3+le7btaXTYj7tRF9VL1KxbA2aeq33+vG+7pZa2zR9Hy9+WI/X6j71E+ogLWZ44NXhqhmtbPCmotGCCAQXwJu/wvm+NK2r4aAtb0RLRBAAAEEEEAAAQQQQACBaATc/v5LwDqaXaUPAtEJeC3gEF2V9EIAAQQQQAABBBBAAAE3CHjt/YMbrN1walgDAi4RIGDtko1gGQhkIOCGgHXwGu688SqNGtRDBfLntd27Nz+YopffnKQKZUqrdvXKurhRPTVpUCeg34GDh/Tgk0P1+nufWV9P7wbq9CYMNcbk14frupYXBXQJFbCOpB7bgmmAAAKeE3D7XzB7DjSTCyZgnUlAuiPwP4Hgf3+LBKZapfIqX6a0zihVQheef67MD66VPaOkkpKSIhmGtggggAACCCCAAAIuE3D7+y8Ba5cdGJYT1wJeCzjE9WZQHAIIIIAAAggggAACcS7gtfcPAtZxfiApD4FIBAhYR6JFWwSyR8ANAetf167Xze17aPkva30IJlhtbrBue9M1SklJzjTMqnUbdEv7J7R05WrfWHVqVNV7YwfLhHsi+Yyd8JE6dB9kdXniobvVv9sDSk7+JwwUKmDdp+v96tPlPoX4S5xIpqctAgh4VMDtf8HsUdaol03AOmo6OiIQIJCZgHUoyqYN6+qRdrfpmssuVK6cOV2vbX6TyufT5ipHjpQ0P3Dn+sWzQAQQQAABBBBAwCEBt7//ErB2aOMZFoEQAl4LOLCJCCCAAAIIIIAAAggg4F0Br71/ELD27llj5QjEXICAdcxJGRCBmAu4IWAd6nZoU+g1lzXVbddfrkuaNFDJEkWjDihPm71ALW/tZNld3eJCTRjZT0UKFYzIc/b3P+ri1vdbfW685lKNe663ChXMb30tVMD6rZf6q03rKyOai8YIIBA/Am7/C+b4kQ6vEgLW4TnRCgE7gVgHrP3z3XBlc43o28V3w7UbP6mpqZq3aJmGjHpDn0+bI/49z427xJoQQAABBBBAILsE3P7+S8A6u04G8yaigNcCDom4R9SMAAIIIIAAAggggEC8CHjt/YOAdbycPOpAIAYCBKxjgMgQCDgs4IaAtSlx6rff68b7umnf/oMhK65bq5pMMPqK5o11bs2qypc3T9gywTdPN2lQxzeOuXEwks+mv7bqpdfet7o0a1xPb48aoDNKlrC+FipgPXXiKF12UcNIpqItAgjEkYDb/4I5jqjDKoWAdVhMNELAVsCpgLWZuOF5tTRqUHfVO6e67TqyusHQ0W+q+4AXrWkJWGf1DjAfAggggAACCLhZwO3vvwSs3Xx6WFu8CXgt4BBv/tSDAAIIIIAAAggggEAiCXjt/YOAdSKdTmpFwEaAgDVHBAH3C7glYH38+AmNeOVt9X9+XLoha79mgfx5demF5+uma1uoRdPzdXrxohlC9x8xTk89Oybmm1GnRlW9N3awqlUqb40dKmA9d/J4mVA3HwQQSEwBt/8Fc6LtCgHrRNtx6nVKIFTAOpx/5zl58qT27jugfQcO6sflv2riJ1/r8+lz0vz7nwlZvzaij6pXqehUCVGNG/zvlQSso2KkEwIIIIAAAgjEqYDb338JWMfpwaMsVwp4LeDgSkQWhQACCCCAAAIIIIAAAmEJeO39g4B1WNtKIwQSQ4CAdWLsM1V6W8AtAWujaH7l+jffLVLPwS9p4ZKVYcOaXyXfpX0bNa5/jpKSktL0I2AdNiUNEUDAAQG3/wWzAyW7ekgC1q7eHhbnIYFoA9bBJZrA9eJlv+jRp4bJjHnqx/w73tihPVWiWBHXyBCwds1WsBAEEEAAAQQQcKGA299/CVi78NCwpLgV8FrAIW43gsIQQAABBBBAAAEEEEgAAa+9fxCwToBDSYkIhCtAwDpcKdohkH0CweGYKhXLadK4ITqnepVMLWrHrj1q06mXvp413xon3Bv+zG3WC35aofHvTNbkr2dp5+69tmsxt1p369hWXTvcoTy5cwW0J2Bty0cDBBBwUMDtf8HsYOmuHJqAtSu3hUV5UCBWAWt/6X9u+VudnhiiyV9/G6DxfL+uevjeWxUiDJMtagSss4WdSRFAAAEEEEDAIwJuf/8lYO2Rg8Qy40LAawGHuECnCAQQQAABBBBAAAEEElTAa+8fBKwT9KBSNgKhBAhYcy4QcL/Ar2vX6+b2PbT8l7XWYsP59e52la1d/4du7dDTdyOh/xNuwPrUsY8eO+Zb24y5C/XFjLn6dv6PGU49tNfD6tL+DiUn/3OTdXAQpt/jHdS7czu7EqJ6fujwEXXuM0xjJ3wUU8+oFkMnBBBwhYDb/4LZFUhZuAgC1lmIzVRxLRDrgLXB+mXN77q7c18t+HGFZdfwvFp6d/QgVSx3his8CVi7YhtYBAIIIIAAAgi4VMDt778ErF16cFhWXAp4LeAQl5tAUQgggAACCCCAAAIIJIiA194/CFgnyMGkTATCESBgHY4SbRDIXoENmzbr9o5Pat6iZdZCJo4ZpFuua5mphZlg9bVtO2vz1u3WOLEIbu/Zu18/rVilj774Rp9OnS2z/lM/oUI4g0e+pp6DR1nNOt51k4b16azcuXJmqsZQnQlYx5yUARHwvIDb/4LZ88ARFkDAOkIwmiOQjoATAWsz1cTJU3X/4wO0b/9Ba+Zxw3rr3ttauWIvCFi7YhtYBAIIIIAAAgi4VMDt778ErF16cFhWXAp4LeAQl5tAUQgggAACCCCAAAIIJIiA194/CFgnyMGkTATCESBgHY4SbRDIXgETWG73WH9N+nyGtZD+3R7Qk4/ck6lfxf72R1/qjgd7W2PWrl5Z7499RmdXrhCzgg8cPKRnX56gvsNeCRgzOCD+3qdTfbdp+z9XNG+sCSP7qXjRwjFbi38gAtYxJ2VABDwv4Pa/YPY8cIQFELCOEIzmCKQj4FTAeteevWrfbZA++Gy6NfON11yqcc/1VqGC+cPaD/MbUJasWK1Z8xdr/qJlvpuxV63bYPWtVqm8qlepqIsbnafLmzWS+XNS0j+//eTUSUL9u11GiwjnN6XEcn1hgWTQaMeuPWrTqZe+njXf16r9na01om9X5cmdSydPnpT5bTfvfPyVps/5Qd8vXu5rY7wa1T9Ht11/uZo2rOtrG84n+Mz4f7vNkaNH9fm0uXr5jUmaMfcHFS1cUI0b1NG1lzXV9Vc00+nFi6Y7vFnjps1/6/Npc/TVzHlaunKN9QOYdWtVU52aVXXVJU18+1ywQL5wlqngPTd93x41QMWKFPL13/jnFt8PAkyd9b1+WLLC98MA5cuUlvlBzxuubO6bL9y50vM3Pwi67Jc1euHViZr89Szt3L1XF9SrrRZNz/f9IGyNqhXTPbNmjX9v3+nbs8+mzvb9cKr//Jt11qlRRc2b1Nd1LS9WhbL/x96dwOlU9/8f//ztWkgq1V1SWZI9S9lCiYhk4o4QFUa2sjMMjWEwYipGaFTIUpZCFCH7vhMhFS3SekdRhN//e7rn3HNd17nmOtd+znVe5/H4P+5fc33X5/c7/vN9nPd856Zs2/EFdunSJa1ttX8+2bjDxV+N955yd0mzhnX82idZ+wzH+rrP6e+/L2r/Rrz/0RpRe3T7nk81b/WoPaT2e90aVaTxgzXllptu8PuMHO72fa0RnyOAAAKRFrD6+ZeAdaR3BP05WcBuAQcnrxVzRwABBBBAAAEEEEDA7gJ2O38QsLb7jmP8CIRQgIB1CDFpCoEwCVy8eEkSU18Tdctz5qOCAdPGJ0qhggUC6lWFJPonvyqvTpur1/cWjFFlt+3+VPt/O/YelO9//FleSe4r5UuXMNW3Coh3SxgjKtCd+bgHW9xv076pyHXy/hvjpFqlMqb6yCykbs0e8fI0LUChwgJlSt0hj9SvJXnz/O8mbALWfpFSGAFHCFj9BbMjFiHLJAlYO23FmW+4BMIVsFbjnTZnkXTsk6wPvcTtRWV+xhifPx+qX757650lMuGNd1wC1b4MmjxUW5L6xmthSvd/I0IZsA7H+HzNzdfn3gK+KhQ6euJbMuGNuS63ibu3p8Knw/p0lpZN6kuuXDmz7c4oYN2gzn3SJylNZs5fZlg3u3D9V19/J8NemiIz5i31NU0ttD3khY7SuW1zufKK/NmW9xawvurK/JIx630ZOnayHsA1aiizry5PPe4zfG7knzrkeZkxf6kkjJpoaK/OMkump0nl8qU9ulcm4ya/LdPnfZDtumU99w154VnDvZ8dkgo+q+C2Ohu99+EnPv3VL9u+2KezFpj39ssM7o2Ea30z+1FzUKHwF8dNlfVbd/ucgyrwVMtHtH8rit16s8/y4W7f5wAogAACCERJwOrnXwLWUdoYdOtIAbsFHBy5SEwaAQQQQAABBBBAAIEYEbDb+YOAdYxsPKaBQCgECFiHQpE2EAi/wOL/f7NZsw699Y6uvuoKmTkhWbttLJBH3bamboxWN4FlPt5uxTYKrWTeZme2b/c/1e4esFY3IT7bO9nl5X9Cz2e0l+O+giCZYzh95g/pMSTVJcDRq/OTMnpwD8mTO7c+VALWZleNcgg4R8DqL5idsxL/zJSAtdNWnPmGSyCcAWv1s2SLjgPk6Jcn9OH7+vlQle2ekCor1m4JaMoqFJs+aqA88ehDLv9OhCpgHa7xBTTZLJWMAr5JfbtI0vip2o3SZh/1s3VCz6ezDS+775nXRg+S/Z99LpPemue1m4xxifJs62Yun6tbkxcsXS39kl/Rb6s2O04V6J6Y0l9UaN/bYxSwfiNtqEx/9wNJGJVutitp16KxjBvWS64vXMhrHXf/Tm2aS5UKpaXv8Je9BqQ7PNFUJo7s72KtwrzqFukXho7z65cL1MDU3h//Ym9pE9fI1NlI/YLsKxlzZcTLGaZC3Fknr0LW/bu1zzZ4Hu71VeNRfaib2bsOGu33HNQv26q9+3C96l5vsw53+6Y3IQURQACBKAhY/fxLwDoKm4IuHStgt4CDYxeKiSOAAAIIIIAAAgggEAMCdjt/ELCOgU3HFBAIlQAB61BJ0g4C4RU4eeonearnUO3PSGc+6k9cv5k2TPvz6f486ma+/iNedQlK+LoxesrMhdJlQIrejboZbMKI/qb+tLZR6GX6K0na7WKZjwocqNu0VeAg81EvxlU59afhzTzqz4B37jdCfwGvQuhzJqVoN1hnfQhYm9GkDALOErD6C2ZnrQYBa6etN/MNn0A4A9bql+Pa9RgqS1du0Cegbkke1ruTYaDx1I+/SHz/kbJo+VqXCavgaNWKZbTA6tVXXal9duLb72Xzjn3a7bvuT4W7S8o7U0aJupU58zl/4YIW5lX11LNuyy5Ztmqj/nnbxxtL2bvu1P+7bKk7PX4+DOf4gl1h94CvCu8Wue5aGZM+3eXn5sYP1tT+isuZ3//Qzgxbdx3w6Fr94mGf+LZeQ7rue0bdGJ65Dmqt1M/VZUrdKWpMi5evlWsKXq39vH170f/dFqx+rp/z/nLt7HDm97MuY1DrVr1KebmreDHt6+qXPdds2ukRwvZ1znH/eb5+7WrSsG51LdCd+WQd7/nzF2Tt5l2yasP/zlKZ5bp2aCmpQ3p6DZ67+6s5nP79D1HnM/U8WKuafl7J7GNBRqrENX5AH0t2JmqcD9auJhXLlJScOXN6NVFnm8QXOkqvzm2yDVmrm83HTXlbBo6c4LH+auyqr6L/ulGUyaYd+2Tj9j0e66Q8ese3lZw5c3i0EYn1VZ0qy/bPD3PZG8qgWsWycl/lsvq/F972kPq3Ys5rI72elcPdfrDf99RHAAEEwilg9fMvAetwrj5tI+AqYLeAA+uHAAIIIIAAAggggAAC9hWw2/mDgLV99xojRyDkAgSsQ05KgwiERcAogKw6Ui+Oxw59Xh6sVdXUn3JWf8ZZ3eqmQg9Znz5d2srIgV0lb548huP/9PAX0rLzAJcbr30FNDIbWr1hu7TtkaiHELz9CXk1trbdE0UFOzIfFa5ITxlg+Oe1sw70wGfHpGPfZJcgScum9WVKaoIUKljAZU4ErMOyRWkUAVsLWP0Fs61xAxg8N1gHgEYVBAwEwhmwNvp5Kr5dnKQl9fG4+fbixUuSOmm6y83CKig5tFcn6dw2zvAX9tTPvurnz6FjJ7v8hRM1TXXjsPorJQbhG03B/S+n+LpZO9Lj83ezugd8s9ZX4dwhL3SUzm2buwSE1e282/cclD5JaS4/Wyv3qWOHSKtmDQyHYbRnVEF1q/QryX31YLT6mgryfnPylNx6840uQVyj4GrVinfLyIHdpF6NKh7hYLWXFixdJUPGvOYSpm3eqJ72s7zR7dLZ3Vqu5ti1fUtR55usddWe+vyrr2XAiAkeeyq7QLE3fxVmH5v4vDz+yAP6OUz1cfKHn+TqK68UNY7MR7m26TbEZX5q7ZSJukX7yivyu6yHuoFa/dLA8PGvu9x27Wv9VCPuv3SqvubNX41XBZQHjJwgH3y8Xh+Dmtv818dIlQp3e+yTSKyv+stEnfuNlHcWr9D7VzeHq79upH4x2P1R+0Gdb/sNf1l++c9p/ePEXh1lWO/OHkHxcLfv7/c45RFAAIFIC1j9/EvAOtI7gv6cLGC3gIOT14q5I4AAAggggAACCCBgdwG7nT8IWNt9xzF+BEIoQMA6hJg0hUCYBX78+VeJ75/iEQhQ3TZ5qLaol873ViorhQsV1IMLKvigQgF7Dx6RxSvWyZz3PnJ56azq+rohTpVR7Qx7aYqkvPqGPsvM8MLzHVsbvuhWwYB5S1Z6hCWyC3MbBQLUC/6hvTtpfw7ebPggu9uvCflA+tQAACAASURBVFiHeaPSPAI2FLD6C2YbkgY1ZALWQfFRGQFdIJwBa9WJe5BZ3SA8K32E9rNo1ufLE99J664JLr8IN3XsYOn45GNeQ9KZ9f9z+oz0HDJWZs5fpjepAqnpKQNdAqxZ+/M3YB3p8fm7RbML+L42epA8XK+6V8dvv/9Bug0a43JzuLrtecarww1/fjfaM75uAs46nx9++kU69R2hnTsyn2YN60j6qAHyrxtvyHbqO/cdkm4JY0ztE28Ba3U+USH/9i2beL3lWd2qPWDkq/La9Pn6eNRfBJo3dYyUKXWHxxi9+c+cMFzaxDXyuYfVbe/qDKfORZmPMn1tzECpXrl8tiZHvzwh3RNSZcXaLXq5mlUriPqlgWK3/u/W8MwPjf7qkRl/oxvcez7bSlITe7r8Am6k1lfthabte+m/oKvC9tPGJ3r84mxWPBUWn7XwQ+1m/cynRpXyMnvSSO1m96xPuNv393uc8ggggECkBax+/iVgHekdQX9OFrBbwMHJa8XcEUAAAQQQQAABBBCwu4Ddzh8ErO2+4xg/AiEUIGAdQkyaQiACAoePHZdnew93uYkumG7NvtxXfRjdMK2+7v6nmi9evCh7Dx7VwhHHvznpMjxfYe7s/qS1+5/PVm2rP//u3ocaz5jBPbUbEY3+rDUB62B2DHURiE0Bq79gjk1177MiYO20FY/ufDfv3C8z3v1AVm/cLl+c+FYbzB1F/yUP1KwqT/27iVSvXC66Awyid6sErFXYtlmH3vpMzIQls07743VbpUGrbvqXVEBYhSaNbjZWhfwNWEd6fP4uabABX3VDcevnBmu/cJn5LMhIlbjGD3gMxWjPeLsF2GgeC5etlsc79tc/8vWzv3sbKkjcolN/USFo9XgLg3sLWCf3f04Gdu/gNVyd2d/3P/ys/fWbpSs36EPwdjO6kX92IXX3Oa3asE2aP9NXn5M6q8x/PVW7FdzMs+/QUWnVJcHlLwm9PLyPqAC0+/9/6e7vTzh+3ZZd0uq5BD3UbBQ6j9T6qpur1Zwzn+H9uojah74eFWZ/tneyyy8kr5ibLg/df69L1XC372ucfI4AAghEW8Dq518C1tHeIfTvJAG7BRyctDbMFQEEEEAAAQQQQACBWBOw2/mDgHWs7UDmg0AQAgSsg8CjKgJREvj6u1MyYMSr2p9BDuZRt16rP2t9V/FippsxulnObGV129qrI/rJPeXuyraKCllPnrlAEkZN1IMIZvtQgYWUQd2lS7vHvQYrCFib1aQcAs4RsPoLZuesxD8zJWDttBWP3nyfGzBK+5kju0f9TPHamEHRG2QQPYc7YD1l5kLpMiBFH2Hl8qVl7uQUKV7sVpdRb99zUD7ZtEN27/9MvvrmpHT4d1OJbxdnembqFwyfiB+kB4RVaPSdKaOk1J23Gbbhb8A60uMzPfH/FjQK+PoTUr948ZKkTpouCaPS9a6Vv7rpOX++vC7DMdozRgFVozn8cfacdB+cKm+9s0T/2OxN5ZkVjNpY9NZ4ebTB/S5dGv08r8LccyalyO1FPW92Nhqvuu24bfdE/aOH69UQdSv1ddde41LcyH9Qj6dFhbmNfpkza+XzFy7IwJETJG3qbP3LRjdDZ7cn1M3Mqn6fpLRsx2pkkjKom/Tv2t7nOFXDRvbq+/mJRxto/UZyfd3Xxqy3slLf/yvXb5M7i90iZUreIY/UryUqLJ71CXf7/n6PUx4BBBCItIDVz78ErCO9I+jPyQJ2Czg4ea2YOwIIIIAAAggggAACdhew2/mDgLXddxzjRyCEAgSsQ4hJUwhEUOCv8+dl5bptMiZ9uqzfutuvnsuVLi7qJXVc43ouf/LZbCPqxrehYyfL3EXLTQWg1c3TXZ5qIS90au31pkH3vtXL8d0HDsuIl6e53ECW3RhVYDypb7xUKlsq2z/VTcDa7EpTDgHnCFj9BbNzVuKfmRKwdtqKR2e+Dz/ZQ5av2Wyq84Z1q8tHsyeYKmulQuEOWM+Yt1TaPz9Mn7Kv4HOgNuEOWAc6rsx6/o7P3/6MAr4Z4xLl2dbNTDelfkmyafte+u3ENaqU124Bv+2Wm1zacN8z6tzw7pTRpn4hM1QO7sF9o3Ct0c/z/ty0rSat/grOk10Hy6Yd+zSDm4pcJ0ump4n6RYGsj5H/9FeS5KmWj/j0/+7Uj9Km2xBZs2mnXtZsYD1r4+oW6xYdB8jRL094HavRfN5/Y5xUq1TG5zgzC7w+6z2ZOX+ZqHVX4eT777tHyt51p/ZxJNdX3aZdJ66zPm61T18bPUgerlc923Oe2YmGu32z46AcAgggEC0Bq59/CVhHa2fQrxMF7BZwcOIaMWcEEEAAAQQQQAABBGJFwG7nDwLWsbLzmAcCIRAgYB0CRJpAIIoCly5dEnWjtQpDqP+n/gT43k+PyC//Oa2P6r7K5aTYLTdJjaoV5MFaVaXkHbf5/LPZZqb0w0+/yOqNO7Rw0meffyVbdu536VPdjN34gZpS//5qUqhgATNNepRR8/vq65OyeMVaWbt5lzY/9XJfPepFe5lSd0id6pWl6UO1tVsMc+TI4bMfAtY+iSiAgOMErP6C2WkLQsDaaSse+fmaubnafVR2vMk63AFr95uivYV2g11hf4Od/t5gHenx+dufe8C3xO1FZX7GGClfuoTppn78+VctTKxu9lWP+qsvK+akizonZH3c94z65YJZ6SOkcKGCPvv6eN1WadCqm15O3RysboT29xzgHn5t0eRByXgpUQoWuEpv2+jneX+Dy2fP/SnPJ74kGbPf19vNemNz5heNAtYbFk0T9dd5fD3qfNSgdTf9l1ID/R757fTv0rFvssz/YJXe5dsTk6VNXCP9v937ql+7mhaiv75wIV/DNPV5JNf35Kmf5KmeQ/X9mrlnm9Svrc25RtXyfu+rrJMMd/umQCmEAAIIRFHA6udfAtZR3Bx07TgBuwUcHLdATBgBBBBAAAEEEEAAgRgSsNv5g4B1DG0+poJAsAIErIMVpD4CCCCAAAII2F3A6i+Y7e7r7/gJWPsrRnl/BDbv3C81mj7tTxW97KYlb0p1t0BqQA1FqFKkA9b+hHF9EZy/cEGOffWNdvPvgqWrZdWGf4LB6vF1U3YkAtbBjM/X3N0/dw/4BhKcNQokuwd0Vb/ue6Zdi8aSnjJQC2T7etxvnlYB5Ifr1ZDcuXP5qury+TffnZKJb76rf61ujcpayPvmItfrX3Ofjz83bWftzH2vDO/XRdRN2FmfYALui1esk2YdeuvNGYXFzeBcvHhJElNfk1ET3tSLu4911sIPpW33RP3zjk8+Jq8k95Ur8ucz04XPMpFcX/XXjFTwvXO/kV7HVaf6PdL4wVraLxCr9c+TO7fPOWQWCHf7pgdCQQQQQCBKAlY//xKwjtLGoFtHCtgt4ODIRWLSCCCAAAIIIIAAAgjEiIDdzh8ErGNk4zENBEIhQMA6FIq0gQACCCCAAAJ2FrD6C2Y72wYydgLWgahRx6xAILdXZ7Ztt1uswxmwNgp8+ntjsfpLJb+d+V2Of/O9qBuWD3x2TPYdOqr9NZbdBw57XdJIBazDNT6zezWznHvAN5DgrNF6TR6TIPHt4lyG475n1OdpSX0kf768PoftHlb2WcFkAaP1dg9YBxI6V927h4YH9Xhakvs/Jzlz/u+v4rj7+9p/WaflHnr2x9Odx1cYfMa8pdL++WF6ta4dWsq4Yb0kX948JqWzLxbJ9VUj+ePsORk8epK8kjHH5/ivvaaAqH9/nni0gdS+t5IUuPpKn3XC3b7PAVAAAQQQiKKA1c+/BKyjuDno2nECdgs4OG6BmDACCCCAAAIIIIAAAjEkYLfzBwHrGNp8TAWBYAUIWAcrSH0EEEAAAQQQsLuA1V8w293X3/ETsPZXjPL+CJSqFSdHvjjhTxW9bMk7isrhDQsDqhuNSuEMWJ/5/ax0SxgtM+cv06dmJjyqgrHqVuo331ksq9Zvk1/+c9pvGl8B12BusI7E+PydsHvA14yzUR++Arqqjl0D1oHenm4mAG3VgLX7PjCzvv7uvazlIx2wVn3/df68doP98PGvy+Fjx00NX9223uKR+tKvazu5q3gxMQjp6e2Eu31TA6YQAgggEAUBq59/CVhHYVPQpWMF7BZwcOxCMXEEEEAAAQQQQAABBGJAwG7nDwLWMbDpmAICoRIgYB0qSdpBAAEEEEAAAbsKWP0Fs11dAx03AetA5ahnRiB30Xvl778vminqUSZXrpxy4cTWgOpGo1I4A9bfnfpR2nQbooWlM5+UQd1E3QBs9KjboFdv3CEJoybK9j0HTXOom2krlb1LDh79Qk6e+kmrF46AdSTHZ3ry/y1IwLqkvDNllJS68zadzv0GaycGrN1v247FgHXmgmf+4sPUtxfKqg3bRP2Ch69H/dsx/sXe0iaukah/u7N7wt2+r7HyOQIIIBBpAauffwlYR3pH0J+TBewWcHDyWjF3BBBAAAEEEEAAAQTsLmC38wcBa7vvOMaPQAgFCFiHEJOmEEAAAQQQQMCWAlZ/wWxL1CAGTcA6CDyq+hQgYD1Nalat4NPJVwEV3m7UpodL0HHRW+Pl0Qb3e1RVgfbJMxdo4ersgpG33XKTlCl1h1QqW0oqly+t/e8tNxWRY8e/kSfiB8neg0e0tkMdsI70+HzZun8eioD1+QsXZODICZI2dbbe/NsTk7XwadYnlDdYD+/XRRJ7dfR3uqbKhypgrTx6vzhe79NozFa9wdp9rFNmLpQuA1L0uXTt0FLGDesl+fLmMWXqq1C4A9y++s/8/I+z52TPp0fko082ydKVG2T3gcNeq6rbrKeOHSKtmjUw27yEu33TA6EgAgggEEYBq59/CViHcfFpGgE3AbsFHFhABBBAAAEEEEAAAQQQsK+A3c4fBKztu9cYOQIhFyBgHXJSGkQAAQQQQAABmwlY/QWzzTiDHi4B66AJaSAbgVK14uTIFycCMip5R1E5vGFhQHWjUSlcN1hfvnxZC+r2SUrTp5Vd6Hn1hu3StkeifgO1qqRul23d/GFpUr+WlL2ruNxwXSHJkzu3IdPhY8fDGrCO9Pj83QvuAd9H6teSmROGS6GCBUw3dfbcn/J84kuSMft9vY5RID6YgPWoCW9Kwqh0vf1QB3yzTtY9YK0C+XMnp0jxYreaNlH7OGn865I0bqpeR9143Kvzky5tBBOwXrxinTTr0Ftvr0WTByXjpUQpWOAq0+NUBY0C8u43xs9a+KG07Z6ot9vxycfkleS+ckX+fH715a1wJNfX7IDVGv7yn9OyZed+eWfxCi1wrf4769O8UT2ZNj7Rr++XzPrhbt/sPCmHAAIIhFrA6udfAtahXnHaQ8C7gN0CDqwlAggggAACCCCAAAII2FfAbucPAtb23WuMHIGQCxCwDjkpDSKAAAIIIICAzQSs/oLZZpxBD5eAddCENJCNwHMDRmm3KQfydGn3uLw2ZlAgVaNSJ1wB65OnfpKneg6Vleu36fOKbxcnaUl9JH++vC5zVbfBdh+cKm+9s0T/urpBe0rqYO22ajNPOAPW0RifmTlnLeMe8K1RpbzMnjRS1I3fZp/vTv0obboNkTWbdmpVbipynSyZnqbdFJ71CSZgrQKurbok6M09XK+GFgS/7tprzA7TdDn3gLW3+WTXoLpNvVvCaJk5f5lezCh0HkzAeue+Q9K0fS/9lwsCCYKrwf3622lp12OoFiDOfFSg/IlH/3cz87otu6ROXGf98/q1q2n75PrChUy7qu81dQv2lVfkl4plSspdxYtJy6b1JW+ePFqAOVLra3rAbgV//PlXGTx6krw+6z39E3WL9Yo56XJf5XKBNqvXC3f7QQ+QBhBAAAGTAlY//xKwNrmQFEMgBAJ2CziEYMo0gQACCCCAAAIIIIAAAlESsNv5g4B1lDYK3SJgRQEC1lZcFcaEAAIIIIAAApEUsPoL5khaWKEvAtZWWIXYHcPmnfulRtOnA5rgpiVvSvUQhPQC6jyASuEKWLvflKuGtiAjVeIaP+Axyn2HjkqLjgPk6Jf/3Bquwo7zX0+VBnXuMz0j9+Bodrdlq0aT0zJk6NjJevtvT0yWNnGNDPuLxvhMT/y/Bd0DvsrwvTdekgdrVTPdlNoLjdr0EBUqVo+38HMwAWv3MLEKPb//xjipVqmM6XGqgguXrZYRL0/TAuT3lLtLC+KrW7tVyDfzcQ9Yq69njEuUZ1s3M92X2eB+MAFr92C7GtyKueny0P33mh6nKui+T40C5Z9/9bUWgFbroJ5AQucfr9sqDVp108fWrkVjSU8ZqH3fRmp91R7duH2P7Nr/mWzfc1D+vnhRpqQmyM1Frjdl9s3JH+TJroNl/dbdhv8GhLt9U4OkEAIIIBBlAauffwlYR3mD0L2jBOwWcHDU4jBZBBBAAAEEEEAAAQRiTMBu5w8C1jG2AZkOAsEIELAORo+6CCCAAAIIIBALAlZ/wRwLxv7MgYC1P1qUDUQgkFus7XZ7tXIJR8D60NEv5eleSbJ11wGd/tEG98vrLw2RG6671mM53AOb/t6+fPnyZUmbOlv6JKXpbYcyYB2N8fm7Z90Dvqp+Yq+OMqx3Z8mZM4fP5i5evCRJ46dqwfPMx1v9YALW6pblZ3sny3sffqL3k9DzGUnqGy+5cuX0OU5V4PSZP6THkFSZMW+pXr5X5ydl9OAekid3bv1rRgHrDk80lYkj+2u3L5t5ps1ZJB37JOtFvdUPJmB9/sIFGThygraHMx9vt717G7Nav9RJ0yVhVLpexCggb3Qb+7hhvUT5GQTVPLoz2ifjX+yt1VdPpNb3p1/+o93W/dEnm7R+Vbj7w1kTRN18b+Yx2htZf8ki3O2bGSNlEEAAgWgLWP38S8A62juE/p0kYLeAg5PWhrkigAACCCCAAAIIIBBrAnY7fxCwjrUdyHwQCEKAgHUQeFRFAAEEEEAAgZgQsPoL5phA9mMSBKz9wKJowAIPP9lDlq/ZbKp+w7rV5aPZE0yVtVKhUAesT/34i8T3HymLlq/Vp6nCj1PHDpFWzRoYTn3xinXSrENv/bPK5UvL3MkpUrzYraao1M296lZeFezOfEIZsI7G+ExNPEsho4C1ut15/utjpEqFu302t2PvQWnRaYAc/+akVja7m6WDCVirMPyr0+bKC0PH6WNS45z+SpLUqX6Pz3GqAnMXrZDO/UboN22r/TVnUop2g3XWxyhEq8rOnJAszRrW8dnXV19/J227J2q/hJD5eLuFPZiAtWp71YZt0vyZvi5z8ucWd6PvAW/BaffQuPpemfPaSCld4nafJu43ervvk0itrwp6J6a+JqMmvKmP2Z+gvnuAWjWyduFUuf++f/ZguNv3CU0BBBBAwAICVj//ErC2wCZhCI4RsFvAwTELw0QRQAABBBBAAAEEEIhBAbudPwhYx+AmZEoIBCpAwDpQOeohgAACCCCAQKwIWP0Fc6w4m50HAWuzUpQLVsDMTdZ2vLk60yVUAetLly7J9j0HtVukswZSVT9dO7SU1CE9vd4avGXnfmnQupseLlV1Zk4YLm3iGvm8VffTw19ogW73PsuVLi7vThktdxUvZrgF1E3NQ8dO1j+bPCZB1K3BRk80xufvvjUKWKs2VOg4PWWAqBCzt+folyeke0KqrFi7RS+S3Q3KwQSsVQdGweV77ymrjVOF67N7Dnx2TDr2TXa5Hb1l0/oyJTVBChUs4FLVKGCtCpjp68eff9X28sz5y/Q2s7uFPdiAtbr5Ob5/isxbslLvr9Sdt8nUsYP10K8/66fmqL6HStxe1KPayVM/yVM9h8rK9dv0z1TgfErqYClyvecN85mFzvx+VgaMfFVemz4/230SqfU1CqWr7+PWjzXM9t8NFQKftfBD7QbszKdujcoyK32E3Fzkev1r4W7f3+9xyiOAAAKRFrD6+ZeAdaR3BP05WcBuAQcnrxVzRwABBBBAAAEEEEDA7gJ2O38QsLb7jmP8CIRQgIB1CDFpCgEEEEAAAQRsKWD1F8y2RA1i0ASsg8Cjqt8Cm3fulxnvfiCrN26XL058q9W/o+i/5IGaVeWpfzeR6pXL+d2mVSoEGrBWgerfzvwu3//ws2zb/akWRFWBRPfHTHDTKPCpAsEjBjwnKjybN08ej3Z/+OkXmf7uBzJ64lvyy39OG3JuWDRNalatYPhZ2tTZ0vvF8fpnapzpowbIv268waN8NMbn7/7wFrBW7VSteLekDOouD9SsIjly5NCbVmu4asN26Tf8Fdl78Ij+dXWTsbpBvHzpEobDCDZgrRp1v4VafU2t+dDeneSJRx/yCOP/df68LFi6WoaPf13ULcqZT3a3X3sLWKu6Krys+nr8kQdc9pcK3+4+cFgGpUx0CZyrm6+zu1E62IC1GpNybdNtiH6LuPratdcUkCEvdJTObZsbmixbtVEba1YTNVZfQWN1w3y7Hokuv9TQoM59MnJgV7mn3F0u+0SZfP7V1zJgxAR578NPXOy93ZAeifU9feYP6TEkVWbMW6qPKdPr2dbNpMDVV3rs3z/OntMC4sPTXneZ+8vD+0jPZ1u5BLPD3b6/3+OURwABBCItYPXzLwHrSO8I+nOygN0CDk5eK+aOAAIIIIAAAggggIDdBex2/iBgbfcdx/gRCKEAAesQYtIUAggggAACCNhSwOovmG2JGsSgCVgHgUdVBLIIGAWsQwWkApsTU/ob3qKbtQ8V4MyY/b507jfSo2sVhK1epbx+E7UKsq7fulvUrdJZHxUivvKK/LJm0079y2sXTvV6++/iFeukWYfeLm2ocGaFMiUld65cUqtaRRnQvb3kyZ1bojE+f9fAPeCrQrb58+UTFUTPfCqVLSX1779XChcqKKr84uVrXYK5qpyZcG4oAtZ//31Rxk15WwaOnOAxVbUOD9auJhXLlJScOXNqgWMVJFb/m/VRYx0zuKd0bhsnOXP+LzieWcYoYH1TketEBeYzH7W/VF9F/3WjnPn9D+1W5627DniMafTgHtInvq3kypXTcGlCEbBW+2zO+8uly4AUl/Cv6tDd5NDRL7W97m6iyvoaqyqTnX/WfaJMNmzbI2s37/Kwzy7EHYn1VQPasfegtOg0wMNBedWoWkGqVSwjefLklvPnL8i2PZ/Kpu17PX4hI7tfAgl3+/5+n1MeAQQQiKSA1c+/BKwjuRvoy+kCdgs4OH29mD8CCCCAAAIIIIAAAnYWsNv5g4C1nXcbY0cgxAIErEMMSnMIIIAAAgggYDsBq79gth1okAMmYB0kINUR+K9AuALWz7R6VEYO7CY33lDYlLW6WXbw6EnySsYcU+WzFsrs6813FkvCqHT9o+mvJMlTLR8xbO+rr7+Ttt0TtVuDjZ52LRpLespALXCsnkiPz18Eo4DvsD6dZNzkt73O0b0PdRv0+Bd7SfNG9Vxu8nUvF4qAtWpThXAnz1wgCaMmegSKfc1frYu6lbtLu8e9hp6NAtbvThkt8z5YKfOWrPTVhfa5mX5UuVAErFU7KmT9/kdrPG6lNjNYFSoeMaCrdGrT3KtJ1nYC9VcmaUl9pH3LJtn2E2j7/rgrr48+2SzPDRxlGDb35ab2elpSb+32dKMn3O37Gh+fI4AAAtEUsPr5l4B1NHcHfTtNwG4BB6etD/NFAAEEEEAAAQQQQCCWBOx2/iBgHUu7j7kgEKQAAesgAamOAAIIIIAAArYXsPoLZtsD+zkBAtZ+glEcAS8CoQ5Yq8Bi7/g2UqNKecmRw/NW4ewWQgViJ89YICNezvC4ZdaoXsO61WVAt/ZSp/o9Wl/ut1LHt4vTgqD58+X1qO4rOFm3RmWZlT5Cbi5yvV43kuPzd8N6C/gWvPoqGTw6Xd6YuzjbJlUQPalvvBS79WafXYcqYK06Uuuw+8BhGfHyNHnvw0989q0KNHmotjZWddOyQbjKZb16DRsnU2Yu1L+2YdE0KV+6hIye+JZMeGNutsFus/2oxkMVsM4cqPoFgOHjM2T+0pWmwudq/RJ6PiPqRm5/nkz/YS9NkQ8+Xu+zqj8m4V7frIP97POvtF+uMLuHVKD6+Y6tpXPb5trN976ecLfvq38+RwABBKIhYPXzLwHraOwK+nSqgN0CDk5dJ+aNAAIIIIAAAggggEAsCNjt/EHAOhZ2HXNAIEQCBKxDBEkzCCCAAAIIIGBbAau/YLYtbIADJ2AdIBzVEHATCCZgrQKuN994vVSpcLcWqK5a8W4pVLBA0MY//PSLLPl4vaxct1UL3x4+dlxrU4UiK9xdQurVrCIqXK3CpFlD3F+e+E5ad02QrbsOaOVLl7hd5k5O0QK13h4VZJ02Z5GsXL9NtuzcrxcrcXtRmZ8xxrBuJMdnFjO7gO+lS5dk6+4DMvf9FbJ8zWbNU91CXK1iWWlQ9z5p1rCOlLyjaLZh5azjCGXAOrNdNcavvj4pi1eslbWbd8mho1+6rHuZUndIneqVpelDtT3W3ZuR0Q3WKmBds2oFLditQrOz3/tIlq7coO0z9dxXuZzUr11NHnu4rhbgNvtLAqEOWKuxqDF+c/IHWbZqo6zZtMPle0HtfTW+ujWqSOMHa8otN91gev2MvJT/wSNfagFltb7b93yq/5KDMqlXo4o8Ur+W3FuprKnbsd37CMf6uvfh7qX2eea6qv1esUwpKVe6uLbf1R4wE6zO2ke42zf7vU45BBBAIFICVj//ErCO1E6gHwRE7BZwYM0QQAABBBBAAAEEEEDAvgJ2O38QsLbvXmPkCIRcgIB1yElpEAEEEEAAAQRsJmD1F8w24wx6uASsgyakAQQQiCGBcAR87c6TXcDa7nNj/AgggAACCIRbwOrnXwLW4d4BtI/A/wTsFnBg7RBAAAEEEEAAAQQQQMC+AnY7fxCwtu9eY+QIhFyAgHXISWkQAQQQQAABBGwmYPUXzDbjDHq4BKyDJqQBBBCIIQEC1p6LScA6hjY4U0EAAQQQiLiA1c+/BKwjviXo0MECdgs4+6V/IQAAIABJREFUOHipmDoCCCCAAAIIIIAAArYXsNv5g4C17bccE0AgdAIErENnSUsIIIAAAgggYE8Bq79gtqdq4KMmYB24HTURQCD2BAhYe64pAevY2+fMCAEEEEAgcgJWP/8SsI7cXqAnBOwWcGDFEEAAAQQQQAABBBBAwL4Cdjt/ELC2715j5AiEXICAdchJaRABBBBAAAEEbCZg9RfMNuMMergErIMmpAEEEIghAQLWnotJwDqGNjhTQQABBBCIuIDVz78ErCO+JejQwQJ2Czg4eKmYOgIIIIAAAggggAACthew2/mDgLXttxwTQCB0AgSsQ2dJSwgggAACCCBgTwGrv2C2p2rgoyZgHbgdNRFAIPYECFh7rikB69jb58wIAQQQQCByAlY//xKwjtxeoCcE7BZwYMUQQAABBBBAAAEEEEDAvgJ2O38QsLbvXmPkCIRcgIB1yElpEAEEEEAAAQRsJmD1F8w24wx6uASsgyakAQQQiCEBAtaei0nAOoY2OFNBAAEEEIi4gNXPvwSsI74l6NDBAnYLODh4qZg6AggggAACCCCAAAK2F7Db+YOAte23HBNAIHQCBKxDZ0lLCCCAAAIIIGBPAau/YLanauCjJmAduB01EUAg9gQIWHuuKQHr2NvnzAgBBBBAIHICVj//ErCO3F6gJwTsFnBgxRBAAAEEEEAAAQQQQMC+AnY7fxCwtu9eY+QIhFyAgHXISWkQAQQQQAABBGwmYPUXzDbjDHq4BKyDJqQBBBCIIQEC1p6LScA6hjY4U0EAAQQQiLiA1c+/BKwjviXo0MECdgs4OHipmDoCCCCAAAIIIIAAArYXsNv5g4C17bccE0AgdAIErENnSUsIIIAAAgggYE8Bq79gtqdq4KMmYB24HTURQCD2BAhYe64pAevY2+fMCAEEEEAgcgJWP/8SsI7cXqAnBNwDDogggAACCCCAAAIIIIAAApESKN1JLJ1htvTg/rtIl7Mu1uXLLv8ZqXWkHwQcIUDA2hHLzCQRQAABBBBAIBsBq79gdtriEbB22oozXwQQyE6AgLWnDgFrvmcQQAABBBAIXMDq518C1oGvLTUR8FeAgLW/YpRHAAEEEEAAAQQQQACBUAkQsA5ekoB18Ia0gIApAQLWppgohAACCCCAAAIxLGD1F8wxTG84NQLWTltx5osAAggggAACCCCAAAKRErD6+ZeAdaR2Av0gIELAml2AAAIIIIAAAggggAAC0RIgYB28PAHr4A1pAQFTAgSsTTFRCAEEEEAAAQRiWMDqL5hjmN5wagSsnbbizBcBBBBAAAEEEEAAAQQiJWD18y8B60jtBPpBgIA1ewABBBBAAAEEEEAAAQSiJ0DAOnh7AtbBG9ICAqYECFibYqIQAggggAACCMSwgNVfMMcwveHUCFg7bcWZLwIIIIAAAggggAACCERKwOrnXwLWkdoJ9IMAAggggAACCCCAAAIIIIAAAt4E/p8NaAhY22CRGGJsCBCwjo11ZBYIIIAAAgggELiA1V8wBz4ze9YkYG3PdWPUCCCAAAIIIIAAAgggYH0Bq59/CVhbfw8xQgQQQAABBBBAAAEEEEAAAQRiXYCAdayvMPNDwA8BAtZ+YFEUAQQQQAABBGJSwOovmGMSPZtJEbB22oozXwQQQAABBBBAAAEEEIiUgNXPvwSsI7UT6AcBBBBAAAEEEEAAAQQQQAABBLwJELBmbyCAgC5AwJrNgAACCCCAAAJOF7D6C2anrQ8Ba6etOPNFAAEEEEAAAQQQQACBSAlY/fxLwDpSO4F+EEAAAQQQQAABBBBAAAEEEEDAmwABa/YGAgjoAgSs2QwIIIAAAggg4HQBq79gdtr6ELB22oozXwQQQAABBBBAAAEEEIiUgNXPvwSsI7UT6AcBBBBAAAEEEEAAAQQQQAABBLwJELBmbyCAgC5AwJrNgAACCCCAAAJOF7D6C2anrQ8Ba6etOPNFAAEEEEAAAQQQQACBSAlY/fxLwDpSO4F+EEAAAQQQQAABBBBAAAEEEEDAmwABa/YGAgjoAgSs2QwIIIAAAggg4HQBq79gdtr6ELB22oozXwQQQAABBBBAAAEEEIiUgNXPvwSsI7UT6AcBBBBAAAEEEEAAAQQQQAABBLwJELBmbyCAgC5AwJrNgAACCCCAAAJOF7D6C2anrQ8Ba6etOPNFAAEEEEAAAQQQQACBSAlY/fxLwDpSO4F+EEAAAQQQQAABBBBAAAEEEEDAmwABa/YGAgjoAgSs2QwIIIAAAggg4HQBq79gdtr6ELB22oozXwQQQAABBBBAAAEEEIiUgNXPvwSsI7UT6AcBBBBAAAEEEEAAAQQQQAABBLwJELBmbyCAgC5AwJrNgAACCCCAAAJOF7D6C2anrQ8Ba6etOPMNl8DG7XulVrNnA2q+1J23yW233CQ333i91KpWUerXria33lxEcuTIEVB7VEJACcxa+KG07Z6oY8S3i5O0pD6SP19eF6Bzf/4lvYaNkykzF+pf37BomtSsWiGqkO7fU97GH9VB0jkCCCCAAAI+BKx+/iVgzRZGAAEEEEAAAQQQQAABBBBAAIFoCxCwjvYK0D8CFhIgYG2hxWAoCCCAAAIIIBAVAau/YI4KShQ7JWAdRXy6jimBYALWRhC1760kz3dsLU0eqiV58+SxvNVf58/LBx9vkNy5c8mjDe63/HidMMBIBKy/+vo7mfP+cuny1ONSqGABU6w//vyrzH7vI3mkfi0pXuxWr3UIWJvipBACCCCAgMUFrH7+JWBt8Q3E8BBAAAEEEEAAAQQQQAABBBBwgAABawcsMlNEwKwAAWuzUpRDAAEEEEAAgVgVsPoL5lh19zYvAtZOW3HmGy6BUAesM8fZvFE9SUvqrd1wbcXn0qVLsmnHPhmTPl0++Hi9vD0xWdrENbLiUB03pnAGrH/+9Td5Y84iGT3xLalasYzMSh8hhQsVzNb4j7Pn5N0lH8uYidMlX9688s6UUaJub/f2ELB23JZlwggggEBMClj9/EvAOia3HZNCAAEEEEAAAQQQQAABBBBAwFYCBKxttVwMFoHwChCwDq8vrSOAAAIIIICA9QWs/oLZ+oKhHSEB69B60ppzBcIVsFai995TVtJTBkjl8qUtB5w6aYYMGPGqPi4C1tZZonAFrI999Y207ZEoW3bu1ybbsG51nwHrX387LU+/kCSLlq/V6lS4uyQBa+tsFUaCAAIIIBBGAauffwlYh3HxaRoBBBBAAAEEEEAAAQQQQAABBEwJELA2xUQhBJwhQMDaGevMLBFAAAEEEEDAu4DVXzA7be0IWDttxZlvuASMAtYbFk2TmlUrZNvl5cuX5fSZP+TMH2dl1/7PZO77y+WDlevlzO9nXeqpkPWbacOkdInbwzWFgNpNTsuQoWMn63UJWAfEGJZK4QpYHz52XJ6IHyR7Dx7Rxm0mYK1uvG7TbYgsX7NZq0PAOixLTqMIIIAAAhYUsPr5l4C1BTcNQ0IAAQQQQAABBBBAAAEEEEDAYQIErB224EwXgewECFizPxBAAAEEEEDA6QJWf8HstPUhYO20FWe+4RIINGDtPh4VuN6575C8MHScqDazPs0b1ZMpqQlyfeFC4ZqG3+0SsPabLGIVzAas/R1QpALW/o6L8ggggAACCFhRwOrnXwLWVtw1jAkBBBBAAAEEEEAAAQQQQAABZwkQsHbWejNbBLIVIGDNBkEAAQQQQAABpwtY/QWz09aHgLXTVpz5hksgVAHrzPF9+/0P0m3QGFm0fK3LkF8e3kd6PttKDMIw4Zpatu0SsI4Ku6lOCVibYqIQAggggAACYRWw+vmXgHVYl5/GEUAAAQQQQAABBBBAAAEEEEDAhAABaxNIFEHAKQIErJ2y0swTAQQQQAABBLwJWP0Fs9NWjoC101ac+YZLINQBazXOQ0e/lKd7JcnWXQf0Yd97T1mZMylFbi96c7im4le7BKz94opoYQLWEeWmMwQQQAABBAwFrH7+JWDNxkUAAQQQQAABBBBAAAEEEEAAgWgLELCO9grQPwIWEiBgbaHFYCgIIIAAAgggEBUBq79gjgpKFDslYB1FfLqOKYFwBKwV0NxFK6RzvxFy5vezulfGuER5tnUzS/gRsLbEMhgOgoC1ddeGkSGAAAIIOEfA6udfAtbO2YvMFAEEEEAAAQQQQAABBBBAAAGrChCwturKMC4EoiBAwDoK6HSJAAIIIIAAApYSsPoLZkthRWAwBKwjgEwXjhAIV8D6199OS3z/FJm3ZKXu2KLJg5LxUqIULHCVKdvzFy7IngNHZM3mnbJ5xz7tZuzDx47rdUvdeZuULnG71Kl+jzSsW13Uf+fIkcOw7XN//iW9ho2TKTMXmup7eL8uktirY7ZlQzk+U4Pyo5DyX7lumyxbvVH2fnpEdh84rNW+9poCUqFMSbnvnnLSoM59om4Wz58vr8+Wf/71N2nTbYgsX7NZKxvfLk7SkvpodS9fviyfff6VzH7vI1m5fpts2blfK6PWo3qV8tL6sYZS+95KpvpR9cwGrI3WdMOiaVKzagV9Pkb729tkK9xdUt6ZMkr7+In4QbL34BGfLqqArz6zWmVt0H38ag/PSh8hhQsV1IqdPvOHtn6LPlqjrV/m3r+vcjmpVrGM/PvRh+TeSmUlV66cpsbpXuiv8+dl84798t6Hn8i2PZ/q61apbCltvdzbd18X93kHNAgqIYAAAghYVsDq518C1pbdOgwMAQQQQAABBBBAAAEEEEAAAccIELB2zFIzUQR8CxCw9m1ECQQQQAABBBCIbQGrv2CObX3P2RGwdtqKM99wCYQrYK3GO23OIunYJ1kfeonbi8r8jDFSvnSJbKfzx9lz8tY7S2TCG++4BKp9GTR5qLYk9Y0XFRB1/zcilAHrcIzP19zMfv7Lf07LuMlvy+QZ80X9374eFYIe2ruTPP7IA5I3Tx6vxb0FrP/++6KMnviWTHhjrstt5e4NqX6G9eksLZvU9xkIdnrAuuDVV8m8D1ZK0ripPvd/1Yp3y8vD+0r1yuU89ry3xVSB+E827pCBKRNk+56D2W4R9T2V3P85qVimpEfwnYC1r+8uPkcAAQTsLWD18y8Ba3vvL0aPAAIIIIAAAggggAACCCCAQCwIELCOhVVkDgiESICAdYggaQYBBBBAAAEEbCtg9RfMtoUNcOAErAOEoxoCbgLhDFjvO3RUWnQcIEe/PKH3+vbEZGkT18jrOqiy3RNSZcXaLQGtlbqhOX3UQHni0YdcAqehCliHa3wBTdat0rff/yDdBo2RRcvX+t1cpzbNZfTgHtoN10aPUcA6qW8XSRo/VV6bPt90fwk9n5GEnk/LlVfk91rHyQHrqWMHa7esp7z6hmlTb3veqAEViJ88c4EkjJqYbSA+a93bbrlJ3hg/VL479aO06zFU/4iAtekloiACCCBgSwGrn38JWNtyWzFoBBBAAAEEEEAAAQQQQAABBGJKgIB1TC0nk0EgOAEC1sH5URsBBBBAAAEE7C9g9RfM9hf2bwYErP3zojQC3gTCGbD+9bfTWiBz6coNevfqFuNhvTsZ3rZ76sdfJL7/SI+AsAqQVq1YRqpUKC1XX3Wl1taJb7+XzTv2ye4Dhz2mVuHukvLOlFGibk3OfM5fuCALlq7W6qln3ZZdsmzVRv3zto83lrJ33an/d9lSd8oj9Wu5tB3O8QW7Q9Wt2v1HvCqT3prn0pQyqF6lvNxVvJj29TO//yEbtu2RtZt3eXSpbioe2L2D4Q3T7gHrDk80lSLXXStj0qfr7aggbuMHa4r6X9XPyvXbZOuuAx79qCB3n/i2Xm+yDmXAWgXiFy77RBvDL7/+JjMXLJOTp37S/rt0idvl348+JPnz5dX+O2+e3NKqWUPt/567aLn8df6CqGD+u4s/lkNHv9S+flOR66Td443l2kIF9XnFNa4n6nb2zMf9eyq+XZykJfXR+8ks5x76r31vJe329VenzXUxrVujsjbWixcvyp5Pj8iq9ds8bic32vPu8Orm6jnvL5cuA1I8wtWq3/r33yuFCxUUtdYr1211+d5Sa3rvPWU1i8yHgHWw37XURwABBKwtYPXzLwFra+8fRocAAggggAACCCCAAAIIIICAEwQIWDthlZkjAiYFCFibhKIYAggggAACCMSsgNVfMMcsvJeJEbB22ooz33AJhDNgbXRrtLew6cWLlyR10nRJGJWuT/Xqq66Qob06See2cVLg6n+C1VkfFRj99PAXMnTsZHnvw39CtJnPuGG9pFfnJw2D3KpMclqGVi/z8XWzdqTH5+96qxB7664JenBWBWInjOwnjerV9AgyK7fPv/paBoyY4OKmQrzzpo6RMqXu8OjePWCdtYAKwA95oaN0btvc5WbqS5cuyfY9B6VPUpqofZb5qHWdOnaItGrWwHCaoQxYZ+3g8LHj8kT8INl78Ij25YZ1q8us9BFaqNjb4z5vM0HmQAPWWceggvFDXnhWHn/kQY9g9o8//yovjpvqEab3tefVuNp0GyLHvzmpd1W14t2SMqi7PFCziuTIkUP/ulq71Rt3aDddqzU0eghY+/tdSnkEEEDAXgJWP/8SsLbXfmK0CCCAAAIIIIAAAggggAACCMSiAAHrWFxV5oRAgAIErAOEoxoCCCCAAAIIxIyA1V8wxwy0yYkQsDYJRTEEfAiEM2CtunYPMnsLtX554jstIJz1xuOpYwdLxycf8xqSzpzaf06fkZ5DxsrM+cv02bZr0VjSUwaKCvMaPf4GrCM9Pn82rrqde+DICZI2dbZebUFGqsQ1fiDbZr7/4Wfp2DfZ5Ybx8S/21oLp7o+3gLUKcr82epA8XK+613X69vsfpNugMS43k9evXU1mvDpcuxHa/XF6wFrdFJ3xUqLLjeruRkY3lj9cr4bMnDBcrrv2Gg/T02f+kB5DUmXGvKX6Z+qG9vSUAdqN494eFcbuljDGZY9kliVg7c93KWURQAAB+wlY/fxLwNp+e4oRI4AAAggggAACCCCAAAIIIBBrAgSsY21FmQ8CQQgQsA4Cj6oIIIAAAgggEBMCVn/BHBPIfkyCgLUfWBQNWmDzzv0y490PZPXG7fLFiW+19u4o+i95oGZVeerfTaR65XJB9xGtBqwSsF68Yp0069BbZ2jeqJ5MG58ohQoWMEXz8bqt0qBVN72sCvDOnjRSri9cyLC+vwHrSI/P1KT/W+jX305Lux5D9RCsmVuWM9tfuGy1PN6xv96dt2C6t4C1CvS2iWvkMwR/6OiX0vq5wfrt0apDbyFwJwes1S8EzJyQLM0a1vG5Bbbt/lQee6aPnDz1k1a2XOni8u6U0XJX8WIedVdt2CbNn+nrcsP5/NfHSJUKd/vsZ9+ho9KqS4KoNcz6ELD2SUcBBBBAwNYCVj//ErC29fZi8AgggAACCCCAAAIIIIAAAgjEhAAB65hYRiaBQGgECFiHxpFWEEAAAQQQQMC+AlZ/wWxf2cBGTsA6MDdq+S/w3IBRMnnmgmwrdmn3uLw2ZpD/jVugRrgD1lNmLpQuA1L0mVYuX1rmTk6R4sVudZn99j0H5ZNNO2T3/s/kq29OSod/N5X4dnGmhQ4fOy5PxA/SA7y+Qsb+BqwjPT7TExcR9/BziduLyvyMMVK+dAmfzXz2+VfSud9IKXD1lVKxTEktnNuyaX3JmyePS12jgLU/IfiLFy9J6qTpkjAqXW9XrW9aUh/Jny+vS19ODlhndwu1+2J+d+pHadNtiKzZtFP/yCj0rOwTU1+TURPe1Msl9uoow3p3lpw5c/jcI5cvX9ZuR++TlOZSloC1TzoKIIAAArYWsPr5l4C1rbcXg0cAAQQQQAABBBBAAAEEEEAgJgQIWMfEMjIJBEIjQMA6NI60ggACCCCAAAL2FbD6C2b7ygY2cgLWgblRyz+Bh5/sIcvXbDZVqWHd6vLR7AmmylqpULgD1jPmLZX2zw/Tp+wr+ByoTbgD1oGOK7Oev+Pzp7+z5/6U5xNfkozZ7+vVOrVpLqMH95BrrzF3A7iv/owC1hnjEuXZ1s18VdU/37nvkDRt30u/cblGlfLaLeO33XKTSxtODlgP6vG0JPd/zlTw+czvZ6VbwmiZOX+Z7mcUenYPYqtbsj+cNUFqVq1geu3ULdYtOg6Qo1+eyLYv0w1SEAEEEEDA8gJWP/8SsLb8FmKACCCAAAIIIIAAAggggAACCMS8AAHrmF9iJoiAeQEC1uatKIkAAggggAACsSlg9RfMsanufVYErJ224pGfr5mbq91HZcebrMMdsHa/KdpbqDbYFfY3wOzvDdaRHp+//U2bs0g69kl2qVaudHFp+3hjaVK/lpS84zbJlSunv83q5YO5JTuzkR9//lWe7DpYVq7fpn1JBX1XzEmX+yqXcxmXkwPW019JkqdaPmJqnc79+Zf0GjZO1C3xmY9RwNo92F63RmWZlT5Cbi5yval+VKFffzst7XoMlaUrN2Tbl+kGKYgAAgggYHkBq59/CVhbfgsxQAQQQAABBBBAAAEEEEAAAQRiXoCAdcwvMRNEwLwAAWvzVpREAAEEEEAAgdgUsPoL5thU9z4rAtZOW/HIznfzzv1So+nTAXW6acmbUt0tMBpQQxGqFOmAtbrpW4U7CxcqGPQMz1+4IMe++kbWbNopC5aullUb/gnuqsfXTdmRCFgHMz5/cb79/gctAPvJxh2GVdUt0SpYG9f4AalWsYwUuf5aMQgmee3WPWBdv3Y17fbp6wsXMj1Uo0Dw2xOTpU1cI5c2nBywnjs5RZ54tIEpU7MB68Ur1kmzDr31Njs++Zi8ktxXrsifz1Q/qtCff52XPklpMumteXodozC36QYpiAACCCBgeQGrn38JWFt+CzFABBBAAAEEEEAAAQQQQAABBGJegIB1zC8xE0TAvAABa/NWlEQAAQQQQACB2BSw+gvm2FT3PisC1k5b8cjON5DbqzNHaLdbrMMZsL548ZIkpr4moya8qS/gI/VrycwJw6VQwQKmFvXSpUvy25nf5fg334u6AfnAZ8dk36GjsvfTI7L7wGGvbUQqYB2u8ZnCcSu0bssu6dxvpKjbvH09995TVgtbN32otpS68zbJkSNHtlXcA9aBhHSN9sPkMQkS3y7OpW8nB6z9CS2bDVjPmLdU2j8/TDdW3mlJfSR/vry+tonL5+6/lODPWP3qiMIIIIAAApYQsPr5l4C1JbYJg0AAAQQQQAABBBBAAAEEEEDA0QIErB29/EweAVcBAtbsCAQQQAABBBBwuoDVXzA7bX0IWDttxSM731K14uTIFycC6rTkHUXl8IaFAdWNRqVwBqzP/H5WuiWMlpnzl+lTMxPuVMFRdSv1m+8sllXrt8kv/zntN004A9aRGJ/fE/5vha++/k6GvTRFVKjW7FOudHHpE99WWjR5UK68Ir9hNfeAtZl1NGrIPaQ7vF8XSezV0aUoAesKppbObMDajLmZDglYm1GiDAIIIBA7AlY//xKwjp29xkwQQAABBBBAAAEEEEAAAQQQsKsAAWu7rhzjRiAMAgSsw4BKkwgggAACCCBgKwGrv2C2FWYIBkvAOgSINOFVIHfRe+Xvvy8GJJQrV065cGJrQHWjUSmcAevvTv0obboN0cLSmU/KoG4yqMfThlNVt0Gv3rhDEkZNlO17DprmuPaaAlKp7F1y8OgXcvLUT1q9cASsIzk+05M3KHj58mU5/s1JeXvBh/L2gmWmbrRWzTRvVE/SknrLbbfc5NEqAevNpvaVKuT+PeUtjG42IO1tL5itT8A6mO8m6iKAAALOFbD6+ZeAtXP3JjNHAAEEEEAAAQQQQAABBBBAwCoCBKytshKMAwELCBCwtsAiMAQEEEAAAQQQiKqA1V8wRxUnCp0TsI4CuoO6JGA9TWpWNXeLbnbbQgVNG7XpIeom68xn0Vvj5dEG93tUU4H2yTMXaOHqrOXdC6rwb5lSd0ilsqWkcvnS2v/eclMROXb8G3kifpDsPXhEqxLqgHWkxxeqbzcVCv/6u1OybstuWfLxOp83gquQ9ZTUBLm+cCGXIYQiYH3+wgUZOHKCpE2drbf99sRkaRPXyKUvbrA2971nNmCtbjNv//ww3ThUt49vWBSafydCtddpBwEEEEAgtAJWP/8SsA7tetMaAggggAACCCCAAAIIIIAAAgj4L0DA2n8zaiAQswIErGN2aZkYAggggAACCJgUsPoLZpPTiJliBKxjZiktOZFSteLkyBcnAhpbyTuKyuENCwOqG41K4brBWt2irIK0fZLS9GllF3pevWG7tO2RqN9ArSqpm6lbN39YmtSvJWXvKi43XFdI8uTObch0+NjxsAasIz2+cO0FFXI+cuyELFu9URYuWy1bdx3w6GpBRqrENX7A5evuAetH6teSmROGS6GCBUwP9ey5P+X5xJckY/b7eh2jwD0B69AGrN9ZvEJadUnQzTs++Zi8ktxXrsifz/Ta/fnXee17edJb8/Q6BKxN81EQAQQQsKWA1c+/BKxtua0YNAIIIIAAAggggAACCCCAAAIxJUDAOqaWk8kgEJwAAevg/KiNAAIIIIAAAvYXsPoLZvsL+zcDAtb+eVHaP4HnBozSblMO5OnS7nF5bcygQKpGpU64AtYnT/0kT/UcKivXb9Pn5e3m3D/OnpPug1PlrXeW6GXVDdpTUgdrt1WbecIZsI7G+MzMOdgy6nbrD1dvkm4JY+T4Nyf15rp2aCnjhvWSfHnz6F9zD1jXqFJeZk8aKepGcbPPd6d+lDbdhsiaTTu1KjcVuU6WTE/TbiLP+hCwDm3AesvO/dKgdTf9Zvi6NSrLrPQRcnOR680unfx2+nfp2DdZ5n+wSq9DwNo0HwURQAABWwpY/fxLwNqW24pBI4AAAggggAACCCCAAAIIIBBTAgSsY2o5mQwCwQkQsA7Oj9oIIIAAAgggYH8Bq79gtr+wfzMgYO2fF6X9E9i8c7/UaPq0f5X+W3rTkjdHByN5AAAgAElEQVSleuVyAdWNRqVwBazdQ7JqbkY3I6uv7zt0VFp0HCBHv/zn1vCrr7pC5r+eKg3q3GeaZN2WXVInrrNePrvbslWh5LQMGTp2sl7+7YnJ0iaukWF/0Rif6YmLyKGjX8qmHftk1/7PZP+hz6Vdi8bSqU1zU02om8Ynz1ggXQeN1ss3rFtdC+AWLlRQ/5p7wFqt0XtvvCQP1qpmqh9VSO21Rm166EHfh+vV0G7Bvu7aa1zaIGAd2oC1UbD9/TfGSbVKZUyvnfv3gKpIwNo0HwURQAABWwpY/fxLwNqW24pBI4AAAggggAACCCCAAAIIIBBTAgSsY2o5mQwCwQkQsA7Oj9oIIIAAAgggYH8Bq79gtr+wfzMgYO2fF6X9FwjkFmu73V6tVMIRsFaB36d7JcnWXQd0+Ecb3C+vvzREbrjuWo/F+HjdVmnQqpv+dX9vR1Yh4bSps6VPUpreRigD1tEYnz871mwg2Vub7nvATMBatZXYq6MM691ZcubM4XO4Fy9ekqTxU7Vge+bjrb7Z+Zz78y/pNWycTJm5UG8zu9Cv+y3nRvN0n4h7sNzXvjL6nvJ2c7u/43cfm9n65y9ckIEjJ2jfI77sjRZSfX9lzH5fOvcb6fIxAWuf254CCCCAgK0FrH7+JWBt6+3F4BFAAAEEEEAAAQQQQAABBBCICQEC1jGxjEwCgdAIELAOjSOtIIAAAggggIB9Baz+gtm+soGNnIB1YG7U8k/g4Sd7yPI1m01VUmHNj2ZPMFXWSoVCHbA+9eMvEt9/pCxavlafprrteOrYIdKqWQPDqS9esU6adeitf1a5fGmZOzlFihe71RSVul23VZcE7SbnzMdXENafG6yjMT5TE/9vIffbhUuXuF3zK1+6hKlm3APNHZ98TF5J7itX5M+n13cPGqsPbrvlJpn/+hipUuFun/3s2HtQWnQaIMe/OamVvanIdeLtFmUC1qG9wVp5r9qwTZo/01e/PdyfPaJulm/XY6jLL0yoNglY+9z2FEAAAQRsLWD18y8Ba1tvLwaPAAIIIIAAAggggAACCCCAQEwIELCOiWVkEgiERoCAdWgcaQUBBBBAAAEE7Ctg9RfM9pUNbOQErANzo5b/AmZusrbjzdWZEqEKWF+6dEm27zmo3SKt2sz6dO3QUlKH9JQrr8hvuABbdu6XBq276eFPVWjmhOHSJq6RGIRnXNr49PAXWqDbvc9ypYvLu1NGy13Fixn26R6wnjwmQdRNw0ZPNMbnz0794+w56T44Vd56Z4lerVnDOjIldbAUud7zxvCsbX//w8/SsW+yLF25Qf+ykYVRwFpVeKR+LUlPGaCFrb09KqDbPSFVVqzdohfxdquzKhCpgHXdGpVlVvoIubnI9V7H7j7vErcXlfkZY7INr7t/T0X7Bms1udNn/pAeQ1JlxrylLnskfdQA+deNN3id/48//6p9T8+cv8yjDAFrf75LKYsAAgjYT8Dq518C1vbbU4wYAQQQQAABBBBAAAEEEEAAgVgTIGAdayvKfBAIQoCAdRB4VEUAAQQQQACBmBCw+gvmmED2YxIErP3AomjQApt37pcZ734gqzduly9OfKu1d0fRf8kDNavKU/9uItUrlwu6j2g1EGjAWgWqfzvzu6iA7rbdn2oBTHVLrvtjJuh78tRP8lTPobJy/f/qq8DuiAHPScum9SVvnjwe7f7w0y8y/d0PZPTEt+SX/5w25MsuAJo2dbb0fnG8Xk+N01vYNBrj83c/qPByi079XULqTR6qLcN6d5J7yt0lOXLkcGny8uXLsvvAYRmUMtEl+FyzagV5e2KyFLv1Zpfy3gLWqlDVindLyqDu8kDNKi79qD2yasN26Tf8Fdl78Ijenq/bk8MVsFa3Zz/ZdbBs2rFPG4u6WX3SqIHyZPOHPXwyB/vb6d+1APr8D1bp408Z1E16x7cx3JeqkBUD1pnjatNtiH6LuPqaWm81n1rVKnqs3a79n8ng0ZNc9kfWTUHA2t/vUsojgAAC9hKw+vmXgLW99hOjRQABBBBAAAEEEEAAAQQQQCAWBQhYx+KqMicEAhQgYB0gHNUQQAABBBBAIGYErP6COWagTU6EgLVJKIoh4EPAKGAdKrQGde6TiSn9Rd36m92jwr4Zs9+Xzv1GehQrdedtUr1Kef0mahX0Xb91t6hbpbM+KuSrbshes2mn/uW1C6fK/ffdY9j14hXrpFmH3i6fXXtNAalQpqTkzpVLC5wO6N5e8uTOLdEYn79r8Nf581oYdtzktz2qVipbSjMs+q8btc9OfPu9bN6xTwtYZ31U4FjdXt36sYYeN4e7B6xV2fz58okKumc+qp/6998rhQsVFFV+8fK1cvjYcdN9ZBYMV8DaKCyt+lTjvr5wIcmdO5cWNi5fuoQ+5vMXLsjAkRNEBfKzPmpfZt7arcLWDetW1z+2asBa7eNXp82VF4aOM9wjWddu5bqtLvvjhuuulXN//ukS4Cdg7e93KeURQAABewlY/fxLwNpe+4nRIoAAAggggAACCCCAAAIIIBCLAgSsY3FVmRMCAQoQsA4QjmoIIIAAAgggEDMCVn/BHDPQJidCwNokFMUQ8CEQroD1M60elZEDu8mNNxQ2tQZ/nD2nBYRfyZhjqnzWQpl9vfnOYkkYla5/NP2VJHmq5SOG7X319XfStnuidtuw0dOuRWNJTxmo3XKsnkiPz28EEe0mbxUGfn3We35XV+Hy8S/2ljZxjSRXrpwe9d0D1hXuLinD+nTSAt3eDN0bUYHk8S/2kuaN6nkEuLOWDVfAOruAcWb/K+amy0P33+sy9EXL10q7Hoku4eKsBVQoPb5dnP4lqwas1QD//vuipE2dJckvZ3idj/u6qbUe3r+LTHprnixfs1n/mIC1399mVEAAAQRsJWD18y8Ba1ttJwaLAAIIIIAAAggggAACCCCAQEwKELCOyWVlUggEJkDAOjA3aiGAAAIIIIBA7AhY/QVz7EibmwkBa3NOlELAl0CoA9YqPKtu9K1RpbzkyJHDV/cun5/78y+ZPGOBjHg5QwsL+3rUrcEDurWXOtXv0fpyv5VahV7TkvpI/nx5PZpSYduPPtkszw0cJce/Oenxed0alWVW+gi5ucj1+meRHJ+vuXv7XN1k/cacxTImfbrhvIzqqTUb8sKz2k3OBmElrYpRwPqdKaOk4NVXyeDR6fLG3MXZDlkF3ZP6xkuxW2/2ObVwBaxVx75C6O5haVVHrXtq+nR5cdxUw7EP6vG0JPd/TnLm/Ge/WzlgrcZ36dIlWb1xhySMmijb9xzMdj3U3khL6i1XXXmFtOk2RA9Yq188WDEnXe6rXM7nelIAAQQQQMCeAlY//xKwtue+YtQIIIAAAggggAACCCCAAAIIxJIAAetYWk3mgkCQAgSsgwSkOgIIIIAAAgjYXsDqL5htD+znBAhY+wlGcQS8CAQTsFaB3JtvvF6qVLhbC1RXrXi3FCpYIGjrH376RZZ8vF5Wrtsquw8clsPHjmttqhuQK9xdQurVrCIqXF3qzttcQtxfnvhOWndNkK27DmjlS5e4XeZOTpHypUt4HZO6yXranEWycv022bJzv16uxO1FZX7GGMO6kRxfoJgqFKwcVqzdIlt27Ze9nx7RQ+vKTdmoYPqjDepIsVtv8hmG9xawVm2pwO7W3Qdk7vsrtACuWi8VwK1Wsaw0qHufNGtYR0reUTTbW6uzzjOcAWvVjwqhL1u1UeYuWqEZZQ3Yu4elM8el5rh+6x55690lsnnHPn1Pqs/dbzu3esA6c05qj6zfulvUDd1qTup7TT3q+7r2vZWk1WMN5N5KZbW9kd36B7pHqYcAAgggYG0Bq59/CVhbe/8wOgQQQAABBBBAAAEEEEAAAQScIEDA2gmrzBwRMClAwNokFMUQQAABBBBAIGYFrP6COWbhvUyMgLXTVpz5IoBANAUI2EZTP/p9f3fqR+0G6zWbdmqDqVy+tPbLC8WL3Rr9wTECBBBAAIGwCFj9/EvAOizLTqMIIIAAAggggAACCCCAAAIIIOCHAAFrP7AoikCsCxCwjvUVZn4IIIAAAggg4EvA6i+YfY0/1j4nYB1rK8p8EEDAygIErK28OuEf22effyX/jh8o+w99rnWmbpCflT5CChcqGP7O6QEBBBBAICoCVj//ErCOyragUwQQQAABBBBAAAEEEEAAAQQQyCJAwJrtgAACugABazYDAggggAACCDhdwOovmJ22PgSsnbbizBcBBKIpQMA6mvrB9X3uz79kwIhX5dDRL6VSubuk1J23SbOGdeS6a68x3fDCZavl8Y799fJdO7SUccN6Sb68eUy3QUEEEEAAAXsJWP38S8DaXvuJ0SKAAAIIIIAAAggggAACCCAQiwIErGNxVZkTAgEKELAOEI5qCCCAAAIIIBAzAlZ/wRwz0CYnQsDaJBTFEEAAgRAIELAOAWIUm0hOy5ChYyfrI5g8JkHi28WZGtHpM39IjyGpMmPe0oDqm+qEQggggAAClhOw+vmXgLXltgwDQgABBBBAAAEEEEAAAQQQQMBxAgSsHbfkTBgB7wIErNkdCCCAAAIIIOB0Aau/YHba+hCwdtqKM18EEIimAAHraOoH3/eshR9K2+6JekOP1K8lGS8lyo03FM628b//vijjprwtA0dO0MuVLnG7zJs6RsqUuiP4gdECAggggIBlBax+/iVgbdmtw8AQQAABBBBAAAEEEEAAAQQQcIwAAWvHLDUTRcC3AAFr30aUQAABBBBAAIHYFrD6C+bY1vecHQFrp60480UAgWgKELCOpn7wfR8+dlyeiB8kew8e0Rtr8lBtGda7k9xT7i7JkSOHRycnT/0kr2TMkUnT58mZ38/qn6cO6Sm949tKzpyedYIfKS0ggAACCFhFwOrnXwLWVtkpjAMBBBBAAAEEEEAAAQQQQAAB5woQsHbu2jNzBDwECFizKRBAAAEEEEDA6QJWf8HstPUhYO20FWe+CCAQTQEC1tHUD77vy5cvy6vT5soLQ8d5NFapbCmpXqW8FP3Xjdpnaq3Xb90tW3bu9yjb/t9NZNywXlK4UMHgB0ULCCCAAAKWFrD6+ZeAtaW3D4NDAAEEEEAAAQQQQAABBBBAwBECBKwdscxMEgFzAgSszTlRCgEEEEAAAQRiV8DqL5hjV954ZgSsnbbizBcBBKIpQMA6mvqh6fvcn39Javp0eXHc1IAa7NqhpST3f06uvaZAQPWphAACCCBgLwGrn38JWNtrPzFaBBBAAAEEEEAAAQQQQAABBGJRgIB1LK4qc0IgQAEC1gHCUQ0BBBBAAAEEYkbA6i+YYwba5EQIWJuEohgCCCAQAgEC1iFAtEATly5dktUbd0jCqImyfc9BUyMqV7q4DOrxtMQ1rid58+QxVYdCCCCAAAL2F7D6+ZeAtf33GDNAAAEEEEAAAQQQQAABBBBAwO4CBKztvoKMH4EQChCwDiEmTSGAAAIIIICALQWs/oLZlqhBDJqAdRB4VEUAAQT8FCBg7SeYxYv//fdF2X3gsHz0ySbZsmu/fHr4Czn+zUlt1OqG6qoVy0jNqhXk4Xo1pFLZUpIrV06Lz4jhIYAAAgiEWsDq518C1qFecdpDAAEEEEAAAQQQQAABBBBAAAF/BQhY+ytGeQRiWICAdQwvLlNDAAEEEEAAAVMCVn/BbGoSMVSIgHUMLSZTQQABBBBAAAEEEEAAAUsJWP38S8DaUtuFwSCAAAIIIIAAAggggAACCCDgSAEC1o5cdiaNgLEAAWt2BgIIIIAAAgg4XcDqL5idtj4ErJ224swXAQQQQAABBBBAAAEEIiVg9fMvAetI7QT6QQABBBBAAAEEEEAAAQQQQAABbwIErNkbCCCgCxCwZjMggAACCCCAgNMFrP6C2WnrQ8DaaSvOfBFAAAEEEEAAAQQQQCBSAlY//xKwjtROoB8EEEAAAQQQQAABBBBAAAEEEPAmQMCavYEAAroAAWs2AwIIIIAAAgg4XcDqL5idtj4ErJ224swXAQQQQAABBBBAAAEEIiVg9fMvAetI7QT6QQABBBBAAAEEEEAAAQQQQAABbwIErNkbCCCgCxCwZjMggAACCCCAgNMFrP6C2WnrQ8DaaSvOfBFAAAEEEEAAAQQQQCBSAlY//xKwjtROoB8EEEAAAQQQQAABBBBAAAEEEPAmQMCavYEAAroAAWs2AwIIIIAAAgg4XcDqL5idtj4ErJ224swXAQQQQAABBBBAAAEEIiVg9fMvAetI7QT6QQABBBBAAAEEEEAAAQQQQAABbwIErNkbCCCgCxCwZjMggAACCCCAgNMFrP6C2WnrQ8DaaSvOfBFAAAEEEEAAAQQQQCBSAlY//xKwjtROoB8EEEAAAQQQQAABBBBAAAEEEPAmQMCavYEAAroAAWs2AwIIIIAAAgg4XcDqL5idtj4ErJ224swXAQQQQAABBBBAAAEEIiVg9fMvAetI7QT6QQABBBBAAAEEEEAAAQQQQAABbwIErNkbCCCgCxCwZjMggAACCCCAgNMFrP6C2WnrQ8DaaSvOfBFAAAEEEEAAAQQQQCBSAlY//xKwjtROoB8EEEAAAQQQQAABBBBAAAEEEPAmQMCavYEAAroAAWs2AwIIIIAAAgg4XcDqL5idtj4ErJ224swXAQQQQAABBBBAAAEEIiVg9fMvAetI7QT6QQABBBBAAAEEEEAAAQQQQAABbwIErNkbCCCgCxCwZjMggAACCCCAgNMFrP6C2WnrQ8DaaSvOfBFAAAEEEEAAAQQQQCBSAlY//xKwjtROoB8EEEAAAQQQQAABBBBAAAEEEPAmQMCavYEAAroAAWs2AwIIIIAAAgg4XcDqL5idtj4ErJ224swXAQQQQAABBBBAAAEEIiVg9fMvAetI7QT6QQABBBBAAAEEEEAAAQQQQAABbwIErNkbCCCgCxCwZjMggAACCCCAgNMFrP6C2WnrQ8DaaSvOfBFAAAEEEEAAAQQQQCBSAlY//xKwjtROoB8EEEAAAQQQQAABBBBAAAEEEPAmQMCavYEAAroAAWs2AwIIIIAAAgg4XcDqL5idtj4ErJ224swXAQQQQAABBBBAAAEEIiVg9fMvAetI7QT6QQABBBBAAAEEEEAAAQQQQAABbwIErNkbCCCgCxCwZjMggAACCCCAgNMFrP6C2WnrQ8DaaSvOfBFAAAEEEEAAAQQQQCBSAlY//xKwjtROoB8EEEAAAQQQQAABBBBAAAEEEPAmQMCavYEAAroAAWs2AwIIIIAAAgg4XcDqL5idtj4ErJ224sw3XAKzFn4obbsnGjY/eUyCxLeLC0nXv53+XTr2TZb5H6zyaG/DomlSs2qFkPQTrUYOHzsuT8QPkr0Hj2hDaFi3usxKHyGFCxWM1pDk519/kzbdhsjyNZv1MYTS+tyff0mvYeNkysyFYWk/WnAbt++VWs2e1btX3wNpSX0kf768HkNKTsuQoWMn618f3q+LJPbqGPKh+7O//Bl/yAdKgwgggAACMSNg9fMvAeuY2WpMBAEEEEAAAQQQQAABBBBAAAHbChCwtu3SMXAEQi9AwDr0prSIAAIIIIAAAvYSsPoLZntpBj9aAtbBG9ICAkogu4B1uxaNJT1loFx91RVBY+3cd0iatu8lJ0/95NFWKEO/QQ80wAb8CcAG2IXf1QhY+02mVfAnoEzAOjBjaiGAAAIIWF/A6udfAtbW30OMEAEEEEAAAQQQQAABBBBAAIFYFyBgHesrzPwQ8EOAgLUfWBRFAAEEEEAAgZgUsPoL5phEz2ZSBKydtuLMN1wC2QWsS9xeVOZnjJHypUsE3X3a1NnS+8Xxhu0QsA6a17ABAtaBuRKwDsyNWggggAACsSVg9fMvAevY2m/MBgEEEEAAAQQQQAABBBBAAAE7ChCwtuOqMWYEwiRAwDpMsDSLAAIIIIAAArYRsPoLZttAhmigBKxDBEkzjhfILmCtcCaPSZD4dnFBOf12+nfp2DdZ5n+wyrAdAtZB8XqtTMA6MFcC1oG5UQsBBBBAILYErH7+JWAdW/uN2SCAAAIIIIAAAggggAACCCBgRwEC1nZcNcaMQJgECFiHCZZmEUAAAQQQQMA2AlZ/wWwbyBANlIB1iCBpxvECvgLWHZ5oKhNH9pcrr8gfsNXOfYekaftecvLUT4ZtELAOmDbbigSsA3MlYB2YG7UQQAABBGJLwOrnXwLWsbXfmA0CCCCAAAIIIIAAAggggAACdhQgYG3HVWPMCIRJgIB1mGBpFgEEEEAAAQRsI2D1F8y2gQzRQAlYhwiSZhwv4B6wvqnIdVLgqivl8LHjmk3pErfLvKljpEypOwKyunz5sqRNnS19ktK0+jdcd62c+/NPOfP7Wb09AtYB0fqsRMDaJ1HQBZLTMmTo2Ml6O8P7dZHEXh2Dbte9AfX9+ET8INl78Ij2UcO61WVW+ggpXKhgyPuiQQQQQAABBJSA1c+/BKzZpwgggAACCCCAAAIIIIAAAgggEG0BAtbRXgH6R8BCAgSsLbQYDAUBBBBAAAEEoiJg9RfMUUGJYqcErKOIT9cxJeAesFbBzQp3l5DUSTP0eWaMS5RnWzcLaN6//nZanu2dLO99+IlW/7n2LeToFydk5fptensErAOi9VmJgLVPoqALELAOmpAGEEAAAQQsKmD18y8Ba4tuHIaFAAIIIIAAAggggAACCCCAgIMECFg7aLGZKgK+BAhY+xLicwQQQAABBBCIdQGrv2COdf//Y+8846Mouz58XqoUQZqIBUVBRJr0DopIEZEuXVAiBELQJJCEhBBCSAKRJEIIJJEeOgFFem+hN6UKqAgoiCBKsVHf35nn2Xmyk9mdsrObnd3/fFGydznnuu9ZMsw1Z6T5QbD2thVHvs4iICdYf/JRL/owcBxduXpdmHZAjw40NSaYihQupDmMA0dPUqcPg4SxHi9amOZOjqK0jBW0YftecSwI1pqxquoAwVoVJocaQbB2CB86gwAIgAAIuDEBd7/+hWDtxpsHoYEACIAACIAACIAACIAACIAACICAlxCAYO0lC400QUANAQjWaiihDQiAAAiAAAiAgCcTcPcbzJ7MXi43CNbetuLI11kE5ATraXGhFBIzhTJXbxGmrVKpAi1Ln0hVK7+oKYxHjx5RUvpCCopKEvp1bvcGTRztT/7hn0Kw1kRSX2MI1vq4aekFwVoLLbQFARAAARAwEwF3v/6FYG2m3YRYQQAEQAAEQAAEQAAEQAAEQAAEQMAzCUCw9sx1RVYgoIsABGtd2NAJBEAABEAABEDAgwi4+w1mD0KtKhUI1qowoREIKBKQE6wXpIynecvWUODYRLH/jIQIGtiro+J42Rv8fvMWDQyMpi/WbRN+nBAZQO93b099h0U4JFjfuv0n7dp/lDLXbKFvTp6loyfOCOOXfKIY1XutKjWpV5M6tX1dEMPz5curKebsjf/+51/af+SEED/PZ5mnRaPa9PabTalnx9ZU/pmnhC5nvr9APQaPom9OnRX+3Ob1RsQcS5Uormp+ltF/uvIrrd60i9Zv20PfnDpHF366IvStVa0y1az6Mr3dsokwbrHHi6gaM7cFa65avvCL9bRu6x468PUJun3nL6r80vPUqG4NzblI+dZ89WVakhYnjKfm0NJ/98FvqGnHgeKwg/t1oaSoICr0WMEcUzkiWDtrf2mJX3r+Z68mf//+A9p/9AQt/WoTHfj6JO07fFzIn5nznuzY9nVhHdXuRym8f+/epb2HjgvnV/bxeexmDWrRe+++RQ1qVRPPYXuxqtkDaAMCIAACIKCNgLtf/0Kw1raeaA0CIAACIAACIAACIAACIAACIAACIGA8AQjWxjPFiCBgWgIQrE27dAgcBEAABEAABEDAIALufoPZoDRNMwwEa9MsFQJ1cwK2BOsfL12mDv0DiCVZPuxJprZSPHD0JHX6MEgYo1zZ0vTlrAR66YVnqY/faF2C9bXffqe0jBWUlL6AbvxxS5EsS5pjAj+ilk3qUp48eRTbWxo8fPiQtu4+RGFxU+ng16ds9mOhe9xIX/Lp04l+vHRFt2DNrCMnpQlSu9LBc47+xIcG9e1MRQoXsts8twTrujWr0IwFX9KYT1PtrtPzz5ajgEG9aVDfLrLycvbktAjSclC09NciKOsRrJ29v7TEb0ta/vrkWYqIny4I//aO7OdAwQIFlLav8Dk/TLBt9yEKjU22e35x23feakbRwUPotaovEwRrVXjRCARAAAQMI+Du178QrA1bagwEAiAAAiAAAiAAAiAAAiAAAiAAAiCgkwAEa53g0A0EPJEABGtPXFXkBAIgAAIgAAIgoIWAu99g1pKLJ7SFYO0Jq4gc3IGALcE6X9685DMimjJXbxHC1FoxmCXKpPSFFBSVJPTv3O4NmpkYQQ8fPtIlWB85/i0NH/0psTyq5Xi8aGEKHtqfgnz7Kkq8PC5XFU5InU/x0+YKFZfVHLGj/OidVs2on/8YTRWsWbRdvmYrjYyeLFarVjMft2ndoiFNjQ2mShXK2+ySG4L1+oXJQsXqyTMWqU2F+nV7W6huXqZUCZt9tAjScoNo6a9FUNYqWLtif2mJX05avnrtNwocm6RpT37s04tiQocqSv9cFTs1Y7nw8ILa84tF/FmJY+jy1WvCOWY5slfbVr3Z0BAEQAAEQEA1AXe//oVgrXop0RAEQAAEQAAEQAAEQAAEQAAEQAAEQMBJBCBYOwkshgUBMxKAYG3GVUPMIAACIAACIAACRhJw9xvMRuZqhrEgWJthlRCjGQjYEqxLlSguCNKBYxPFNOZPjaY+XdqpSuv3m7doYGA0fbFum9CeBVquVsyVp7VWsN6x9wj1/zgyh/DJ8nSTeq9R47o1qECB/HTx519oy64DxDKt9FAjgLL8mZA2n0JjknP0b1C7GrVqVp8eL1pEdp7AwX1o0879dPz0d0LfNq83ogUp44k5yh0soC/6cgP5hsTmECDDQZoAACAASURBVE0rv/Q8Napbg16p+ILQ9fS587R9z+Ec+XNMs5MiqUqlCrJz5IZgzWux59AxMR6ucNy+VVOqWvklunv3HvFabsk6kCPeoQO6U/zo4TYFXS2CtBwMLf21CMpaBGtX7S8t8UvP/9GfDKSMzLXiXtNyjil9P9jb87WqVaZWzRsI5wvv280799PRE2fEpWTJmvf70q82iT+DYK3qqxiNQAAEQEA3AXe//oVgrXtp0REEQAAEQAAEQAAEQAAEQAAEQAAEQMAgAhCsDQKJYUDAEwhAsPaEVUQOIAACIAACIAACjhBw9xvMjuRmxr4QrM24aojZHQnYE6wPHztNHfoH0JWr14XQB/frQklRQaoqQR84epI6fRgk9C1XtjR9OSuB6teqKsiTWgTrc+cvClVr9x85IeJj6TNgUB8aPrBnDoGZq0Jv3X1IqJB78OtTVshZ4A0c3Jfy5s0juxQbd+yjbh8FWwnPTerVFOTweq+9Snny/K8fy7Jbdx+k4OgpYtXq7IMqCdZy0jjPERPqR280rkv58uW1ipErHy9fs4VGT5xuJVpzZfC0+DDZ6s9aWWvdnxxTQGQCpWWsyNGV12hMwEc0pH83K2maJdvvfrxEIeOTRfne0vmzcUHCmsoIU4I032PwKJG11orqWvprEZS1CNau2l9a4pee/5a14PUb2r878YMJfP5mP/69e5cWfrGeRkR9JjwwYTksVepLFC8mu5U4Lj73L/x0Rfyc93zsqGHUskldq/PL3nls6QzBWusZi/YgAAIgoI2Au1//QrDWtp5oDQIgAAIgAAIgAAIgAAIgAAIgAAIgYDwBCNbGM8WIIGBaAhCsTbt0CBwEQAAEQAAEQMAgAu5+g9mgNE0zDARr0ywVAnVzAvYE65u37pDPiGjKXL1FyEKt1MoSLVe/DopKEvp1e+dNmjEpgooXK6pJsGaRM3zCNEpInS9S5Eq2iWMDiGVOORHX0vDab78L83M1XsvBfTM/n0h1a76aY1W44vbg4Fhatmqz+FnHNi0oJS6EnnnqSZuryNWlPwiIshLAubE9wfrX6zfooxHj6auNOzXNxY1ZevcLm2g1X/qn4eTTu1MOHrklWLOcmzoxjHp1amNzjW7f+YtCYqbQ9LmZIgN7+0uLIC23WFr6axGU1QrWrtxfWuKXE6x5/abFhVLvzm2tpOfsXOWqUXO/dQuSiR9KkB63bv9J/qPjad6yNeJHXNk8JTaE+Ly0dbCMzft9zeasHE0gWLv5Xy4IDwRAwPQE3P36F4K16bcYEgABEAABEAABEAABEAABEAABEAAB0xOAYG36JUQCIGAcAQjWxrHESCAAAiAAAiAAAuYk4O43mM1JVX/UEKz1s0NP7QT2Hj5O85auFioW/3DxZ2GAF8s/Qy2b1KP333uHGtWprn1QN+lhT7DmEFmUDhybKEY7f2o09enSzm70LJMODIwWKxQnjg2kgEG9hT5apN+TZ36g7oNCiCVmy2FLJpYL6OdffhWqX2/bfUj8OMi3L8WEDqWCBQpYddmSdYA6fzhCrF5dpVIFWpwaSzWqVFJcqa1ZB6mvf4RY6Zs72BOsV6zdSl19gsVxG9SuRrOTIonnVHNIKyG3alaf5k0Zl6PSsBbWauaVtrFVwXpCuD8FDe6bowq3tL/c+nC1cN4r0u94LYK0XC5a+msRlNUK1q7cX1rilxOsbZ0jUq7S85w/nzs5it7v3j7HEkjzt/ewg7TzsdPnqKdvmNX3ALeBYK3nrEUfEAABEFBPwN2vfyFYq19LtAQBEAABEAABEAABEAABEAABEAABEHAOAQjWzuGKUUHAlAQgWJty2RA0CIAACIAACICAgQTc/QazgamaYigI1qZYJo8IckhIHKVmLLebi2+/rjR94ihT5qskWHPF5A79A0R5ePjAnhQfMTyHoJw9eRY82/XxF2TlcmVL06q5SVSnRhWhiRbpVyp3c9XqmYkRVKJ4MdWspTKzXJXkBw8eUkT8dIpLni2OGxHgQ5GBgyhv3jyKc3Gl7eDoKTRl5mKxrS3B+s+//qZh4fE0Z8kqsa0WaZw7yY2xck4ivdu6uVWsWlgrJinTQE6wtiV72xp/5qKV5BMULX5sa421CNJyc2npr0VQViNYu3J/ce5a4pee//aqUEu5yuU1bqQv8bmT/XA0f2lFfMvYEKz1nLXoAwIgAALqCbj79S8Ea/VriZYgAAIgAAIgAAIgAAIgAAIgAAIgAALOIQDB2jlcMSoImJIABGtTLhuCBgEQAAEQAAEQMJCAu99gNjBVUwwFwdoUy2T6INv29qcN2/eqyoOF2vULk1W1dadGSoL1zVt3yGdENGWu3iKEzdWWF02LpQrln5ZNg2XImMmzBGGZj27vvEkzJkVQ8WJFhT+rlX5ZzvYLm0AZmWvFeVInhtHgfl004bt89Rr18RtN2/ccFvtJZeTrN/4QKl2v37ZHbLNxcQq91byB6rk27dxPrXv6ie1tCdZaRF97k6dlrCDfkFixySj/Dyg6eIiVEK6WteokJQ3lBGtbFahtzSHlUalCecqcMTFH5XBHuWnpr0VQViNYu3J/MWct8UvP/9cb16EFKePp6bJlVG0L6T6UE6yl56AWidsSBFex7uYTQufOXxTjgmCtaonQCARAAAR0E3D3618I1rqXFh1BAARAAARAAARAAARAAARAAARAAAQMIgDB2iCQGAYEPIEABGtPWEXkAAIgAAIgAAIg4AgBd7/B7EhuZuwLwdqMq2aumNVUrpZmZMZK1kqCNecorSS9fEY8dXm7peyCSmXSxLGBFDCot9hWrfT73Y+XqKdvGHEFbT6klbDV7qa79+5RaEyykIPlkEqgUnmzcd0atHBaDD3/bDm105A0XluCtVTEbt+qKWUkj9NUlZuD2rnvCLXoMkiMTyqy8wdqWatOUtJQTrDesSKdmjesrXpIOZF+cWos9Xi3tdUYWgRpucm19NciKKsRrF25vzh3LfFLz3+f3p1ocvQIKlzoMVVrKO0vJ1hLq+Brlbg5kN9v3hIeglizOUuMC4K1qiVCIxAAARDQTcDdr38hWOteWnQEARAAARAAARAAARAAARAAARAAARAwiAAEa4NAYhgQ8AQCEKw9YRWRAwiAAAiAAAiAgCME3P0GsyO5mbEvBGszrpp5Yt57+Dg17vCBroD3rJpNjepU19U3NzqpEaylguTwgT0pPmI4FSxQIEfILHe26+NPLM7KVSNWK/1K59QjPVuCk1bZ5SrYSVFBVOixgkITqaysR3qWCqC2BGtpLE3q1aS2bzSm/PnzaVr+ny5fpamzl4p95KRVtaw1TZytsVSwrvnqy7QkLY4qv/S86iEfPHgoVDuPS54t9okd5UdckTv7oUWQlptcS38tgrIawdqV+4tz1xK/9PwfOqA7cRXyxwrmPLfluKoRrL/auJM6DggUu2uVuLnjP//epaCoJJo2Z5k4DgRr1acZGoIACICALgLufv0LwVrXsqITCIAACIAACIAACIAACIAACIAACICAgQQgWBsIE0OBgNkJQLA2+woifhAAARAAARAAAUcJuPsNZkfzM1t/CNZmWzFzxaunerUlQ7NVsVYjWN+8dYd8RkRT5uotQpoNalejRdNiqUL5p60W9tGjRxQzeZYgzPLRr9vblBIbSo8XLSy2Uyv9SiVRW8Kymp0lzVEqWCt9rmYOqWxsK16pkKtmbDVt5ORmtazVjC/XRppzq2b1hcrfZUqV0DSkGklZiyAtN7mW/loEZTWxu3J/ce5a4lcjSNtbTDX95y1bQ/0/jhSHkZ5/ajeLlDUEa7Xk0A4EQAAE9BFw9+tfCNb61hW9QAAEQAAEQAAEQAAEQAAEQAAEQAAEjCMAwdo4lhgJBExPAIK16ZcQCYAACIAACIAACDhIwN1vMDuYnum6Q7A23ZKZKuDKTbvQ2R8u6or55RfL05msFbr65kYnNYI1x5WUvpACxyaKIa6ck0jvtm5uFfL1G39QP/8xtH7bHuHnqRPDiGXK7Ida6deZgrVUfnalAOvJgrVeCV4q4I4b6UsRAT5W+0aLIC13Hmnpr0VQhmC9jvoOixCRy62dGkZqvvsgWKuhhDYgAAIgYBwBd7/+hWBt3FpjJBAAARAAARAAARAAARAAARAAARAAAX0EIFjr44ZeIOCRBCBYe+SyIikQAAEQAAEQAAENBNz9BrOGVDyiKQRrj1hGt00if/kGdP/+A13x5cuXl+5d3K+rb250UitYHz52mjr0D6ArV68LYQYM6k0Twv2pQP78Ytgsprbr40+37/xFlSqUp8wZE6lGlUpWabmDYC2trA3BWt/OU1u1W2n0tIwV5BsSKzaDYJ2TmBbWWgRxNRWo7a2fmv4QrJXOAHwOAiAAAu5JwN2vfyFYu+e+QVQgAAIgAAIgAAIgAAIgAAIgAAIg4E0EIFh702ojVxBQIADBGlsEBEAABEAABEDA2wm4+w1mb1sfCNbetuKuzReC9XgqVaK4FfSbt+6Qz4hoyly9Rfh547o1aOG0GHr+2XLCnx89ekQxk2dRRPx04c9SidkymDsI1lxVOykqiAo9VlAIKzcFazmZ2Kjdrpa13vmk0m+rZvWFPVGmVAlNQ6oRcLVUoJabXEt/LYKymthdub84dy3xqxGk7S2mmv7SCuXS80/tZkEFa7Wk0A4EQAAEjCHg7te/EKyNWWeMAgIgAAIgAAIgAAIgAAIgAAIgAAIgoJ8ABGv97NATBDyOAARrj1tSJAQCIAACIAACIKCRgLvfYNaYjumbQ7A2/RK6dQKVm3ahsz9c1BXjyy+WpzNZK3T1zY1OaitYc2xJ6QspcGyiGObKOYn0buvmwp+v3/iD+vmPofXb9gh/npEQQQN7dcyRklrpV1oxWyp0a2EljXvogO6UEBlAjxUsIAwjFVLbvN6IFqTklMztzclVu/3CJlBG5lqhma0x4pJnU1hcijiUNBYteSm1VctaaRxbn0sF65qvvkxL0uKo8kvPqx7ywYOHgpTPXCxH6sQwYgk3+6FFkJabXEt/LYKyGsHalftLbj/bE5rVCNL2FlNN/yVfbaSevmHiMD69O9Hk6BFUuNBjqvfJP//epaCoJJo2Z5nYJ2vlTGpSr6bqMdAQBEAABEBAGwF3v/6FYK1tPdEaBEAABEAABEAABEAABEAABEAABEDAeAIQrI1nihFBwLQEIFibdukQOAiAAAiAAAiAgEEE3P0Gs0FpmmYYCNamWSpTBjokJI5SM5brit23X1eaPnGUrr650UmLYC2VngMG9aYJ4f5UIH9+QVJu18efWDSuUqkCLUufSFUrv5gjJbXS74WfrlDvoeG059AxYYzHixamjYtSqGGd6powyYmZsaP8aJT/B+I43373I703OJSOn/5O+JkeUfjy1WvUx280bd9zWBjDlmAtlU3bvtGYMpLHUemST2jKS01jtazVjCXXRipY61kjaWV0nmfj4hR6q3kDqyml+0HrGu07fJxa9/IT9qfSGhstWLtyf3FuWuJXI0jb2x9q+kvZv964jvAAw9Nly6jeenL7BIK1anxoCAIgAAK6CLj79S8Ea13Lik4gAAIgAAIgAAIgAAIgAAIgAAIgAAIGEoBgbSBMDAUCZicAwdrsK4j4QQAEQAAEQAAEHCXg7jeYHc3PbP0hWJttxcwV797Dx6lxh/8JuFqi37NqNjXSKAFrGd/otloEa6nkaBElyz1ZmmImzxIqEfMxoEcHmhoTTEUKF8oRrlrpV1oRmgeSq2ysxEMqPnP77JW3+c+/37wlVN9eszlLHE7aRmme7II5t7UlWEsl9XJlS9OXsxKofq2qSlNYfb5i7VYa/9lMev7ZclS7+iuCzN6+VVMqWOA/Vbn5UMta08TZGksFaz1rdPLMD9R9UAidPndeGNmWOC3NpXqVirQ0bQK9UvEFVeFLxXZ7grYWQVlNBWtX7i+GoSV+NYK0PcBq+kvPQT17/tjpc9TNJ4TOnf/fmwUgWKva+mgEAiAAAroJuPv1LwRr3UuLjiAAAiAAAiAAAiAAAiAAAiAAAiAAAgYRgGBtEEgMAwKeQACCtSesInIAARAAARAAARBwhIC732B2JDcz9oVgbcZVM1fMeqpYm616Na+IFsGa2yelL6TAsYniYnK14VrVKguC8vpte4Sfz0iIoIG9OsouuBbpVzrXu62b0+eTRtOTpUuq3kzS/OTE2kePHlkJ4jz44H5dKCkqiAo9VlBxrgcPHlJUYjqxbGs5bAnWLNsODIymL9ZtE9uGDf+QokYMpnz58irOxQ1u3f6T/EfH07xla8T22auJW36ohbWqiSWN5ARre3K9dA7mzmscFJUkfmSrv1wuO1akU/OGtRVDv3vvHoXGJAtzWQ5XCtau3F+cn7sJ1nL8IwJ8KDJwEOXNm0dx/ZjfjIVf0qCRMVZtIVgrokMDEAABEHCIgLtf/0Kwdmh50RkEQAAEQAAEQAAEQAAEQAAEQAAEQMAAAhCsDYCIIUDAUwhAsPaUlfSOPLRKIt5BBVlKpQytrxUHQRAAARBw9xvM3rZCEKy9bcVzJ9+2vf1pw/a9qiZnoXb9wmRVbd2pkdbfnaUVmEf5fyBUa+7Q/xPiqtNVKlWgZekThYrKcocW6Vda3ZjHS/80nHx6dyIZqSbHdD//8qsgfm/bfUj8bPjAnhQfMdyq0jN/eODoSer0YRBduXpdaPt40cKU+Xk8tW7RUHG5uLpuT98wsQozd7AlWLMsOmXmYvpkTII4Llehnjs5ilo0UpaFudPilRtp0MjxAm9LrIumxQoVrLMfWlgrJinTQE6wZm4ZydHUsU0LxSG5anWvIeH0zamzYtvlM+Kpy9stc/SVq2ieEBlALJYr7QW59XGlYO3K/cVzuZtgzTFtyTpAnT8cIe5Z/p5YnBpLNapUUtwnXLWaz+P9R05YtYVgrYgODUAABEDAIQLufv0Lwdqh5UVnEAABEAABEAABEAABEAABEAABEAABAwhAsDYAIoYAAU8hAMHaU1bSO/LQKol4BxXXZPnw4UPasfcIfffjJfqoT2fXTKpyFjMI1u7MTyVmNAMBjybg7jeYPRq+THIQrL1txXMvXzWVrM1YudpCVOvvzjdv3SGfEdGUuXqLMASLxC88V47SMlYIf1aqYKxF+v337l0KnzCNElLnixug5BPFKCUulHq8+5Zdsfbab78LlZEzMteKfVlkXpAynprUq5ljQ8nN1aB2NUqJDaE6NarY3IAscfuNmkgrN+ywamNLsOZGP166TH2HRQgirOVQMxe3PfHt9wL/7LJp9w6tKC0+jEoUL2YVgxbWes4wOcGax+FcZkyKoGqvvKSJm70K5XJVoHme2UmRgtRv67C1Pq4WrF25v9xRsJarus4SfkpcCD3z1JM210/uPLY0hmCt56xFHxAAARBQT8Ddr38hWKtfS7QEARAAARAAARAAARAAARAAARAAARBwDgEI1s7hilFBwJQEIFibctm8NmitkojXgjIwcRYevv3uR5owdY7wqvJxI32JX/vsToc7C9Zm4OdOa4lYQCC3CLj7Debc4pJb80Kwzi3y3jnv3sPHad7S1bR190H64eLPAoQXyz9DLZvUo/ffe4ca1aluWjB6fndOSl9IgWMTZXOePzWa+nRpZ5OHVulXrnotV0ke2r87Bfn2pTKlSljNxQ+sZR34msLiUqwEZm40Idyfggb3pXz58srGxxWVPwiIspKXK7/0PI0J/Ii6tm9pVfWa5zn49SlB4s4uSlsGtidYcxtpFWr+GQvgPBfL40UKF7KKkQXd5Wu20rjEz+nM9xfEz+xVv9bKWusmtiVY8zjMjStMM4fsvG1xK1e2NM1PjqaWTevZDIM5t+vjL1ZB5oZcYTwubBjVqlbZSri/f/8BbdtziMInpAjrJD1cLVjz/K7aX+4oWHP+HFcfv9F04acr4nLwww6xo/yoaf3XKE+ePOLPeZ8cOf6t8IDFxh37ZPcEBGutZyzagwAIgIA2Au5+/QvBWtt6ojUIgAAIgAAIgAAIgAAIgAAIgAAIgIDxBCBYG88UI4KAaQlAsDbt0nll4HokEa8EZWDSXMHww8AoUXaAYK0Nrhn4acsIrUHAMwm4+w1mz6RuOysI1t624sjXWQT0/O58+Nhp6tA/gK5cvW4Vlj1p1dJQj/TLb0jp/3GklZjJ47Fo3aTea9S4bg0qUCA/Xfz5F9qy64CVgGyZd+iA7hQ/engOcVnK1dZcLAy/2aw+lX/mKeIcNu/cT0dPnLG5LEqCNQvACWnzKTQmOccYXKWb53qt6suUN29eIe+1W3bL5j8xfDgN6tuF8ub9n5zqCGst+0wqWDdrUEuoWj19bqY4DHN7t00LKlWiON2+8ydt3nXASmC3rGPsqGHEleBtye/czp7Q/WbT+tSiUW2b+4DX/7GCBSgxbYEQW24I1jyvK/aXuwrW/FDplJmL6ZMxCTm2GQvyrZo3EPaJ3Pn1ZOmS9Pc//1jJ9RCstZytaAsCIAAC2gm4+/UvBGvta4oeIAACIAACIAACIAACIAACIAACIAACxhKAYG0sT4wGAqYmAMHa1MvndcHrkUS8DpLBCUuZQ7DWBtgM/LRlhNYg4JkE3P0Gs2dSt50VBGtvW3Hk6ywCen53vnnrDvmMiCZ+SCz7MbhfF0qKCqJCjxW0Ga4ewZoH23f4OA2P+FS2GrE9Nixhf+zTi0KHDVCUq3kclkDXb9tLQ0LjcgjNtubhOQIG9REE7zlLVgnNlARrbsOSdWrGcgqLm2oljqpZa55TSUrWy1rN/NxGKjxzzp+NC6LYKbMoI3OtqmFYJk8cGyhUPbcnV1sG44rmw8LibVY1lpv0oz6dherlKbOX0phPU4UmuSVYu2J/uatgbdnzSekLKPqzGar3PK/VuGBfmjZnGW3YvldcYgjWqk4xNAIBEAAB3QTc/foXgrXupUVHEAABEAABEAABEAABEAABEAABEAABgwhAsDYIJIYBAU8gAMHaE1bRe3LQI4l4Dx3nZGoGQVgqmKipsOgcWjlHNQM/V7HAPCDgzgTc/QazO7NzRmwQrJ1BFWN6IwG9vzsnpS+kwLGJVsjmT40WRFl7hyPS77XffqfPPl9EqfMy6cYftxSX6523mlHY8A+oYe3qJCPh2O3/46XLFDkpjeYtW2O3HVdoHh8ylNq1bExBUUmUlrFCaK9GsOZ2LNxyJezxn82kL9ZtU8yJG3BeUSMGE1f9tZeXI6zVBCInWC9IGU8F8uenCVPnUPKsxXYlWrV5SGPhfZCQOp+mzV1md3yWt0d/4kO+73cVpP/opBm5LlhbcnHm/nJnwZrzf/jwIW3dfUh4sODg16fsbrXO7d6gpKhAKlqkMPXxGy0K1vyAwcZFKdSwTnU1WxVtQAAEQAAEdBBw9+tfCNY6FhVdQAAEQAAEQAAEQAAEQAAEQAAEQAAEDCUAwdpQnBgMBMxNAIK1udfP26LXK4l4Gycj8zWDIAzB2sgVx1gg4J0E3P0Gs7etCgRrb1tx5OssAnp/dz587DR16B9AV65eF0JT+/CaEdLvr9dvCIImV7P95uRZQVDm4/lny1HNVyvRG03qCoIzy8958uTRjY5F0FNnz9OSrzbSjr1H6OuTZwShl+dpULsasfz5dssmVOzxIrLVnFk2LlWiuKr5ea4fL12hrzbuEOY6fe48nfn+gphX1covUotGdajDW81U52UEa3vB2xKsOWcWx7/97kda+MV62rzrgFCBnA+Wwps1qEXvvfsWNahVTVXVarkYePwLP12hpas209asg3Tw65OCdG/ZA+1bNaVObV+nJ0uXFLu7k2DNQTlrf7m7YG1ZEN4/u/YfpZUbdtDeQ8fE89iyR3p2ai3sET6H3flaTtUJjkYgAAIgYEIC7n79C8HahJsKIYMACIAACIAACIAACIAACIAACICAhxGAYO1hC4p0QMARAhCsHaGHvq4moFcScXWcnjQfBGvHVtMM/BzLEL1BwDMIuPsNZs+grD4LCNbqWaElCIAACIAACJiZwOWr14QK1tv3HBbSqFOjCi1OjaWKLzxn5rQQOwiAAAi4NQF3v/6FYO3W2wfBgQAIgAAIgAAIgAAIgAAIgAAIgIBXEIBg7RXLjCRBQB0BCNbqOKGVexCAYO36dTCDIOzOVc/MwM/1uwozgoD7EXD3G8zuR8y5EUGwdi5fjA4CIAACIAAC7kKAq6G/NziUjp/+TgiJK9RrqRDvLnkgDhAAARAwEwF3v/6FYG2m3YRYQQAEQAAEQAAEQAAEQAAEQAAEQMAzCUCw9sx1RVYgoIsABGtd2NAplwhoFayl7bNWzqQm9WoK0d+//4D2Hz1BS7/aRAe+Pim+2ppfN86vLu7Y9nXxteBK6dp7hTb3vfjzL7R45UbauH0fHfj6hM3XjyvNw5/z68R7DB5F35w6KzRX+8p2y9hq+md/xbZSTIP7daGkqCAq9FhBpaaaPuf14VfC86vUpa8e59eC9+7cll6p+ALxTRdHBeu79+7R1yfO0va9h4VXWGd/bTsHzXuiSqUK1KJRbVWvpDean9HxaVoINAYBLyHg7jeYvWQZxDQhWHvbiiNfEAABEAABMxLg6+CQ8VOE66da1V8Rrps6tmlBpUs+oTqdFWu3UlefYLH90AHdKSEygB4rWED1GGgIAiAAAiCgjYC7X/9CsNa2nmgNAiAAAiAAAiAAAiAAAiAAAiAAAiBgPAEI1sYzxYggYFoCEKxNu3ReGbhRgvXXJ89SRPx0Wr1pl12OJZ8oRuNG+pJPn05UsIDtG7y2BOuiRQrRjAVf0phPU+nGH7dszsXzjP7Eh3zf76ooKqsRpO0lpaa/0YKwls366NEjQayOnJRmd30eL1qY/D/sSaHDBhALyPxa6Q3b9wpTqZXO//zrb5qzZBUlz1oiiOtqj3feakZRIwYLIr7MTR8yip+z4lObJ9qBgDcRcPcbzN60FpwrBGtvW3HkCwIgAAIgEwcsKQAAIABJREFUYFYC0muf1IlhxA/hqjlu3f6T/EfH07xla8TmWvqrmQNtQAAEQAAEchJw9+tfCNbYtSAAAiAAAiAAAiAAAiAAAiAAAiAAArlNAIJ1bq8A5gcBNyIAwdqNFgOhKBIwQrC+eu03ChybRBd+uqI4n6XBxz69KCZ0KBUpXEi2j5xgPStpDM1duprC4lJUz9Ov29tCta4ypUrY7KNGkLY3oZr+RgnCqhP/b0OuWs1rHDg20a6Qnn3cIf27UfDQ98k3JE6TYH3u/EUaFhZPG3fs0xqm0J6l+JS4UOrx7ls5REAj+DkzPl0JoxMIeDgBd7/B7OH4c6QHwdrbVhz5ggAIgAAImJWA9Bqd3zY0Y1IEPfVkKbsp8bVfQtp8Co1JFtvxW4OWpU+kqpVfNCsOxA0CIAACpiDg7te/EKxNsY0QJAiAAAiAAAiAAAiAAAiAAAiAAAh4NAEI1h69vEgOBLQRgGCtjRda5y4BRwXr0Z8MpIzMtaJczVWQm9R7jRrXrUEFCuSniz//Qlt2HZCtZjx/ajT16dJOFoBUsG7VrD61eb0RjYyeLLZnIZdvNlet/BLdvXuPduw9QluyDuQYj1+JHD96uE2ZW40gbW+V1PRfszmLTpz5XhjmxLff0/zla8Uh336zCTVvWFv8c/lnnqKu7VtSgfz5HdocXLl60ZcbyDcklm7f+ctqLH7V9LttWlCpEsXpt99v0uad+4Uq15aDJWuOc9f+o8KPlCpYX712gwYHx9DKDTus5uE1qvdaVapbswo9XrSI8Bnvib2HjlnNZ+lkax5H+Tk7PocWCp1BwEMJuPsNZg/FbjMtCNbetuLIFwRAAARAwKwEpNeXnAe/8Scy8COqXf0VypMnT47Urly9TpNnLKJpc5dZXfvxdXDg4L6UN2/OPmblg7hBAARAwB0JuPv1LwRrd9w1iAkEQAAEQAAEQAAEQAAEQAAEQAAEvIsABGvvWm9kCwJ2CUCwxgYxEwFHBWtLrixWD+3fnbgydbmypa0Q/Hv3Li38Yj2NiPrMqopy53Zv0MzECCpRvFgOZFLBOnsDy1xBvn2tKlOzUPzdj5coZHwyfbFum9WY9m4sqxGk7a2p1v5S5uNG+lJEgI/h2+bY6XPU0zeMTp87L47NYjVX9GZZPV++vOLPHz58SEeOf0vhE6bJVqC2J1g/ePCQ4qfNtaoszms0JuAjGtS3CxV7/D9idfaD1+rkmR9ozKepOdaK4wsY1DtHFWtLf638XB2f4QuJAUHApATc/QazSbHqDhuCtW506AgCIAACIAACLiXA10pTZi6mT8Yk5Ji3VrXK1KhuDeKHcvngh2X5odh9h4/naNv/vXeEaz9+qBYHCIAACICAcwm4+/UvBGvnrj9GBwEQAAEQAAEQAAEQAAEQAAEQAAEQUCYAwVqZEVqAgNcQgGDtNUvtEYkaIVizTDstLpR6d24rW02LQclVU+Z+6xYkU5N6NXOwtCVYc5+kqCDq3/0dK0E4+wBcrTkkZgpNn5sp/tjeq5G1CtLSYLX21yoI69loLLWzLJ2QOl/s3qB2NeHV0tVeecnmkLYqPdsTrM9fvEy9hobR/iMnxHHTPw0nn96dbErSloZ/3LpNw0d/KlRBtxz9ur1NKbGhxGstd2jl5+r49KwX+oCAJxJw9xvMnsjcXk4QrL1txZEvCIAACICAmQnw9XB8ylwam5CuKw1+i1N08BDiNwrhAAEQAAEQcD4Bd7/+hWDt/D2AGUAABEAABEAABEAABEAABEAABEAABOwTgGCNHQICICASgGDtWZth7+HjNG/patq6+yD9cPFnIbkXyz9DLZvUo/ffe4ca1alu6oSNEKy5knRM6FAqWKCAXRa/37xFAwOjrSoWz50cRe93b5+jny3Bmm8Shw4bYFOutgz0y6+/kc+IaFqzOUsc21ZlZK2CtDRYrf21CsJ6NhhXh+4+KESsXs2ycubn8dS6RUPF4bjida8h4fTNqbNiW3uC9Vcbd1LHAYFiW3uVyeUm37RzP7Xu6Sd+1KpZfVo4LcaqOnn2flr5uTo+RcBoAAJeQsDdbzB7yTKIaUKw9rYVR74gAAIgAAJmJ8BvGdq6+xCFxU2lg1+fUpVO9SoVaZT/B9Tl7TcUr89VDYhGIAACIAACqgi4+/UvBGtVy4hGIAACIAACIAACIAACIAACIAACIAACTiQAwdqJcDE0CJiNAARrs62Y7XiHhMRRasZyuwn59utK0yeOMm3SjgrW9qpQS6E8ePCQIuKnU1zybPGjcSN9KSLAJwc/OcGaKzAvmhZLFco/rYq3NLe2bzSmjORxVLrkE1b9tQrS0sm19tcqCKtKVtIoLWMF+YbEij8d0KMDTY0JpiKFCykOx9XGk9IXUlBUktjWnmDNN/u37TlER49/Sz/+dIUGvNeBBvfrojiPpYGz+bk6PtWJoyEIeDgBd7/B7OH4c6QHwdrbVhz5ggAIgAAIeAqB+/cf0NETZ2j9tj2078hx4odpL/x0RUiPK1TXe62q8FYovt6tVa2y4sPInsIFeYAACICAOxFw9+tfCNbutFsQCwiAAAiAAAiAAAiAAAiAAAiAAAh4JwEI1t657sgaBGQJQLD2jI3Rtrc/bdi+V1UybV5vROsXJqtq626NHBWsX29chxakjKeny5ZRlZpU/NUiWLOIHRk4iPLmzaNqLr7p3HtoOO05dExoX65saVo1N4nq1Khi1V+r4CudXGt/ZwvWcnJ66sQwTdLzsdPnqJtPCJ07f1FI155grWox7DRyN36Orq+jPNAfBDyFgLvfYPYUzmrzgGCtlhTagQAIgAAIgAAIgAAIgAAIgIA2Au5+/QvBWtt6ojUIgAAIgAAIgAAIgAAIgAAIgAAIgIDxBCBYG88UI4KAaQlAsDbt0omBq6lcLc3SrJWsHRWsfXp3osnRI6hwocdULbxauVhOEt64OIXeat5A1Tzc6K+//6GPIybRjIVfin0Wp8ZSj3dbW42hVfCVBqC1v1oGqhOVNLx89Rr18RtN2/ccFj6xJZbbG//3m7eon/8YWrM5S2gGwXoUfXPqrNNZ6F1z9AMBdyTg7jeY3ZGZM2OCYO1MuhgbBEAABEAABEAABEAABEDAmwm4+/UvBGtv3p3IHQRAAARAAARAAARAAARAAARAAATcgwAEa/dYB0QBAm5BAIK1WyyD7iD2Hj5OjTt8oKv/nlWzqVGd6rr65lYnRwXroQO6U0JkAD1WsICqFNTKxVLBunqVirQ0bQK9UvEFVfNYGkUnzaAxn6aKfeQqZmsVpKUBaO2vloGmRLM1/va7H+m9waF0/PR3wk+5YjeL5RVfeE71kP/8e5eCopJo2pxlQh+jBeu79+7R9z/+JEjgy9dspS1ZB8TYlOZyNj8OxJH4VENGQxDwcALufoPZw/HnSA+CtbetOPIFARAAARAAARAAARAAARBwFQF3v/6FYO2qnYB5QAAEQAAEQAAEQAAEQAAEQAAEQAAEbBGAYI29AQIgIBKAYG3uzaCnerUlYzNWsXZUsJYTlu3tALVyrFSwbtWsPi2cFkNlSpXQtMHSMlaQb0is2GeU/wcUHTyE8ubNI/5MqyAtDUBrf7UMNCWarfHug99Q044DxZ+0eb0RLUgZT6VKFNc0ZHY5XUl6lhv44cOHdPP2Hbrw0y907bff6cS339Ox0+fom5Nn6eiJMzZjUZrLKH7Oik8TZDQGAQ8m4O43mD0YvWxqEKy9bcWRLwiAAAiAAAiAAAiAAAiAgKsIuPv1LwRrV+0EzAMCIAACIAACIAACIAACIAACIAACIGCLAARr7A0QAAGRAARrc2+Gyk270NkfLupK4uUXy9OZrBW6+uZWJ7MI1nolYWl+g/t1oaSoICr0WEERuVZBWrpWWvsbJQjb2jO5KVizGM9VqWcv+Yq27DpAN/64pXlrO1OwdkV8mhNGBxDwUALufoPZQ7HbTAuCtbetOPIFARAAARAAARAAARAAARBwFQF3v/6FYO2qnYB5QAAEQAAEQAAEQAAEQAAEQAAEQAAEbBGAYI29AQIgIBKAYG3uzZC/fAO6f/+BriTy5ctL9y7u19U3tzpBsCbSKkhL10prf08UrLka9Nbdhygsbiod/PqU6u1c8oliVKvaK3Tq3A905ep1oZ8zBGtXxqc6eTQEAQ8n4K43mI8cOUK1a9f2cPo504Ng7XVLjoRBAARAAARAAARAAARAAARcRMBdr38t6UOwdtFGwDQgAAIgAAIgAAIgAAIgAAIgAAIgAAI2CUCwxuYAARAQCUCwNvdmgGDdiBakjKdSJYrLLqSjcrDa/lxpOCAygdIy/lMRXG8F66T0hRQ4NlHMZdxIX4oI8LHKTasgLQWjtb9aBnrPJFdXsOYHElIzlgty9e07f9kM+/lny1HVyi9SrWqVqU6NKsJ/ny1Xlr6/8BP1GDyKvjl1VuhrtGDt6vj0rhv6gYCnEXC3G8ybNm2isWPHUpcuXSgoKMjTcCvmA8FaEREagAAIgAAIgAAIgAAIgAAIgIAuAu52/StNAoK1rmVFJxAAARAAARAAARAAARAAARAAARAAAQMJQLA2ECaGAgGzE4Bgbe4VrNy0C5394aKuJF5+sTydyfqPEGyWwywVrFnIXZwaSxVfeE412kePHlFU4ucUlZAu9kkcG0gBg3pbjaFVkJYGoLW/swVrrfHIAX3w4CFFxE+nuOTZwsf2pOetWQepr3+EWIGa23Nl6l6d29I7rZpStVcq0pOlS1CB/Pll105rvFr5uTo+1RsUDUHAwwm4yw3mzZs3C2L17t27qXTp0nTx4kUqVKiQh9PPmR4Ea69bciQMAiAAAiAAAiAAAiAAAiDgIgLucv1rK10I1i7aCJgGBEAABEAABEAABEAABEAABEAABEDAJgEI1tgcIAACIgEI1ubeDENC4oRqvHoO335dafrEUXq65lofswjW5cqWplVzk4TKx2oPrqbsFzaBMjLXil1Wzkmkd1s3txriwk9XqPfQcNpz6Jjwc6UKytL59x0+Tq17+YnVm5X6axWE1eZraXftt9+FfDbvOiD86PGihWndgmRqUq+m6qGk7Gzl9Odff9Ow8Hias2SVODbPkxYfLlSrVnM4U7DOjfjU5Iw2IOANBHL7BvOWLVsEsTorK0vEHR8fTyNHjvQG/DlyhGDtlcuOpEEABEAABEAABEAABEAABFxAILevf5VShGCtRAifgwAIgAAIgAAIgAAIgAAIgAAIgAAIOJsABGtnE8b4IGAiAhCsTbRYMqHuPXycGnf4QFcSe1bNpkZ1quvqm1udzCJYM58ZCRE0sFdH1ajUiru//X6T+viNpg3b9wpjV69SkZamTaBXKr6gaq4lX22knr5hYtvcFqz/+fcuBUUl0bQ5y8SY5Cp320tOLbtjp89RN58QOnf+P1XfWebO/DyeWrdoqIodN9q57wi16DLIKfxyIz7ViaMhCHg4gdy6wbx161ZBrN61a5cVYW+uXs0gIFh7+AmH9EAABEAABEAABEAABEAABHKNQG5d/6pNGIK1WlJoBwIgAAIgAAIgAAIgAAIgAAIgAAIg4CwCEKydRRbjgoAJCUCwNuGiSULWU8XajNWrOW0zCdYDenSgqTHBVKRwIVWbbOaileQTFC22tdVfKlhzhx0r0ql5w9qK89y9d49CY5IpKX2h2Da3BWu5deWq3Z9PGk1Pli6pmBM3kLKzldOmnfupdU8/cczGdWvQwmkx9Pyz5VTN8+jRI4EdC+GWw0h+uRGfqsTRCAS8gICrbzBv27ZNEKt37twpS3fChAkUEhLiBeTlU4Rg7bVLj8RBAARAAARAAARAAARAAAScTMDV179a04FgrZUY2oMACIAACIAACIAACIAACIAACIAACBhNAIK10UQxHgiYmAAEaxMvXrbQ2/b2FysaK2XU5vVGtH5hslIzt/zcTII1V0fOSI6mjm1aKLL88dJl6jssgnYf/EZsu3xGPHV5u2WOvrfv/EV+YRMoI3Ot+FlCZAAFDOqdo+KntDNXSObq1afPnRc/MlIQVkzURoPzFy9Tr6FhtP/ICbFF+qfh5NO7k2JOP//yK/XzH0Pbdh9SzOmrjTup44BAsV2dGlVocWosVXzhOVWhO5tfbsSnKnE0AgEvIOCqG8y2KlZnR1yqVCm6ePEiFS5c2AvIy6cIwdprlx6JeygB6QOCSr9/asXg7PG1xqOl/f37D4h/x+S3pOzYe0T4PZ3fzmI5alWrLDwM2KhuDWpSrya9VvVlVQ9wyj1Y2aB2NVo0LZYqlH9aS4iKbbdkHaDOH44gvk7ho1zZ0vTlrASqX6uqYt/sDaQsLvx0hY6eOCM2aVinuvDWnqb1X6NWzerTc0+XpTx58miaw5WN5R6MVTt/ySeKUc2qL1Pxx4sKa/96ozr0WrWXqUD+/GqHIEfmVz3JfxsafU7bmz86aQaN+TRVa4g52vN+eqpMKar32qvUuG5N4b9qH462DGZULHLJzJ8aTX26tHM4TyMH+POvv+nrk2eFf7fYe+gYSc9R/q6qVOE5qlX9FeE8bVi7muqHpqVxyu1f/reVtPhwKltG3YPYtnLn+Jt2HCh+zP9GtiBlPJUqUVy2i/TfobQwrfzS81SxwnPUoFY14nm0nsda5kJbENBCwFXXv1piyt4WgrVecugHAiAAAiAAAiAAAiAAAiAAAiAAAiBgFAEI1kaRxDgg4AEEIFh7wCL+NwU1lazNWrnaskpmEqw5ZpYYUmJDiEVeW8e1334XKiJnF6btVXDmKsoxk2dRRPx0cUieZ3ZSJFWpVMHmPCwi+42aSCs37LBqo3QzXMp8lP8HFB08hPLmNU5m4JymzFxMn4xJEGPjm7PTJ4yitm80silZs8QREjOFps/NVJXTvsPHqXUvP1H+4E4ZyeOEG9cyN2+sxjx55gcaHBxjJcFzg+pVKtLStAmC7CF3aOGXG/F5zjcgMgEBxwg4+wZzVlYWjRo1ivi/SkdcXByFhoYqNfPozyFYe/TyIjkvJKBXgP737l1avSmL8ufPR/z7sa1D7/i5uRQsKs5ZsoqSZy2xEqqVYmLx9qM+nWnogO5U/pmn7DaXis/c2Ghp88GDhxSVmE4smloOrW/yuXL1Os1e8hWlz/9CEDbVHiwrhvj1pxaNarulaG204MzXR4P6dhbWv0ypEoqYjJ7f3oRK15SKwWpo4Cypmc+t0Z/4CIzVitbOisUZ56oGxFZNHz58KEjVU2ctpZUbttONP25pGuqdt5rRJx/1ohYN61C+fHlV97W1f+NHD6fAwX0d+vcIVwrW0oRZuB4T+BF1bd+SChYooJoHGoKA0QScff3raLwQrB0liP4gAAIgAAIgAAIgAAIgAAIgAAIgAAKOEoBg7ShB9AcBDyIAwdqDFpOI9h4+TvOWrqatuw/SDxd/FpJ7sfwz1LJJPXr/vXeoUZ3qpk7YbII1w7Z1A42lYq7INip2Km3csU9cF658nfl5PLVu0dDmWvENwXZ9/K1EYW4fFzaMuMpd9hsRXAlu255DFD4hhQ5+fSrHmEo3w6VVlVnmnjEpgqq98pKhe+nqtRuCwJxdALd1k5vZfffjJQoZn0xfrNumOieWN94fPoY27zog9mFRYXzIEOreoZXsDc5fr9+guUtX04Spc2zeTM5aOVOoKCh3aOGXG/EZuogYDARMTMBZN5hZqI6IiKDt27erovPEE0/QpUuXqGjRoqrae2ojCNaeurLIy1sJaBWgWejbc+gYTUyZS6s37VKUgrWOn5vrwL/H8jXbJ2Mmyf5urjY2/j15UuQn1LtzW5uS3vUbfwhvelm/bY84rFb5WSmey1evUR+/0bR9z2Gx6YyECBrYq6NSV2LJnKXq8Z/N0CxtZh/8w57vUkyoHz31ZCnFOV3ZwFmCM19ffjYuSKiGa+8hUWfNL8dQ6ZrSSO7OlJo5Tr4uTB4frKpKsjNjMfphCD1rwG/aipyURvOWrdHT3aoPi9afRnxs88Fk6QS29i9fv3O1aVvX32oCzU3B2hIfPygxIdyf+LscBwjkBgFnXf8alQsEa6NIYhwQAAEQAAEQAAEQAAEQAAEQAAEQAAG9BCBY6yWHfiDggQQgWHvgonpwSmYSrPnV2CzMWg6+Ef5ms/pCpbnbd/4UJN/9R07kWC2+yRY0uK/d6k5///MvBUQmUFrGihz932xaX6jiVqBAfrr48y+0ZdcBq6p4XO3usYIFKDFtgdBX6Wb44WOnqUP/AKtcWAJ/rWplKvRYQar0YnmKDfWjYo8XcXjn8SvRPwiIysGFb6K+3riOUKGb2WUd+Fp4hbqtw1ZOLLTMWPglDRoZk6Mrrw+/fttSiZpv6O7af5S4qnT2w/Lq6OwSyY4V6dS8YW3ZcLTwy434HF40DAACHkLA6BvMLFZHRkbS1q1bNRGKjY0VKl17+wHB2tt3APL3NAJaBej4afMoZPwUEYOSaKh1/Nziy7/rrd+2l4aExmmq1Gwv3thRfhQ4uI+sZM3zJaUvFN6WYzn49+ll6ROpauUXDcGwYu1W6uoTLI7FD2MumhZLFco/bXd8rlQdEJko+7Bk9usnvg7g4979+/TNybM2RWyWLdPiww3Lywg4zhSc+XosKSqI+nd/x+Z1ozPnl/JRuqY0gqdlDKnUzHukUoXnNFUx57dI8cPOtg6+ZuZKyUqVrD1VsOaHXJav2Uojoyfb/a6SslfiytfcqRPDhH+vUHqDlL3927ndG5QWH6aqkrvcGruDYM1xqd1nRp4/GAsELASMvv41miwEa6OJYjwQAAEQAAEQAAEQAAEQAAEQAAEQAAGtBCBYayWG9iDgwQQgWHvw4npgamYSrJemTaBlqzfTslWbVa0E3ySPHTWMfPt1VfXq3HPnL9KwsHir6tdKE1mqJKXMXkpjPk0VmivdDP/95i0aHBxrMw8Wn7mC1NNlyyhNr+pzFpL9wibKyue2BvjYp5fwimA10jhXygufMI0mz1ikKp7sjSzV8fgV5mFxKeJHcydH0fvd28uOp5Wfq+PTDAEdQMBDCRh1g1mvWM1YUb36f5sLgrWHnmhIy2sJaBWgpdKipwjWth4mbNagllDxmR/YK1PqCSpapLC4V/jByl9+/Y127jtCMxetFB4AlB4ZyeOoT5d2ssLisdPnqJtPCPG1g+VQW2FaacP+e/cuBUdPoSkzF4tNR/l/QNHBQ4TfzW0dtjhwJdd+3doLVblfq/YyFcif32oIlj5/ufYbLfpiAyXPWpJD/GS5e3ZSpPBQpjsccoLouJG+FBHgoxger/udP/+isz9cpHVbd9P85ety5MvXjyyr9urURlFWVZyQiKTn3eB+XQSJmx+qdafDqDjv3rtHB46epGlzltGiLzfkSFHNeWJULO7El9+AlZqxnMLiplq9MYtjzH6OVq9SUXZvMNdvv/uRlqzcRKnzMnM8FMFSNl8/s2Rt71B6QICruA8f2FPX3ndUsObq8fxvIKVKFLebA7O8/eef9MOFn2nN5izh3yBu/HHLqo/S32/utDcQi2cRMOr611lUIFg7iyzGBQEQAAEQAAEQAAEQAAEQAAEQAAEQUEsAgrVaUmgHAl5AAIK1FyyyB6VoJsE6a+VMqlGlEk2YOoeSZy3OcXMy+7Lw63KjRgymWtUqa7pByBWiElLn07S5y+yOzzdCR3/iQ77vdxVugma/EawkWHOc9qTnShXKU+aMiUKuRh1a8mJJwadPJ4pPmadaGmdhIXXectWvI+cbqCF+/YWbwHny5KGvNu6kjgMCxXSV5AOt/Fwdn1HrhnFAwMwEHL3BvG/fPho9ejRt2bJFN4bo6GhhDByU4+9CrsLqTgd+f3an1UAsnkjAEwVrlpH5IT/+3d1yWKoQ9+3aTrYCtXRtbVWVtff7PD+8Nyw8nuYsWSUO16/b25QSG0o8vyPHme8vUI/Bo+ibU2eFYXi8L2ZNIn6jjq3j6rUbNDg4hlZu2GHVhCVhrsb9wnP2K19bOrF0Hjx+MmVkrrUap3uHVkJl2xLFizmSmiF9HRGspQHw9dHYhHRBBs5+sKzKoidX8Hb0MIssbHScLMHOXbZaeEPU7Tt/iRhbNatP86aMI34zla3D6FgcXUNH+/PvWyyb+4bEWrHgc3to/+7EDzbb4yG3b/mNBJOmZ1h9pKYCtZJgzXs/8/OJVLfmq5rTdpVgLQ3sxLffk8+IaKuHydXsM80JogMIqCDg6PWviikcagLB2iF86AwCIAACIAACIAACIAACIAACIAACIGAAAQjWBkDEECDgKQQgiHjKSnpHHmYTrPlGN9+k5ApOC79YL1QtsryKuGGd6sQ30zq1fV0Qq1nc1XPw+PyK7aWrNtPWrIN08OuTQlUkvuFY89VK1L5VU2GOJ0uXFIfXKlhzR76pP2/ZGlq3dQ8d+PqE1Q3XjYtT6K3mDfSEb7OPrbxYFm9cryZ1eKuZVV56cvr1+g1atWkXbd65X1gXlkT4sLB7o0ldYrmaX2WcfX3OX7xMvYaGiTdGuUre4tRYu5K5Hn6ujM/QxcNgIGBCAnpvMLNYHRERQZs3q3tbgS00qF5tTQYVrE14EiFkEDCQgCcK1ifP/EDdB4UQV2+2HOmfhpNP706aHrDk35HXb9tLPXxDrX4fT4gMoIBBvWXHWrF2K3X1CRbnNeoBSa6o7RMULY7L0uTMxAibcjM/RBgcPZmmzl5qtVvGBg2iYL/+mislszwePH5KDulYD1cDt684lJGCNQ/Kkj6/sSf7m3T450ZJ5WaRhZ0RJ0vWkZPSKHbKLHH91Dww4IxYnLEX1Y7JFe97+oZZfU/xtfGnER9T1/Ytdf2bBbNNSJtPoTHJVmEonadKgrUjez+3BGuOmR8u6ecf4fR/T1G75mjnvQT0Xv+6ihgEa1eRxjwgAAIgAAIgAAIgAAIgAAIgAAIgAAK2CECwxt4AARAQCUCwxmYAAccJsCzAFa/SMlaIg3EFayMqiTkeHUYAARAAARBQIqCeLNzbAAAgAElEQVT1BjOL1WPGjKFNmzYpDa3q83HjxgmiNo7/EIBgjZ0AAt5NwBMF6yVfbRTERcuhJCPb2wFy1bDbvtGYMpLHUemST+Toyg9j9h4aTnsOHRM/SxwbKAjZeg+u9OsXNsGqgrTSmHJiYeDgPjQ+ZKhmudoS98+//Er9/MfQtt2HxFT4Gmz+1GjV1bD1MlDqZ7RgzfPZksqXz4inLm+3VArJ7udmkYWdFSfLxd18Qujc+YuqzxNnxeLQQursLPdvGiyZp04MI64wLyM7qp5Jbt8qVW6WO38a161h9T3GAXw2LoiGD+ypKb7cFKyv3/hD+M5av22PyI+r94/y/0A1TzQEASMIaL3+NWJOLWNAsNZCC21BAARAAARAAARAAARAAARAAARAAAScQQCCtTOoYkwQMCkBCNYmXTiE7VYEIFi71XIgGBAAARDQTEDtDWYWqyMjI2njxo2a57DVAdWrc5KBYG3Y9sJAIGBKAp4oWEtzYpkuOngI5c2r7y02W7IOUOcPR4hVUKtXqUhL0ybQKxVfyLHmDx48pKjEdOIYLIcjgjePcfjYaerQP4CuXL0uDMlvdFmWPpGqVn5Rds/9fvMWDQyMpi/WbRM/5zftzJgUQU89WcqhfSp9yxEPNiMhggb26ujQuI52doZgzTGxAMyC5v4jJ8QQB/ToQFNjgqlI4UK6wzaLLOysOPWsl7Ni0b2IDnSUfqfwUPwdFTpsAOXLl9eBkf/T9dA3p6jbRyHC27csh703YcmtB3/H8fnOD2tYDjVvk5IGn5uC9d1794Rq3knpC8Wwhg7oTvwWgscKFnCYMwYAAbUE1F7/qh3P6HYQrI0mivFAAARAAARAAARAAARAAARAAARAAAS0EoBgrZUY2oOABxOAYO3Bi4vUXEYAgrXLUGMiEAABEHAKAaUbzIcOHaLRo0fThg0bDJ9/7NixgrSN438EIFhjN4CAPgIs0kbET6e45NniAEpVhS0Nb966Qz4joilz9Raxb2TQIIoM/EixMqi0b81XX6YlaXFU+aXnhbGkopz0c7nfpe0RGDfSlyICfMQmSuPz5xu27xWkPJZSLYJfwzrViauodmr7OtWqVpny5NEnO6tZLamIqZatrbEtVakfPnpExYoWofz58xFXQa1RpZJsFxYK2/XxF4XscmVL05ezEqh+rapqwrdq8+jRI0EODIpKEn/OFWTjI4ZTwQLygqCcvGlE1WUOgCXv94ePoc27DojxGCEcawYj6aBH2FUzJ/OfMnMxfTImQWzO67lqbhLVqVFFzRCybcwiCzsrTj3r5axYdC+izo5cFT84eoqwryyH0ZXg5eYI//hD4u9zue9eufXgt4Tdv/+A+n8caSVqv9+9PSWPD6ZijxdRRSA3BWsO0FP2jSrYaOS2BJSuf3M7cAjWub0CmB8EQAAEQAAEQAAEQAAEQAAEQAAEQACCNfYACICASACCNTYDCDhOAIK14wwxAgiAAAjkJgFbN5hZrI6IiKD169c7JbyiRYvSlStXiP+L438EIFhjN4CAfgJfbdxJHQcEigP06/Y2pcSG0uNFC9sd9Mz3F6jH4FH0zamzYrtu77wpVBguXsz+d9Sx0+eom0+IUFmXj8H9ulBSVBAVeqyg8GclAdpZgnX5Z56i1HnLafxnM+jGH7fs5v/OW83o04iPZStA61+N//Vk6T0sLkX8gaMVpLXGJFdBmiumBgzqrSjQS+e6fuMPoYLy+m17xI/sydJyFVtfb1yHFqSMp6fLltGaSo72LBxPnrGI9hw6Rm82rU/NG9ail154lgrkz+/w2I4MoEfYVTvfyTM/UPdBIXT63HmxS+rEMOHc03uYRfp0VpyXr16jPn6jafuewyJC6cMcUrbOikXvGurtJ7ef9H4/2Ith1aadNGvRV9Tl7ZbCefrc02VtPthiS7BuUKsaTZg6R3iYKPuR/mk4+fTupOr7LDcFa7kHoZT2md51RT8QsEcAgjX2BwiAAAiAAAiAAAiAAAiAAAiAAAiAAAjYJwDBGjsEBEBAJADBGpsBBBwnAMHacYYYAQRAAARyk4D0BvOd1w4KVaXXrl2bm2Fh7v8SYHnOnQ78/uxOq4FYpASkorS0WrQtYlIxm9up7btgxTrqOyxCHFoqeuaGYJ0cM5I+X/AFZWSq/x7nitss6TVvWNvwjbVp535q3dNPHJeFd+bUq1MbVUKgEQGlZawg35BYcai2bzSmjORxVLrkE5qGl1aj5irg86aMI66iLHfIiauj/D+g6OAhlDev86qGa0rKCY2dKVjfvvMX+YVNsNrf0gcbtKZkFlnYWXFu3LGPun0ULFZ5Z36LU2Opx7utbaJ0Vixa187R9tLvhkoVylPmjIk2K+I7Op+a/rYEa66s/cuvvwlvXFizOUsciv++WjQ9hqpUqqA4fG4K1nIPu6yck0jvtm6uGDcagICRBCBYG0kTY4EACIAACIAACIAACIAACIAACIAACHgiAQjWnriqyAkEdBKAIKITHLqBQDYCEKyxHUAABEDA3ASkN5irfGTufDwtegjWnraiyMeZBOTESyV5i8+xqMTPKSohPUdoGxen0FvNG9gMWVqdWE7MUxKseYzla7bSxZ9/EebZue8Ird2yW5yzb9e3qdorL4l/rlb5JWrfqqn4Z+n4LPo+VaYUHT1xRmzz/LPliKsms3x39+49odrx7oNfW8mU3JjH5ardTz1ZytBlunL1Or0/fAxt3nVAHLfkE8Vo9Cc+NLBXRyr2eBFD55MbTFqlliXvL2ZNEqo+qz24+mpUYjqxWGo5WJQO//hDm6L4vsPHqXUvP03iqtp43LmdMwVrzltaFZ1F94XTYqhMqRK6sJhFFnZGnFev3aDBwTG0csMOkZ2aB0ycEYuuxXOgk9y/Zah984ED0yp2tSdYc+etWQepr38E8Xer5fioT2dKigqkIoUL2R0/NwVrqciv9ICKIig0AAGdBCBY6wSHbiAAAiAAAiAAAiAAAiAAAiAAAiAAAl5DAIK11yw1EgUBZQIQrJUZoQUIKBGAYK1ECJ+DAAiAgHsTgGDt3usDwdq91wfRuR8BaTVSJQH25q07QjXQzNVbciQTO8qPuNqwrePCT1eo99BwQVjmo9s7bwqCcvFiRcUuSoK1dGyptDh/ajT16dLOZgxyIp6lMVelHhP4EXVt35IKFihgNcaPly5TWFwKLfpyg9XPZyRECNKzkQd/j3Gl737+Y3IMy6J1r85tqVv7N6nea68qyoF64/r37l0Kjp5CU2YuFoeICPChyMBBqitJS6tRs8z+5awEql+rqs2wpBXOuc+quUlUp0YVvamYop+zBWspVzVCsD1wZpGFjY6TqyEHj5+co9q9mnPD6FhyY2Nf++134Ts8+8MfSn9nuCJOJcH6/v0HNGHqHIqIn24VDlfl578v/u//bN/+yC3B+vCx0+QXNpH2HzkhxqwmXlfwxhzeRwCCtfetOTIGARAAARAAARAAARAAARAAARAAARDQRgCCtTZeaA0CHk0AgrVHLy+ScxEBCNYuAo1pQAAEQMBJBKQ3mK9V3kljx46lrVu3OmlGDKuFAARrLbTQFgSIWOLq0D9ArOwpJz1n53Ts9Dnq5hNC585fzIFPqZLppp37qXVPP7FfQmQABQzqbSW35ZZg3aB2NZqdFClUrbZ1yFWuHdyvCyVFBVGhxwoaup3+/OtvCp8wjSbPWGR33BaNagtVpVs2rUdcrTu7rO5oQCvWbqWuPsHiMFqrp0r7D+jRgabGBNuVwqUSauO6NYRKy1xV3JMPZwvWUkmUWWatnElN6tXUhdUssrCjcbKY+8et23Tm+wu0butumr98HfGDItmPjm1aUFp8OJUtU9IuS0dj0bVQBnf69rsf6b3BoXT89HfiyEoPtRgcguxwSoI1d/r5l1+Fh1a27T4kjsEPGiyaHmP3e99VgvXDhw/p5u07dO6HS7Twi/WUkbmGbvxxS4x16IDuFD96uNMeqnHFOmEO8xKAYG3etUPkIAACIAACIAACIAACIAACIAACIAACriEAwdo1nDELCJiCAARrUywTgnRzAhCs3XyBEB4IgAAIKBCwdYM5KyuLRo0aRfxfZxxFixalK1euEP8Xh3kI4Pdn86yVt0Z6/cYfgnS2ftseAUGlCuUpc8ZEqlGlkiySJV9tpJ6+YcJnLCWXe7I0fbl+u/BnrjK8ODWWKr7wXI6+/PBDzORZYgXRx4sWpnULknMInrkhWHOV5PnJ0YKkrHTISccsAJcpVUKpq+bP+bohIXU+xU+bS7fv/KWqf61qlantG42pdYuGDle4vnL1Or0/fIxVtdqNi1PoreYNFGORq4Ctptq3VEJt83ojWpAynkqVKK44p5kbQLB2zupJ95PRs7CgPjNxDHH1e6XD6Fhy49wwWtRXYqb2czWCNY+1ccc+6vZRsNX3qZK47KhgrTYHW+3478rgof0pyLev4Q/yOBob+nsPAQjW3rPWyBQEQAAEQAAEQAAEQAAEQAAEQAAEQEAfAQjW+rihFwh4JAEIIh65rEjKxQQgWLsYOKYDARAAAYMJKN1g3r59u1DReseOHQbPTMK4kZGRho+LAZ1HAL8/O48tRjaGwIMHDwXpOS55tjggS9I93m2dYwJpW67e3KJRHeo9NFxsa0vAvXnrDvmMiKbM1VuEtraqIeeGYK2msrIlQWkFV66AuiQtTpVgqWfFWEw/euIMjf9sJn2xbpumIVjM69zuDfJ9vys1qFWN8uTJo6m/VIrnzlxxfEK4PxXIn9/uWFzxt8fgUfTNqbNCO5bxF02LpQrln7bZT+46qX2rppSRPI5KFC+mKXazNXa2YC1Xed7Wea6GnVmqMRstNVvY8LnVs2MbGjfSl556spQaZGR0LLkhWEvfQsCJO1IJXRU4FY3UCtZckTxyUhrFTpkljsprmToxjHp1amP1NgVLg9wUrF98/hmaNOYT4irpWr+/VWBDExBQTUDp+lf1QE5q+H//l+MWphnuaTqJBoYFARAAARAAARAAARAAARAAARAAARDIDQJm+MeIR9nBuNsroXNj0TAnCDiLAAQRZ5HFuCAAAiAAAiAAAmYhoPYGM4vWLEPv3LnTsNSeeOIJunTpEqpYG0bU+QPh92fnM8YMjhP4auNO6jggUBxolP8HFB08hPLmtRZypdWuE8cG0pvN6lE3nxA6d/6i0J9/xhKu9JAKnrbmyA3BmuU6lsXVHNL4qlepSEvTJtArFV9Q0113m4cPHxJLy8vXbKX5y9cK/6/leOetZsKavlb1ZS3d6MDRk9TpwyDiatZ8NK5bg7hi9/PPlrM7zsxFK8knKFpxT2UfRE6w5nVJigry+MqtzhaspQ8GMPf5U6OpT5d2mvaDpbG3CtZcqbp7h1bUu3Nb4ZyXkfps8vQEwXrBinXUd1iEVY5aBWvpwxdaNqCtudQK1jzXj5cuCzmwOG05+AEQfpCD3+AgPXJTsLbEwvJ3yLD+wpsltOw5LWzRFgTsEVB7/ZtbFCFY5xZ5zAsCIAACIAACIAACIAACIAACIAACIGAhAMEaewEEQEAkAEEEmwEEQAAEQAAEQMDbCWi9wbxt2zah8rRRovW4ceMoIsJabvH2NXHn/PH7szuvDmKzEDh/8TL1GhpG+4+cEH7U9o3GgmxWuuQTVpCyS9Jc9XPdgmR6+cXyQgXrzbsOCG19eneiydEjqHChx6z6pmWsIN+QWPFnK+ck0rutm+dYhNwQrHesSKfmDWur2hBaRD5VA+poxLL1L9d+o537jtL6bXto+57DdOGnK4ojlXyiGCXHBFPPjq1VV0O9fecv8gubQBmZa8Xxl8+Ipy5vt7Q5n7QP75UvZk2iN5vWtxvj3Xv3KDQmmZLSF4rtcqNKryJIJzRwtmAtlUQ5BVvnoJr0zCpY84MBlSo8J7v/+bw6d/5SjnPpydIlKcSvvyCjlyn1hOpzR8rREwRr6cM4nKPZBGth72/YQf38I4i/qyzHsA/eo/iIj3M8zOEOgjXHyN+jsaOGkW+/rpQvX141pynagIBhBLRe/xo2scqBIFirBIVmIAACIAACIAACIAACIAACIAACIAACTiMAwdppaDEwCJiPAAQR860ZIgYBEAABEAABEDCWgN4bzEaJ1qhibex6Ons0/P7sbMIY3wgC0srB5cqWplVzk6hOjSpWw2evXmqpZFy2TCkKikqiaXOWCW3lKhxLx7dXBTk3BGstgqA7CNbSNbcI14e+OU0r1m61K1yzpMcVu7kiqtpKqNJq1MMH9qT4iOFUsEAB2e13+Nhp6tA/QKx63bndGzQzMYJKFC+muF2lEioEax9FZmoayAnWWva9dA6zCtZKFdH5XDp19jx9On0ezVu2xirtEUP6EVfe5wcV9BxmYWYvNyP2UW5XsOb8/r17l8InTKOE1PliuvzdmP7paOEBlOyHo4K1lu8w/rvy1u0/6ZtTZ4n/vv1i3TYrCZxj5Ir+H/Z8V/X3t569ij4gICWg9/rXVSQhWLuKNOYBARAAARAAARAAARAAARAAARAAARCwRQCCNfYGCICASACCCDYDCIAACIAACICAtxNw9Abz1q1bhYrWu3bt0o1y/PjxFB4errs/OrqOAH5/dh1rzOQYAWmF6bmTo+j97u3FQaXVhbOLitn7WipbN6lXU+zL1ZW5yvWeQ8eEn9kTdF0tWNd89WVakhZHlV96XhVAdxSspYHfv/+ATp87TyxGZ2SuoRt/3LJqwjkvmh5DVSpVUJWztMJ5g9rVaNG0WKpQ/ukc/R89eiRUoGbp3nIkjg2kgEG9Vc0l3Ycs+S9OjaWKLzynqr9ZGzm7gvWmnfupdU8/EQ+fpxsXpVDDOtV1ITOLLKw3Tj6HUjOWU1jcVCvBtX2rppQSG0JcCVvroTcWrfM4s7304Qmei8/PHu9aS8n2YnAHwZrjO3f+IvXzHyO+uYF/xt9t/PaGShXKiym4UrDOzo2/S/nvTL9REwXh2nLw3sv8fCLVrfmqM5caY4OAFQFHr3+djROCtbMJY3wQAAEQAAEQAAEQAAEQAAEQAAEQAAElAhCslQjhcxDwIgIQRLxosZEqCIAACIAACICALAGjbjA7IlqjirV5Nid+fzbPWnl7pFJxjoXYCeH+VCB/fgHN9Rt/CDLa+m17hD9nl2b3HT5OrXv5iSIiV0hmAdtySOXO+VOjqU+XdrLIIVgbuxN/uPAzjRj3mVAJNfsREeBDkYGDKG/ePIoTcrXX4OgpNGXmYrGtrTWU7hOWuJelT6SqlV9UnIcbSPeKrWrqqgYzUSNnC9ZScV3rgwVSlGaRhR2JkyXrhLT5FBqTbJV+xzYtKC0+nMqWKalphzkSi6aJnNhY+rCM9O8CI6eWE7FtVV3X++DL4pUbadDI8VYSfZBvX4oJHSpW6M8twdrCcsfeI9T/40hi9pZD6S0CRq4DxgIBJmDU9a+zaEKwdhZZjAsCIAACIAACIAACIAACIAACIAACIKCWAARrtaTQDgS8gAAEES9YZKQIAiAAAiAAAiBgl4DRN5i3bNkiVLTOysrSRD4uLo5CQ0M19UFj1xPA78+uZ44Z9RGQirGvN65DC1LG09NlywgDZhewpVWqL1+9Rn38RtP2PYeFttmrWz948JCiEtOJ5UI+lIRbCNb61s9er6vXbtDg4BhauWGH2Ey6vkqzbsk6QJ0/HCGKiAN6dKCpMcFUpHAhq67SdlpFwGOnz1E3nxChuqzl0FohVykXd/zcmYI1n4MR8dMpLnm2mDpXYuZKvSWKF9OFwyyysKNx3rr9J/mPjqd5y9ZYcRo6oDvFjx6eY//bg+loLLoWyuBOt+/8RX5hEygjc604cvbveyOnc4Vg/fc//1Jw9GSaOnupGDr//ZaRHE0s0vOR24I1i/6Rk9IodsosMUZvqexv5H7CWI4RMPr617FocvaGYG00UYwHAiAAAiAAAiAAAiAAAiAAAiAAAiCglQAEa63E0B4EPJgABBEPXlykBgIgAAIgAAIgoIqAs24waxWtuYr15cuXqVAha7lNVRJo5DIC+P3ZZagxkYMEpCK0VKJmwZCraPLRuG4NWjgthp5/tpzw53/+vUtBUUk0bc4y4c/Z5V2puN2v29uUEhtKPL7c4c2C9Z0//6LUectp+97D9O+/d+nc+Us0b0oUNW9Y28HVJZKKz1orQ1+5ep3eHz6GNu86IMQiJ8pL9xC3Wz4jnrq83VJ1/Ddv3SGfEdGUuXqL2GeU/wcUHTxEVbVtNRPxAwEBkYlUrfJL1LJpPeG/xYsVVdPVaW2cKVhLz0FOQlqhXmtiZpGFjYjz9Lnz1GtIOH1z6qyIib+/uFJ/r05tSEbsk8VpRCxa18kZ7ZPSF1Lg2ERx6Aa1q9GiabFUofzThk7nCsGaA+aHOfjtDPuPnBDjb1KvJnGV/heeezrXBWsOSlrZn39mq5q3oYuAwUDgvwScdf1rFGAI1kaRxDggAAIgAAIgAAIgAAIgAAIgAAIgAAJ6CUCw1ksO/UDAAwlAEPHARUVKIAACIAACIAACmgg4+wYzi9aRkZG0e/duxbgmTJhAISEhiu3QIPcI4Pfn3GOPmbUTkEpcLBByddK79+5RaEwysVjHh1zF0rSMFeQbEit8zvLhxkUp1LBOdavK1/xZ4thAQe60dXizYC0nF1vWQPtqWve48NMV6j00nPYcOiZ+oEXQe/TokbD+LNJbjhkJETSwV0fxz9I5WjWrT/OmjCOWudUePE/M5FlCxWXLobXattJcUtmc2+d2lWxnCtYHjp6kTh8GEUvyloPl0T5d2imhsvm5WWRhI+LkPblgxTpBws1+1Hz1ZVo0PUZ42EDNYUQsauZxdhu5/ST9LjAiBlcJ1ry+i77cIPz9xRW6LUfY8A8pasRg2n/0BDXtOFD8eZvXGwlvdyhVorhsmrxX+g6LUN1eDStpFW3u4+g5rGZetAEBCwFnX/86ShqCtaME0R8EQAAEQAAEQAAEQAAEQAAEQAAEQMBRAhCsHSWI/iDgQQQgiHjQYiIVEAABEAABEAABXQRcdYN548aNNGbMGNq/f7/NOMuUKUMXLlxAFWtdK+maTvj92TWcMYsxBKSCrEWk/v3mLerjN5q27zksTCQnSbMA1q6PvyioWcTg7OK1mqrJ3ixYS0V2Zi0ns+tZ7Wu//S4I1pYK1DyGFsGa2x87fY66+YQIFV/5kFYjX7F2K3X1CRbD46rT4R9/qLrCr6WjM4Rgy9j/3r1LwdFTaMrMxWKcctW49TB2pI+zBGu5quIsBi9Ji6PKLz2vO2SzyMJGxXnr9p/kPzqeuJJ/9mPYB+9RfMTHVOixgoosjYpFcSInN/jzr79pWHg8zVmySpypfaumNGNSBD31ZCnDZneVYM0Bc07B46eIb2Hgn/GDQpmfx1ORwoUgWBu2qhjIrARcdf2rlw8Ea73k0A8EQAAEQAAEQAAEQAAEQAAEQAAEQMAoAhCsjSKJcUDAAwhAEPGARUQKIAACIAACIAACDhFw9Q3mzZs309ixY21WtI6Pj6eRI0c6lBM6O48Afn92HluMbDyBv//5lwIiE4ilaD4a161BC6fF0PUbf1CH/gFCBVyWztYtSKYm9WpaBXD56jUrCZurVEcGDqKQmCnieG3faEwZyeOodMknbAbvzYI1Q5m5aCX5BEWLfJ5/thxlfj6R6tZ81aEFl8rR1atUpKVpE+iVii+oHlcqVlaqUJ4yZ0ykGlUqkVRcZpn+y1kJVL9WVdXjWxrKCZxvNKkr7J1nnnpS83jZOxz65hR1+yiE+GECyzF8YE+KjxhOBQsUcGhsRzo7S7CWk1T/n733AI+iXPv/vxdV5IgHEbGhcAQRkCJNkGZBkCZFEEIRhEBoARIggYQQQkiASIIQAoQmHZTQFQ5V6dI7SFEUFUUUFMGCgv//Pefd+WU2s7uzLTu7+32u673O6+5T7ufzPLOZYT5zjyfm6y+ysCfj1Ns78nu4MD0RrZo0dLj8nozF4WBerrBm43Z0DY/TZHweHxuOIWFdkC9fXo+MnpuCtQR85vxFhPSNxbHT59T45Xend5e2COkbo37miwzW1m+XkGCcfUDGI4vCToKWQG5f/zoLmoK1s8RYnwRIgARIgARIgARIgARIgARIgARIwNMEKFh7mij7IwE/JkBBxI8Xj6GTAAmQAAmQAAl4hICvbjBv3rxZEa337NmjmceDDz6IS5cuMYu1R1bX853w/NnzTNmjdwlkzzgtI21aloEvvvoWfaKTlYEt0rWIv9mLtZzdqH4tjIrshfDYd1RhzUhG42AXrE+d/QLte0crsp+l9OrcBpMSIpVMqq6Uf/75R8nYPHhUqtq8XYtXlIyz9xf5l1NdWmeptmQqt5Yhu3doialJUS7HvGn7p2jXK0ojcMYM7IGEoWEuC5xXrl5DWFQSRA61FBHBl01PRoPa1Zzi4OnK3hCs9bLyemq+/iILezJOyQaelrlIyXScvRjN3uzJWDy9/5ztT/ZWRHwaZi1epTYV2Vx+D0JaN3E6a73e+LktWMvv5OKVG9A1fJQmHDlm5OEiS8ltwdpbWeidXXPWD24Cvrr+NUqdgrVRUqxHAiRAAiRAAiRAAiRAAiRAAiRAAiTgLQIUrL1Flv2SgB8SoCDih4vGkEmABEiABEiABDxKwNc3mPVE64kTJ2LIkCEenSc78wwBnj97hiN7yT0Ch46fUbNVy6ixg3rg1m9/4N1ZS5Qgwrq2xaSEISh0T8EcQWWXs0VKE9EuLXOxUk/ku1VzJ+KVerXsTibYBeu//76D+ImZSJ4yV8Np+IDuEMFYODpbtu89jG6D4jVZm2enxqFnSCtnu8LFS5cR0i8G+w6fVNp2bdcMGcnDsXbTdnQZEKf252r/lg5E2I9KnIyp732giTF5RH9EhnV2Otu0nmwsHQ/p0wVJw/s53Z/T4Bw08LRgLfsoNXMRhiela0Ye8PabSIkbpHv8OjMnf5GFPR3nt9//oAi4H2wHDdEAACAASURBVO8+qMGVMnIgIsO6IG/ePDYxejoWZ9bLG3XlIZC3IxLU3wIZ44F/F0Ha6Eh0btvU5QchpJ+rP11H6oxFmDZ/ueYhC1tZm/WOH1cyPOuJ49bscluw1suc7u4DLN7YD+wzsAn4+vrXEV0K1o4I8XsSIAESIAESIAESIAESIAESIAESIAFvE6Bg7W3C7J8E/IgABRE/WiyGSgIkQAIkQAIk4BUCZrnBvGnTJiWj9d69e8Es1l5Zao90yvNnj2BkJ7lI4JcbNxE6NBFZH25VRn2+2rO4dv0Gzl+8pPy3yHMRvTvpRrT7wDE07RyuEeIsFV98oToWZ4zFoyWK252Nu4K1JaOyrUGc7d+6H0+JfPYgCGuROC0Ss6Vui1frI7p/NyWLeJ48tkVOS/0/b9/G8nVbMHLCdI1c/VLdGliYPgaPPfyQ0zvLOptq2dJPYMm0sViy6r+YNPN/Er7smaXTklH6iUed7j97Az2BU75/q31zJZN1qZLG+pcM7EPHvItVGz7WxCNxCgeZg6+LJwVrybY7dvIcTJu3PMd835sUj/JlS7s9XX+Rhb0Rp2RA7xoep/mdE6bLZiSjcvmyNtl6Ixa3F9LNDjZ+shdhUcma3xfLMSoPhTxTppRT2ax/+PEaFmatR/rc93P0Kf16W7CWMeR3J6RvrPrmBWtEuSlYyxsNJOu+/G21FHnIZmF6Ilo1aejm6rE5CRgnYJbrX1sRU7A2vpasSQIkQAIkQAIkQAIkQAIkQAIkQAIk4B0CFKy9w5W9koBfEqAg4pfLxqBJgARIgARIgAQ8SMBsN5gtovWbb76JwYMHe3Cm7MoTBHj+7AmK7CM3Cfzzzz9ImjwXcSnTcwwrYteGxemoW7OKbkiXr1xF5/4j8cmeQzm+Fyl7fGw4CuTPb3c6zgrQIvVGjk5T+xTpLGNctE152Nn+rYPNDcFaxly3eQe6DxqNaz/fyMGr/vPPKdnBRVov+WgJ/Kvw/7Jay9rd+PUWvr58Beu37caiFetx4swFTfsnH38E8ycnoGGdai5vq6279qNNj6GqYDoqshe27NiHPQePK30aXWsjAehl35Z2kim3a7vm6NTmNVR99ukc++r2X3/hswtfYu7StViY9VEOjkY5nP38K3QIG6GRLRdNTVQy9HqyuCNY37z1G36+cRMnP7uAD9ZuwZqNn7g8X6NzckcWluzkEfGpkIz3lmIvM77RmPTquROnrXFtZTnu1bkNJiVEovC9hXSbeiOW7AOJhFuvVU/N2K5kcXaGt/zmyIMLkaMn6QrR8lCIcJG/GXLMWkuQd+/ehez9/UdOYfHKDfhwy07dB3Sk7cjBoejz1hu62dc9+bssc5q9ZDV6D0vSReFNwdryGy6/O/LQit5vlzxgkj42CkXuK2xzqaz3mqOYnVlz1g1OAma7/rVeBQrWwbkvOWsSIAESIAESIAESIAESIAESIAESMBMBCtZmWg3GQgI+JkBBxMcLwOFJgARIgARIgAR8TsCsN5iPHj2KqlWr+pwPA9AS4Pkzd4Q/Etj8/8uyjTv2zxG6ZE5eMi0JIqfqFT1x0lJvzbw0vN64gUMczgrQazftQKvukZp+RcarUvFp5M+XD/VqVUX0gG6qgOts/9YBe1LkswdDRLv3125G/xHjdSVrhyB1KgiXjHHD0eH1V53KKmvd1fVfbqBnZGKOjNBSTyT8VXMn4pV6tVwJMUcb4SCSdZ/oZIh0aKvUrl4JRf71P+Hwxs1b+PTQCZt1yz31JCTTuUjmOlKWpp0vBWuPAASU4zVtdATaNH3J4XyNjumOLOzvgrUwOnjsNNr1itZIxY4yC7vDzMi6+EKwlrjkGN176AQGj5qIA0dP2ww1+++ykePU0pFI2pKx/rlny9ncv57+XZYHVcJHpmDB8o9yzMeRrCyieJcBcUaWzOk6knXfSBZ6CtZOo2UDBwTMev1rCZuCNbcwCZAACZAACZAACZAACZAACZAACZCArwlQsPb1CnB8EjARAQoiJloMhuIRApJ96uipc8orV/cePK7cID1y8qzat9yMLlu6JJ6r9IwiZ9Su9iweevABj4zNTkjAFQKevnnsSgxsQwLBTsDsN5iDfX3MNn+eP5ttRRiPEQJyTtypX6yakdjSxkiWWclKKzJs9lKlwtN4P3McRGx1VJwVoL/8+rIis8n5vF7p2q4ZMpKHK+KvFGf7t+4zN8/FRFw8dPwMBo9KtTk/Rzwt39esWgHjY8LxUt0aHpFsrTOHW8YRiXdOWhyK3l/EaGiG6n3x1bcYOuZdXanbUAf/V0nimzhqMP7z5GOGmvm7YC3r/u6YoahTvZJH1t0CzR1ZOBAE6zt37iItcxGixk7R7CM5vhamj9HNoO8OMyOb1VeCtSU2+beVmYtWYey7sz3yUIiIzNH9uykPQuTJk8cuAm/8Lh8/cx4d+8TgzPmLmrF9JVhLFvApY4ehWqVnHG4HCtYOEbGCkwTMfv1LwdrJBWV1EiABEiABEiABEiABEiABEiABEiABjxOgYO1xpOyQBPyXAAUR/107Rv7/CMhraEWqnjr3A93XJztiJRmUBvcKQcPa1ZEvX15H1X3+/dWfriuvl23eqB7KlCrp83gYgHsE3Ll5LALS0tUblVcre1p6cW9WbE0C/kXA7DeY/Ytm4EfL8+fAX+NAnKGtTNRpoyMR0buT3SmL5Ne0czh+vfmbWs+ImG2p7KwALRLyfz/ei77Dx2myyVr6e/GF6licMRaPliiufORs/9aTdedczNW9Iuvx4eadSJ/7PnbuO+JUN5XKl0Hft9rhrfbNUfjeQk61tVf51Nkv0L53dA75MDU+QtkjjjJDuxLI33/fwfZPD+HdWUsVHs6U+s8/p8iajRrUQsECBQw39VfBWtZ9SFgXtGvxikfX3QLOHVk4EARr4fDt9z+ga/gofLz7oGY/pYwciMiwLsibVysFu8PMyIb1tWBtifGHH6/hg3VbMHPRSpw4c8FI6GodyXLdtV1zhHZqjQpPl3YoVtv6uyGf71ozByIlu1rkb8uUOcuUB1yyl9wWrOXBpPAeHdC9Q0vDxzIFa1dXne1sETD79S8Fa+5dEiABEiABEiABEiABEiABEiABEiABXxOgYO3rFeD4JGAiAhRETLQYDMUlAiKYxk/M1H3Vq7Mdimj9TtwgPFOmlLNNc6W+ZJD6YN1mTJg6H/cULGg4a2CuBMdBXCbgitQjbeYuXYPxU+ehZtWKimRUrOj9LsfAhiQQ7ATMfoM52NfHbPPn+bPZVoTxGCWweOUGJTO0pUgG6A2L0x0Ka5evXEXn/iPxyZ5DatsZE2IgkrWR4qoALef5c5auwZad+/HpoRPqUGVLP4Gs2RNQuXxZ5TNX+7d06Mq5mJF5G6kjD4p+ffmKks1aHhg9cuIznL/4tUYsFxmvfNnSStbXBrWrKfP2xkOhf96+jajEKYqAaCky7vKZE1Cx3H+MTMflOiI+Xrl6DZ/sPaQI5+c+/yoHh9rVKynXafIWokb1a6HkoyUMy5rZA/MHwdry1qWnn3pSOT7l/1ydr9FFcUcWDhTBWlit2bgdXcPjNA+UyHpkzZqAGlUqaHC6w8zIuphFsLbEavm9kt/kwyc+Ux7GOHbqnJrdWv6mVK1YDk+Vehw1q1TA89WehTwYUCB/fiPT1dTx1u/y9V9uICwqGcvXbVHH86ZgbWHy2MPF8cL/Hcuu/IZTsHZ6C7GBAwJmv/6lYM0tTAIkQAIkQAIkQAIkQAIkQAIkQAIk4GsCFKx9vQIcnwRMRICCiIkWg6E4RUBu7q34aBuGJU7WzWxn6cxyc9ryClrJ/nzk5FmbY4nAIMKICAzeyNLm1CSzVZYbgW8PTlBu+Epx5rXsro7JdrlDwNmbx59/+Q26hMepopGjG8K5MwuOQgL+TcDsN5j9m27gRc/z58BbU86IBEgg+Ahkl4IXTU1E57ZNgw+CF2ZseZDDmSz3XggjoLrMfr3obhbngAIThJOxSPf8N4AgXHwPT9ns178UrD284OyOBEiABEiABEiABEiABEiABEiABEjAaQIUrJ1GxgYkELgEKIgE7toG8szkVdIzFq5AzLipmsxSMmfLK2g7tXlNyZZU6J6COVDc/usvfHbhS7y/ZjNmLMhSMy5ZKoqUPX9ygiJZm6W4m5nPLPNgHDkJOCtYW2fd481V7ioScJ+A2W8wuz9D9uBJAjx/9iRN9kUCJEACviGQ/RycgrXn1sCSaZeCteeYZr/+o2DtOa7+2JPlAQb+G4A/rp65Yjb79S8Fa3PtF0ZDAiRAAiRAAiRAAiRAAiRAAiRAAsFIgIJ1MK4650wCNghQEOHW8DcC8vropas3ok90skaullev9uvWHoNCQ/BIiQcNT0syWqdMW4CJ0xdq2rRp+hIyU2JQvFhRw315syIFa2/S9W3fFKx9y5+jk4AQMPsNZq6SuQjw/Nlc68FoSIAESMAVAsfPnEe70Gh8f/VHbFqagdrVK7nSDdtkI/Drzd/QP2Y8FmatR/KI/hgR/jb5eIDA5h370Lhjf1SvXB7LZiSjTKmSHuiVXfgbgTt37iIuZTrGpb+Hft3bIzU+AvcULOBv02C8JiFg9utfCtYm2SgMgwRIgARIgARIgARIgARIgARIgASCmAAF6yBefE6dBKwJUBDhnvA3AnIjvGOfGJw5f1ENXTJOvxM3CG80fxl58uRxekqSETs1cxGGJ6Vr2s58JxahnVpD5x/2nR7D3QYUrN0laN72FKzNuzaMLHgImP0Gc/CshH/MlOfP/rFOjJIESIAEbBGQ67/xU+cpsmKj+rWwYMoYpx7SJVl9Att2HUCX8DjcvPUbVs2diFfq1SIqNwnc+u13RMSnYdbiVejeoSWmJkWh8L2F3OyVzf2RgPwbWEjfWBw7fQ6zU+PQM6SVP06DMZuEgNmvfylYm2SjMAwSIAESIAESIAESIAESIAESIAESCGICFKyDePE5dRKwJkBBhHvCnwj8/sefiIhPRebClWrYkrl6xoQYhLRu4pYILTcuo8ZOwbR5y9W+zXSznYK1P+1U52KlYO0cL9YmAW8QMPsNZm/MmX26ToDnz66zY0sSIAES8DUBue6bPj8LYybNUt6IZKaHan3NxtXx7969i627DmDYmMmK/PlW++ZIHxuFIvcVdrVLtgOQ/W1b8u8eWbNS0LhhbbIJMgLyFrcjJ89iRPJUbNr+KV6qWwML08fgsYcfCjISnK4nCZj9+peCtSdXm32RAAmQAAmQAAmQAAmQAAmQAAmQAAm4QoCCtSvU2IYEApQABZEAXdgAndbWXfvRpsdQ5Ua4pSRG9cXwAd2RL19et2d98NhptOsVja+++U7ta9OyDLza4Hm3+3a3AwrW7hI0b3sK1uZdG0YWPATMfoM5eFbCP2bK82f/WCdGSQIkQAJ6BLK/EWlQaAiShvdjRmA3t8qNX28hfGQKFiz/CHVrVsGctFEo99STbvbK5iLTtusVpYCIGxyKiN6dPfLvHiTrXwQk4378xEwkT5mrHFfyUEiD2tX8axKM1nQEzH79S8HadFuGAZEACZAACZAACZAACZAACZAACZBA0BGgYB10S84Jk4BtAhREuDv8hcCft28jKnEKpsxZpoYsN28XTU1EqZKPemQaemPEDuqBMcP6IE+ePIbGkOxdZz//Cus274S8IvnA0VO49vMNpW3t6pVQrdIzaNWkIeo//xwK3VPQbp/ST4ewEUoWMCNl15o5yg1td4q17BvWtS0mJQzBPQULQGSEybOWYc3GT5Q5yXwky3eH1xujwtOl7TKSm+479x1B1kdbcezUOSUDk5QnH38EVSqUVbIwtX7tReW/dW6kOJyScP/y6++wdtN2fLz7II6dPq+K8nITsnzZ0mhYpxqavFhHuSlpZD0Xr9yALgPi1LEtLBytm6WB0fZGBOvdB46hXqueDjlIhSoVnsb7meMoNRiixUok8D8CZr/BzHUyFwGeP5trPRgNCZAACThD4M6du0ifuwwFCxRAj5DXlf9lcZ+AXK8sW70RsYN64uGHirnfIXuAvMErcdJs1KhSXrlWNnINS2yBSeD8xUt4Z9pCRIZ1xjNlSgXmJDmrXCVg9utfCta5uh04GAmQAAmQAAmQAAmQAAmQAAmQAAmQgA4BCtbcFiRAAioBCiLcDP5C4NTZL9C+dzTOnL+ohpwaH4GI3p1cEnJtzXvd5h2Yu3Qt2jZ7GQ1qP4eSj5YwdCPT8tpWySz04eadDrGK5DsqshfeaP6yzZv6ZhGsU0YOwoKsjxAzbqome7hlko+UeBDr5k9C9crlc8xbXsE9c9EqjH13tiqa24Mjr5NOGBrmlDR/9NQ5jEmbhVUbPnbIXSq0eLW+MsZzz5azu3eMCtK2BjXanoK1oWVjJRLwKgGz32D26uTZudMEeP7sNDI2IAESIAESIAESIAESIAESMAkBs1//UrA2yUZhGCRAAiRAAiRAAiRAAiRAAiRAAiQQxAQoWAfx4nPqJGBNgIII94S/EMhcuBJ9opPVcMuWfgJZsyegcvmyPp+CZL4WiTh2fIaugGwvwK7tmkFE8eLFiuaoZgbBulfnNkrGrKFj3rU5t+4dWmJqUlSOV2t/duFLDIqbCHm1sTNFslinjY5Am6Yv2RWgRWqXbNU9Iseo2aqNjnPfv+5VMnN3a9/C5muWjQrStsY02p6CtdFVYz0S8B4Bs99g9t7M2bMrBHj+7Ao1tiEBEiABEiABEiABEiABEjADAbNf/1KwNsMuYQwkQAIkQAIkQAIkQAIkQAIkQAIkENwEKFgH9/pz9iSgIUBBhBvCHwjIq3Ej4lMhkrWliJickTwcIsr6svz99x2kZi7C8KT0HGFIhuQ6NSrjiccexp07dyCZlrfu3J8jk3OrJg2RmRKLEsUf0PTx/Q8/Ydmajfjz9l/K64E/WLtZzeAtWaO7vtEMDxS9X23TttlLEPHcnWIt+0qm7Rs3b+G7Kz8q3b5SrxYa1qmm/P/b9x7G1l37sWJ2ipLxO3uRTONvRyRg3+GTms8f+HcRvFCzCmpVrYgCBfJDxtuyYx+OnDyrqSfrOmNCDEJaN7EpWdsao3b1Sqj//HMo9n9sLn37vcJdhPXsRRguSk/Ey/Vq6iIzKkjb4m20vRHBWl4JvHL9/zJ0X7v+CxauWK+uSfmypfHm66+i0D0Fle8LFsiPjq2a8NXc7hwIbBt0BMx+gznoFsTkE+b5s8kXiOGRAAmQAAmQAAmQAAmQAAnYJGD2618K1ty8JEACJEACJEACJEACJEACJEACJEACviZAwdrXK8DxScBEBCiImGgxGIpNAld/uo5O/WKxZed+tU5iVF/EDuphN8Oxt5FKBuWlqzcqmbV/vfmbOlyLV+sjPrIXqlV6Bnny5NGEcePXW5i5aCXGTJqlaTPg7TeREjdIlWStY7eWcKtUeBrvZ46DCNCeLHqyr/QvWaXfiRuEN5q/rM5J5v/dDz/ivsKFNaL7lavXEBaVhDUbt6uhiVg9cnAoeoa0QpH7CmtCvnv3Lg6f+Ayx46dpsl3LmIszxqJuzSo5pnj7r78QN2E6UqYtUL9r3qgeJiVEokypkjn2hYjwGz/ZiyEJkzSita3s29KpUUHaFn+j7Y0I1tnHsM5s3uTFOgoni1Duyf3AvkggWAiY/QZzsKyDv8yT58/+slKMkwRIgARIgARIgARIgARIwJqA2a9/KVhzz5IACZAACZAACZAACZAACZAACZAACfiaAAVrX68AxycBExGgIGKixWAoNgl8duFLvBk2HCfOXFDrLJqaiM5tm/qUmrXoKsH07dYOE2IH2s2sLWLyfz/ei77Dx+Grb75T5iAZm7NmpaBxw9q6c/K1YL0wfYzCW+cmhybeO3fuImXafMSMy1A/F1F6btoovFS3ht32136+oWQCn7V4ldr2rfbNkT42KoeULdxEut9z8LhS9/lqz2LptGSUfuJRu3ti264D6BIep2Z/lizW6+ZPQvXK5XO0MypI2xrQaHsK1j49jDk4CSgEzH6DmctkLgI8fzbXejAaEiABEiABEiABEiABEiAB4wTMfv1Lwdr4WrImCZAACZAACZAACZAACZAACZAACZCAdwhQsPYOV/ZKAn5JgIKIXy6bzaD3HjqBBR98iG27D+CLS98q9f7zxGN4uW5NvPVmC9SpXskvJ7z7wDHUa9VTE/uuNXN0Mxvn1gRFkp40c4mSEdlSWjVpiMyUWJQo/oDDMKT97CWr0XtYklrXXjZlXwrWjerXwoIpYyAysqNy8dJlhPSLwb7DJ5WqIo7PmBCDkNZNHMrZUv/b739A1/BR+Hj3QbX9qrkT8Uq9WpqhPz10Ao1D+qtZwMO6tsWkhCE2M4BbGv95+zaiEqdgypxlan8Sn7S3LkYFaVtMjLanYO1oV/F7EvA+AbPfYPY+AY7gDAGePztDi3VJgARIgARIgARIgARIgATMRMDs178UrM20WxgLCZAACZAACZAACZAACZAACZAACQQnAQrWwbnunDUJ6BKgIBI4G6Nv9DjMWLjC7oT6dH0D0yeM8LtJb96xD4079tfE7WvB+rsrP+KtgaOwZed+JS5HGaj1oFv3YS+bsi8F6xHhbyMxqi/y5s3jcO/MWboGoUMS1Xq2MlDb68i6j4jenTA+NhwF8udXm1lL913bNUNG8nC7mcMtjRcs/wjTF2Sh1OOPoFL5MmhYp7qurG9UkLY1F6PtKVg73FasQAJeJ2D2G8xeB8ABnCLA82encLEyCZAACZAACZAACZAACZCAiQiY/fqXgrWJNgtDIQESIAESIAESIAESIAESIAESIIEgJUDBOkgXntMmAT0CFEQCY1+81ikcGz/Za2gyTV6sg/8uSTdU1yyVrEVVictZwfrs51+hQ9gIHDt9zulp6Y0lgm/TzuFqBuXXXnoBC9PH4MEH/m24/zt37iIuZTrGpb+ntrGVTdmXgvX8yQkQUdpR+f2PPxERn4rMhSvVqoumJqJz26aOmmq+P37mPNqFRuP8xUvK5y++UB2LM8bi0RLF1XqfXfgSb4YNx4kzF5TPRHCXDNbd2rdAvnx5nRrPVmWjgrS77SlYe2S52AkJuEXA7DeY3ZocG3ucAM+fPY6UHZIACZAACZAACZAACZAACeQSAbNf/1KwzqWNwGFIgARIgARIgARIgARIgARIgARIgARsEqBgzc1BAiSgEqAg4v+bwUjmautZ+lsm67WbdqBV90jNNHwtWItE3Cc6WY2pX/f2SI2PwD0FCzi1qSSbcrdB8WobvWzN8qUvBWujrC9fuYrO/Ufikz2HlPmI9LxpaQZqV6/kFJOrP11Hp36xanZwvczet377HQNiUzDv/XWavlu8Wh8hrZvg5bo1UaL4A9C5KWM4FgrWhlGxIgn4PQGz32D2e8ABNgGePwfYgnI6JEACJEACJEACJEACJBBEBMx+/UvBOog2I6dKAiRAAiRAAiRAAiRAAiRAAiRAAiYlQMHapAvDsEjAFwQoiPiCuufG3HvoBF5o+bZLHe5Z9x7qOCm+ujSQBxpJtuh6rXpqejIq/VoaeTKDtV7m6Wav1EWD2tWcnu3Jzz7HohXr1XZd2zVDRvJwRU7OXnwlWJct/QSyZk9A5fJlHc7NOvO0iNFd32iGB4re77Bt9gqSCfuDtZtx5vxF9eNNyzLwaoPnNf1s2v4p2vWKUrOIWw/y3LPl0LxRPUh28aoVn0bhews5FQcFa6dwsTIJ+DUBs99g9mu4ARg8z58DcFE5JRIgARIgARIgARIgARIIEgJmv/6lYB0kG5HTJAESIAESIAESIAESIAESIAESIAETE6BgbeLFYWgkkNsEKIjkNnHPjudK9mpLBP6UxfrQ8TNo2S0C3135UQW4bEYyOrze2DBQTwrWIgBHxKdCslh7ujR5sQ4WZ4xFMSsp2VeCdZUKT+P9zHEo99STDqeqJ8I7bGSwwqKpiejctqmm9t9/38GkmYuR+O5sm5K1pYEI66/Uq4X2LRuhUf1aeOjBBxyOTMHaISJWIIGAIWD2G8wBAzpAJsLz5wBZSE6DBEiABEiABEiABEiABIKQgNmvfylYB+Gm5JRJgARIgARIgARIgARIgARIgARIwGQEKFibbEEYDgn4kgAFEV/Sd3/scvXa4twXl1zq6On/PIGzuzwvCLsUjINGX33zHTr1i8Weg8fVmmmjIxHRu5PHh9MTsa2zZVOw1see24K1RHH37l1s230QMeOm4sDR04b3Q5umLyEyrDNeqFEZefLk0W1HwdowTlYkAb8nYPYbzH4POMAmwPPnAFtQTocESIAESIAESIAESIAEgoiA2a9/KVgH0WbkVEmABEiABEiABEiABEiABEiABEjApAQoWJt0YRgWCfiCAAURX1D33Jj5n3geksXXlZIvX178dWmfK01zvc2vN39D/5jxWJi1Xh07rGtbTEoYgkL3FPRoPBSsf0Hn/iOx8ZO9ClczZ7DOvvByHOw7chJzlqzBmo2f4NrPNxzuC8lqHdWvG4b06aK7jyhYO0TICiQQMATMfoM5YEAHyER4/hwgC8lpkAAJkAAJkAAJkAAJkEAQEjD79S8F6yDclJwyCZAACZAACZAACZAACZAACZAACZiMAAVrky0IwyEBXxKgIOJL+u6PHSyCtZCaNHMJIkenqdCer/Yslk5LRuknHnUfZLYeXBWsF01NROe2TT0aS/bOfrruuvjsTFDujGOdwbrJi3WwOGMsihW935kQ3K57+6+/cOLMBWzddQDrt+7C9r2H7faZMnIgIsO6IG9ebSZrCtZuLwU7IAG/IWD2G8x+AzJIAuX5c5AsNKdJAiRAAiRAAiRAAiRAAgFIwOzXvxSsA3DTcUokQAIkQAIkQAIkQAIkQAIkQAIk4GcEKFj72YIxXBLwJgEKIt6k6/2+y9Vri3NfXHJpoKf/8wTO7lrpUltfNNp/5BRa9xiC7678qA4/OzUOPUNaeTQcI4L1Ix6PAAAAIABJREFUH3/expCESZg2b7k6dvKI/hgR/rZHY8nemTviszNBuTPOp4dOoHFIf0jGcSnVK5fHshnJKFOqpDMheLzuLzdu4sjJs1i5fhvWbtqBr775TjOGLVmfgrXHl4IdkoBpCZj9BrNpwQVpYDx/DtKFD9Bpy7n1WwNHYcvO/eoMy5ctjeUzJ6Biuf/4bNbunJN6M2jruJwZS96eUrViOTxV6nHIg4gv1qmOEsUfgI5E5Ey3rOvHBG799jsi4tMwa/EqzSwWpo9RHt51Z2/8888/WLp6I/pEJ6vXZ7IHs2aloHHD2i5Rk3iPnjoHebB278HjynWVXGdZypOPP4KypUviuUrPoF6tqqhd7Vk89OADLo2ld11utKMH/l0EVSo+Dfkta/ZyXbxQszKK3l/EaHPWC2ACiZNmY9Q7M9QZeuvNaDKA9ViuYq1dvRIeLl4MNatWwAs1qij/W/jeQq52x3YkoBAw+/UvBWtuVBIgARIgARIgARIgARIgARIgARIgAV8ToGDt6xXg+CRgIgIUREy0GC6E0jd6HGYsXOFCS6BP1zcwfcIIl9r6opHczB0Qm4J5769Th2/eqB5mT4zDww8V81hIRgRrGWxc+nuIGZehjuvNG3MySG5JJu6Mc+HLr9GxTwwOHT+jcJEb+BsWp6NuzSoeWx93O5J99M70hUhInanpSkTwDq831nwmMnar7pEur7HRPaIn6uxaM8cmN+s96qtM4e6uBduTgJkImP0Gs5lYMRaA58/cBYFEQB5AeyM0KseUUuMjENG7k1uCpzuc3DkndWdcR23dEaz1+n6rfXMkDA1DqZKefSuPo3kE8/dffn35f+LxW2+YQro9c/4i3o5IwL7DJ9VlEVE5a9YE1KhSweWlkrf4dBsUr3m4dHxsOIaEdUG+fHkN93v37l1Fqp469wOs2fgJrv18w3Bbqdji1foY3CsEDWtXd2pcdwRr6wDlurRft/YY0qcLihcr6lT8rOw6AbMdazITfxSsrVdAHiAYOTgUvbu0oWjt+vYM+pZmv/6lYB30W5QASIAESIAESIAESIAESIAESIAESMDnBChY+3wJGAAJmIcABRHzrIUrkew9dAIvtHQta/Kede+hTvVKrgzrszZrNm5H1/A4NQOXBOLKTWJ7EzAqWFvLt7ayINsbS7KKTZq5BMs/3IJSjz+CSuXLoHa1SmhYpzry5s2jaZpbkok740im6NChicj6cKsauytyzsVLl9EjMgH58uZVsp8Jmzeav6Jk+JPy5+3bkIzm8n8Hj53G91d/wuTEoahcvqyhvSlx9o+ZAMlQbSljhvVBXESopr1kZqvXqqf6WWin1so49xa6x+E4elnObUn4FKwd4mQFEvA6AbPfYPY6AA7gFAGePzuFi5VNTEDOqaISp2DKnGU5omxUvxYWTBmDR0o86JMZuHNO6s2APS1YS6wi004fPwKvvVTHZ0K7N5mZpW9Zu7lL12D81HmoWbUiFmeMRbGi9/s8PL1M0xJUqyYNkZkSq14DORPo9z/8pFyXfbRll9qsTdOXkJkS45RgLIJs/MRMLFj+kTPD69YV0fqduEF4pkwpQ315UrC2DCjX7BnJ0cqblli8R8Csx5rMOBAEa8vKtW/ZCOljo1z6jfDe6rNnfyFg9utfCtb+spMYJwmQAAmQAAmQAAmQAAmQAAmQAAkELgEK1oG7tpwZCThNgIKI08hM18CVLNb+lr3aAl3vFcqSjWrGhBiEtG7iESHBqGAtEnBIvxhNprGZ78RCJFyjr3L+9vsf0DV8FD7efVDdV2mjI5VsgdYltyQTd8axCONDEiap4b9UtwbkFdePPfyQoWNH+pi9ZDV6D0tS679QozKWTEtS5BMpv//xJyLiU5G5cKVaZ9HUROU12kaL9Y1VI4K1iEYSh5GsZ/K67E79YrHn4HE1JArWRleH9Ugg9wmY/QZz7hPhiPYI8PyZ+yNQCJw6+wXa946GZNCVIjL1d1d+VKe3YnYK2jZ72SfTdeec1JsBe0OwlnjlPHf+5AQ0rFPNm+EHbd+ff/kNuoTH4dNDJxQGZnsDjDzsEDt+GlJnLNKskSsPE8s1c9TYKZg2b7naV5UKT2Pp9CSUL1va0B6QrNUrPtqGYYmTNRmwrRvLvi1buiTy5Pnfw8FXf7qOIyfP2hyj3FNPKtfuss8dXTN7Q7CWwESyfm9SvGEWhoCxkkrA7MeaLwVr6+PFyLZxdEz1694eKSMHMpO1EZisoyFg9utfCtbcsCRAAiRAAiRAAiRAAiRAAiRAAiRAAr4mQMHa1yvA8UnARAQoiJhoMdwI5bVO4dj4yV5DPcjN5P8uSTdU14yV9F6hLK9IFTFZBFtnXndsPT+5eSU3tafNX67Jkr1rzRzUrVlFU13vJrgzN2vv3LmLtMxFys1vS5EbbqvfS0XVik/nQJ9bkom740hG6Xa9ol1+FfX5i5cU6Tz7K7Kj+r2FxOi+KJA/v8pF5Oo+0cnqf8vr1SV7U5H7CjvctnqCtggt0kf2cvzMebQLjYbEJEWko9VzU1HruYp2x9CTxKUBBWuHS8MKJOAzAma/wewzMBxYlwDPn7kxAoVA9vMpOc+JGdgDyVPmqpJ19w4tMTUpyifilrvnpN5aIz3B2uiDfjdv/Yafb9zEgaOnlAcFra/fXm/cALMmjsRDD/7vrS0sniNgLeuaTbCWmeo9fCvH5aL0RLxcr6YhGHIdIhnpB49KVes7+0Dy33/fwYyFKxAzbqrmmlg6lOvuru2ao1Ob15S3LxW6p2COuG7/9Rc+u/Al3l+zGTMWZOHazzc0dYw+TGD0wWfrAITBjV9vKePu+PQwMuZ9gANHT2uq2bouMwSZlewSMPux5kvB2tV9J8eUvL1LHppYunpjDv6zU+PQM6QVdyYJOEXA7Ne/FKydWk5WJgESIAESIAESIAESIAESIAESIAES8AIBCtZegMouScBfCVAQ8deVyxm3kUzW/pq52nq2IiOERSXnyKYlguzwAd2V1w47yoiVvc8ffryGhVnrkT73fd0MXXqCtbTXk4mbN6qnvHbYkm1Zb4fJTV/JWt0jcoxmvCF9uiBpeD8ULFAgRzNrmaNs6SeQNXsCKpcv69FN7K7Moieey039SQlD0K19C7sC/K83f0N00hRMn5+lzkk4Zs2agBpVKmjmaZ1xUb40muFt264DSgY7S4ZGWyx/vPazInv/9+M96tiOMkTZWlvpwFuC9YsvVFdecf5oieIe3QvsjASCiYDZbzAH01r4w1x5/uwPq8QYHRG4/ssN9IxMxKoNHytV5XxicuJQRI9NV899JNvt8pkTULHcfxx15/Hv3T0n9XhA/9ehO4J19pjknDktczFixmVoQqUo552VM7v0aZm19XWKfC4P+orEX6rkow7hbN97GN0GxRu+xrTuUK5lROCUB1nl2sxS5HquX7f2GBQaojx0arTIA8wp0xZg4vSFmiZtmr6EzJQYu28GclWwto5N7xpT5rNq7kS8Uq+W0amwnkECZj/W/FGwtqCXhx/mL/9QeZtX9uNT3rS1YMoYp45Ng8vJagFMwOzXvxSsA3jzcWokQAIkQAIkQAIkQAIkQAIkQAIk4CcEKFj7yUIxTBLIDQIURHKDcu6NsffQCSz44ENs230AX1z6Vhn4P088hpfr1sRbb7ZAneqVci8YL44kN35FBokcPUlXiG7xan306txGuRktWbas/2FeXnkscoRkAVq8cgM+3LIzR3YuCV/ajhwcij5vvaGbnUsvC7W0k1cwiyjdqEGtHLK0vLJ55qJVGPvubE02L0fZr3+5cROhQxOR9eFWlWzyiP6IDOusK2S7it8TMoteFmqJJ6J3Jwzu1QlPPPawJjxZT3mVdPzETHy4eafmO1vStNxclPqSZdFSHN34F5Fl+botGDlhuiHpQOJKmjwXcSnTNTEN7dsVklW7eLGims8lU9qcpWtyrK2lkqcE66+++Q6d+sViz8HjStcy72njhiuZ5Cyv53Z1/dmOBIKVgNlvMAfruph13jx/NuvKMC5nCMh5cOseQ9QHzuQ8JTU+ApNmLtGc+8hncg7nzMOLzsRhq64nzkk9EYd1H54SrKVfkdzloVE5P7WUru2aISN5uHJ+x+I5AmaXPi0zlWuc1MxFGJ6kfeOUo4c8pb3eNVirJg2RmRKLEsWNZUWXN/h07BMDeWuUpcgDr+/EDcIbzV926VrD1pxmvhOL0E6tbf62eEqwlnl8+fVldBkQh90HjqnzGhH+NhKj+iJv3jye22jsCWY/1vxZsJbtZevfQfjAAA8+ZwmY/fqXgrWzK8r6JEACJEACJEACJEACJEACJEACJEACniZAwdrTRNkfCfgxAQoifrx4QR66yK8ilA8eNTHHK3+zoxFJukrFp5E/Xz7l4xs3b+HTQycc0hNJO2FoGJ57tpxdoUSE6aixU5TXtVoXuRkt2QAl+5+UU2c/x0dbdum+JvndMUPQ+rUXbcYlr4WVG+0ivWQv5Z56Us2WLbK1vO7aneIpmUUve5olroZ1qqFeraq471+F8evNW9iycz/2HT6ZI+xub7ZQRJ9iRe/XnZLejXKpKEJKrarPonb1Z5Ux7ty5g2OnzytjiJycvTgS2/Vu7Et72VeSrbxiuaeU/o+eOoetO/eraysxJAztg/Vbdynzk+IpwVpPtpf+Za+K9J0/fz6IfO/p7Obu7Cu2JQGzEzD7DWaz8wu2+Hj+HGwrHnjzlYcEE9JmQkQzS5kxIUY5VxEBsWnncPXhQ19lxvTUOamnV8+TgrXEJg97ivhpKdUrl8eyGckoU6qkp0MP6v7MLn1mX5wrV68hLCoJazZuVz+Waws5RkNaN9G9NtW7JpVr0fmTEyDXXkbK73/8qWTGzVy40vC4RvqVOnrxOfpt8aRgrffgrFzLLUwfg6L3FzE6DdYzQMDsx5q/C9ayBPIgRLvQaOWhCktJGx2pPAzFQgJGCZj9+peCtdGVZD0SIAESIAESIAESIAESIAESIAESIAFvEaBg7S2y7JcE/JAABRE/XDSGrCFgKyO0q5hEUI7u3025EW00G7DEkDzlPU02ZaPjy43vtNERkNckO8oMKDfZu4bH6WbblvEsYozRsfXqeVJm2XvoOPpGj8ex0+ecDkmy94lcbZ0l2rqjQ8fPoH/MBF1B29GgkuF8ythhqFbpGZtVHWVL12soAsSkhCFo0ai+8orujZ/sVap5SrCWmKbMWYbBo1Jtxr1pWQZebfC8IwT8ngRI4P8ImP0GMxfKXAR4/myu9WA0zhO4fOUqOvcfiU/2HFIaP1LiQaybPwki9/547Wd0DR+F/368R+14xewUtG32svMDudHCk+ekboSRo6mnBWs5l23ZLULNJC7nkZuWZqB2gLx5yJPs3enL7NKn9dzkQQc5RrM/HCpvSVo6PUl9eNfSxlaGaJGHO7dt6vAa09LP1l370abHUM21pmR4Hj6gO/Lly+sOfqXtwWOn0a5XtGZO9q5ZPClYy/hrN+1Aq+6R6jz4MIPbS6rbgdmPtUAQrPX+Do0Z1gdxEaHeWVT2GpAEzH79S8E6ILcdJ0UCJEACJEACJEACJEACJEACJEACfkWAgrVfLReDJQHvEqAg4l2+7D33CPzw4zV8sG4LZi5aiRNnLjg1sGQj7tquufKK4gpPlzYsVmcf5O7du9i2+yDGpM3Czn1HDI3/VvvmSpbsUiUfNVRfsoqlZMzH6NSZuvU98ZpjT8ssV3+6jndnLcWMBVk5MnfrTUIyco+K7KW8grpggQKGuHz/w08Y9c4MLFuz0aZ8nr0jWe8+b7XD4F4hDgVuaSdC85GTZxE/MRMfbt5pN6aaVStgfEw4XqpbQ5mviBGeFqwlAOlbMprPWrxKNx5PyPaG4LMSCQQIAbPfYA4QzAEzDZ4/B8xSBu1EVq7fhjdCo9T5t2vxCmZPjMP9Rf6lnPfIG1OGJExSv+/eoSWmJkWh8L2F3GImIqicU63dtF15w4flrTLyFg7JJtupzWt4pkwpRQh195xU3v5y9OQ5fLL3EPYePI4z5y9CxD9LkXNOecuMPFQpD1jKfxt5uNLTgrUnJFK5DpF+1m3eiW27DuDA0VPqebewlbf5NHu5Lho1qOV2tt4bv95SrnWyPtqKY6fOKespRc6va1atCHmAUd7KI2xdlXKv/3IDW3bsx/ptu3OMIXOpXa0SGjesDXkTTaF7CtrckyIp12vV09CeFXn5/cxxyj4wQ5HjcPaS1eg9LEkTTvuWjZCZEqNZR703B/Xr3h4pIwcaPmb/vH0bUYlTlIc4LUXWctHURMPXqo646Y0RO6gHRAzVO/Y8cWxkj8l6P7iy5tl/w4T70VNn1etPeShCHtxt1aShchy4+3vJY83RjnLtewrWrnFjq8AjYPbrXwrWgbfnOCMSIAESIAESIAESIAESIAESIAES8DcCFKz9bcUYLwl4kQAFES/CZdc+ISCCwdeXryjSxuETnykyhdz8FyFVimSFq1qxHJ4q9ThqVqmg3JivVL4MCuTP75F45aarjLn6v5/g08MncOrsF2qWLovIIUJAi1fr4/FHHjKcUcwSnMxv576jmPfBOkUWyS6KSNbnjOThyhxdLe7KLLbGzS5KfHbhS1WosayHyB+SxduRKGFvXiLZi+QuQnP2MaSN3PAWYccduUTWdt+Rk/hg7WbsP3pKIwWJ7CGv7K7//HOq6GHN0lMZrC0MRFJYv3U3lq3ZpGTwzp7hzhOyvat7iO1IwB8JmP0Gsz8yDeSYef4cyKsb+HOTB/Yi4lORuXClOll5a0hE707qeen+I6fQuscQNaty9gzXrhAy+rCanBeG9+ioZMwVQTr7g2pGZUh5s8y899chfe77mvNkR3HLubk8+CjnpPbeKuNpwfr4mfNoFxqN8xcvKSEanafUlesCkTwnZMxXH+izN09nHzLM3pc8NCl7ZtLMxYYempRzYnlo8uW6NQyJ6zKWXK+lzljksQcz/VmwFh6ylyPi03I8UPnumCEY2LOjsk9l30jGebkWsBRXxGi5Zm3fO1q5jrUU698FR8eQke/Xbd6BuUvXKhnxG9R+DiUfLWFzf3hasN68Yx8ad+yvhikPVizOGItiRe93GLpcd324eRcmZMzDgaOnHdaXt1QNCg1B7y5tnBateaw5xOtWhUAQrK3fQiFAmMHarW0RlI3Nfv1LwTootyUnTQIkQAIkQAIkQAIkQAIkQAIkQAKmIkDB2lTLwWBIwLcEKIj4lj9HJwESIAESIAES8D0Bs99g9j0hRpCdAM+fuR/8mYC1SKknT/9y4yZChyYi68Ot6lRdlS3lAbXFKzcgcnSaITFXBuzbrR2i+r2FPtHjVHHYiHgssumAmBRs2v6pS0skAnLGuOHo8PqrNiVrTwvW9rKJ25uEiPIiI6dMm2/oDS7Z+xIBd8rYYUq2XSNFHlodOPIdiLDsTBFhPqpfNwzp08Vupmnp89vvf0D/EROwZuN2Z4ZQ6vbq3AbjY8OVLNrZi78L1jIXEZ7fjkjQCNQi72bNmoCK5Z5CVOJkTH3vA3Xa8t38yQlKZnZnisjzfaKT1SZlSz+BrNkTULl8WWe68WhdTwrWepn55aES2TeOHrQW8T8uZTqmzVvu9PzkAeJJCZGQdTFSeKwZoeRenUAQrOVvXLteUZrf/mUzktHh9cbuwWHroCJg9utfCtZBtR05WRIgARIgARIgARIgARIgARIgARIwJQEK1qZcFgZFAr4hQEHEN9w5KgmQAAmQAAmQgHkImP0Gs3lIMRIhwPNn7gN/JjBp5hJFdrYUW29AsRYuG9WvhQVTxkCEbKNFpMalqzcq4uavN3/TNJM3u7zepKGSPVak5S079uHIybNqHZGsT372OXbuO6J85kiwvnL1GsKiknIIuiLd1qxaETWqlMd9/yqs9HXp2++VN8FkH88ysKNxPClY3/j1FsJHpmDB8o/Uec9OjUPPkFZ2EUtm46ixU3SFT+H6Sv1aeOKxh3H79l/Yc/A4dh84qst/5juxaFDbvogrGbK7DYrXvClFghN5um7NqnihRmUUKJBfYbp1537drOGSyTdpeD+bmXxtzUfmUqdGZeUtNFJ+vXkLu/YfVbJ2W5fEqL5K5vN8+fKqX4lwv3L9x8p/X7v+CxauWK9mZS9ftjTefP1VVfwuWCA/OrZqgocfKmZ0e+dKPVvH0Fvtm6NO9cqIGjtZs7YiDA8J66Lh4ChQvaz2nngzkqNxHX3vScFaBH7J9P3x7oPKsLJ/V82diFfq1bIbhq3fFWkk2e4bNXhe+Q2ztzflgYY5aaMg+9le4bHmaEd45nt/F6z19qSjv1ueIcdeAo2A2a9/KVgH2o7jfEiABEiABEiABEiABEiABEiABEjA/whQsPa/NWPEJOA1AhREvIaWHZMACZAACZAACfgJAbPfYPYTjEETJs+fg2apA26i13+5gZ6RiVi14X/SqRRbQq91pmupu2J2Cto2e9kwl+NnzqNjnxglC6+liGQo2bCbvFhHI4HevXsXkr01dvw03QzU9gSyO3fuKpmcY8ZlqOOIQDkqohd6d2mLIvf9T6zOXkRclTmOemeGhofUsZet21OCtUitKRnzMTp1phpW80b1MHtinF3JV+aalrlIEayzF5E4k0f0R71aVZEnTx7Nd1d/uq5ku542f7lGxn2+2rNYmD4Gkq1Yr4igLFLqvsMnNVwjenfGwJ4dFbE0e5E13Lb7IGLGTcWBo6c136WMHIjIsC7Im1cbm1T6aMsuhPSLUWOTbL/pScPQ9KW6OURhWbcLX36N6LHpmnUTYXr5TMnq/B/duVjLurL/FmeMzTEHw5s7FyvKXrHOVK03vEjX6WOjdPe7vXBlf3TqF4stO/er1URYjx3Uw2Ym99yYvqcEa8lAPTwpHbMWr1LDlqznklm68L2FbE7FFnfJSj1mWB9lr1kLgF9+fRnxEzM1D03IANImMyUGxYsV5bGWG5vHzhj+LFh//8NPykMVC7PWa2YYFxGK+Mjeur+vPsbN4U1MwOzXvxSsTbx5GBoJkAAJkAAJkAAJkAAJkAAJkAAJBAkBCtZBstCcJgkYIUBBxAgl1iEBEiABEiABEghkAma/wRzI7P1xbjx/9sdVY8xCYPeBY2jaOVwVWe1Jy5JVeEBsCua9v06F171DS0xNirIrJVoq/3n7tiJLi9hrKSL0ikD87DNP2VwQWxlj7cV68dJlRdDNLgJLdubQTq0dCqI/3/gVA0e+oxHW7GXvdUewFmFT2ksWXZE9Ldm5BYZIxfMnJ6BhHfsZpQ8eO412vaI1GaUlXpHCbcmb0r+IySLWR46epGk7pE8XJbt0wQIFNGuit34SY9roCEUW1RGf1PYi7A5JmKRhKm2zZk1AjSoVNOPc/usvRX6VzOqWYkTkF9EwdGiiImdbStroSET07qS7t/xZsJYJibjbZUCccgzrFTm23psUDxHNnS2fXfgSb4YNx4kzF9Smi6YmonPbps525dH67gjWN2/9hqs//Yy1m7ZjztI1mrkZZbVm43Z0DY/TPJQQM7AHYga+bfc38O+/72DGwhXKgwbZM/e/O2aI8mCC9bHDY82j28ZhZ/4kWMtekr9Rcixs2LYbi1ZsyPE2gVZNGiIzJRYlij/gcO6sQALZCZj9+peCNfcrCZAACZAACZAACZAACZAACZAACZCArwlQsPb1CnB8EjARAQoiJloMhkICJEACJEACJOATAma/wewTKBzUJgGeP3Nz+CMByXyckDYTIpdZish+KXEDc8i1lu8Xr9ygSJ2W8kiJB7F6bipqPVfRIQLrDNiSUTprVgoaN6ztsK1kvA7pG4tjp8+pde0J1ms37UCr7pFqXRGA56TFoej9RRyOJRU279iHxh37q3Ub1a+FJdOSdIVlPcHa0CB2Kkn26Sljh6FapWfsdqW3hi/VraFkoX7s4YcchiGS9ewlq9F7WJJa15b4rJfB3Ki0Lp1/+/0PSvZrkcktRU/mlqzqUs8iSttbZ+sJrly/DW+ERqkf2xPj/V2wlklu23UAXcLj8N2VHzUo5NhamJ4IES1dKSJt12vVU9N015o5kH3py6InWLsbj/w2SOZq2ff2it4DJs5kCBcxVjJZJ0+Zqw4jPEVcL1XyUc3QPNbcXVXn2vtSsHYuUse1ZU/NSRsFeTMECwk4S8Ds178UrJ1dUdYnARIgARIgARIgARIgARIgARIgARLwNAEK1p4myv5IwI8JUBDx48Vj6CRAAiRAAiRAAh4hYPYbzB6ZJDvxGAGeP3sMJTvKRQJfffMdOvWLxZ6Dx9VRHWUK1ssMLZmSJUuwvQzGMkDmwpXoE52sjuVM9msRgSWjsWRBthR74u2Bo6fx8Z6DOHLiM3z5zXfo/mZLhHVta5iutchpbyxPC9bd3myBlJED8dCDjrOPurKG1hBEaO4Zmahks7aUxKi+iB3UQ7Omwj9ydJpax1lpXRpaC9B6XK15li39BLJmT0Dl8mUdrp9kXhZZvMh9hVG14tN4pkwptG/ZSPeBgUAQrEXaTZo8B6NTZ2rY9O3WTslgXuiegg6Z6VWwfsBA6gSiYC17PLp/d4iQ7qgcOn4GLbtFqDK7Mw+XWPrW+/3UywzOY83Ranj2+0AQrGUPd2zVBGOG9cHDDxXzLCD2FjQEzH79S8E6aLYiJ0oCJEACJEACJEACJEACJEACJEACpiVAwdq0S8PASCD3CVAQyX3mHJEESIAESIAESMBcBMx+g9lctBgNz5+5B/yRgLXs+kKNykqWZnuZXG//9ReGJ6UrsrOlSHbnBVPGQIRDW+X3P/5ERHyqIllbyowJMU5Jz8fPnEe70Gicv3hJ6cKZzMbOro8vBWuJVbKPhvfoAJHQC99byGb41iLsiy9Ux+KMsXi0RHGnpmwtv7dr8QpmT4zD/UX+pfTz683f0D9mPBZmrXd5/aTh5StX0bn/SHyy55Daz5p5aXi9cQP1v3/7/Q8MiptGE59IAAAgAElEQVSoZNa2lF6d22B8bDge+LexDORGJh8IgvWVq9cQFpWENRu3a6bsTHZ4PVbWmeqljrOCtTvZpm2N5U6ftvZEzaoVFMm6xav1bGbul7bWx4i97Oi2xpKM83Ep0zEu/T21ijycInu7QP78PNaMHLheqOPPgrX8rZCHSDq1eU15oMTRg05ewMcuA4iA2a9/KVgH0GbjVEiABEiABEiABEiABEiABEiABEjATwlQsPbThWPYJOANAhREvEGVfZIACZAACZAACfgTAbPfYPYnlsEQK8+fg2GVA2uOt377HQNiUzDv/XXqxEaEvw3JXJw3bx67k9XLbuso87W1WCsy9rr5k1C9cnnDYCXTctfwUfhoyy6lTSAL1hYojRvWxtTkKEgWZ70iombMuAz1K2tZ0yhc6+y81mwvfPk1OvaJgdST4sr6STs9QV8yrsZFhGpCnbN0DUKHJGo+q1S+DLq80QwtGtXD0/95Evny5TU6Pd16/i5Y/3n7NmLHT0PqjEW683u+2rNYmD7G5t6xB2/tph1o1T1SUyVQBWvLJEWYlqzfxYsVzYHmjz9vK9nzp81brn6XNjpSydzvbLFm2+TFOspDEcWK3q90xWPNWaLu1/elYC0PNJUtXRJ58uT8u3v37l2cv/g15E0F2Yu83SC6fzd0btsUxYv9W7et+1TYQzASMPv1LwXrYNyVnDMJkAAJkAAJkAAJkAAJkAAJkAAJmIsABWtzrQejIQGfEqAg4lP8HJwESIAESIAESMAEBMx+g9kEiBhCNgI8f+Z28DcCp85+gfa9o3Hm/EUldMl4u2ruRLxSr5bDqXx35Ue8NXAUtuzcr9aVTMtTk6JsZlv+7MKXeDNsOE6cuaC0EbF62YxklClV0uF4lgrWkqOnBWuRfz//8hslu/KKj7Zh667/Nz97Y/10/RclK/PGT/aqc1k0NVGR3xwVEeh++fUmvv/hJ2za/ilELLYwsrRt9kpdSLbvko+W0HSnJyu7Kn3qZZbOLtRaC9hGsp3bmrt1JuCwrm0xKWEICt1TUG3y7fc/KDL9x7sP6nYjUqJk627b7GXUqloRJYo/4HTmVn8WrP/55x8sXb0RfaKTlezitkq/7u2RMnKg3Szoem13HziGeq16ar4yq2BtNK6//76DX2/dwhdffYv1W3crx5q1uNqj4+vKXixyX2HN3H+5cROhQxOR9eFW9XPrzOuOjnXL944y8fNYM0rSc/V8KVjr/f5ln5n8jTh97iLemb4AC5Z/pJn00L5dIQ9GeTKzv+eosid/JGD2618K1v64qxgzCZAACZAACZAACZAACZAACZAACQQWAQrWgbWenA0JuEWAgohb+NiYBEiABEiABEggAAiY/QZzACAOqCnw/DmgljMoJjNp5hJEjk5T59qofi0smDJGyUzsqNy5cxcJaTMhUpqlSLvVc1NR67mKus2thU3rrK2OxrR8n12Ec0WwtgjNX33zPa7+dB0nP/scIjweO3UOR06etRmGtwRr6wFFlk2eMhfjp87TfDWkTxckDe+HggUKqJ///sefiIhPhQjLlmJU7LYeV08Szy6uemr9ZNzFKzegy4A4NQRbguGOTw+j97AkiAjtqEi2ZpGtW75aH+WeetJQRld/FqzlwYiQvrE4dvqc5hiWPSFrZSny4ITI+SGtmzgloFtLvtKfPBDR4fXGjpZC/d6ar+GGAGxJ03p9GhWsrceXhxqixk7Gwqz1mq/eHTMEA3t21PBydHw4MzfrOVj/tvBYc4amZ+qaWbC2zFAeEJixcAVixk3VPFTRvFE9ZCRHQx46YSEBdwmY/fqXgrW7K8z2JEACJEACJEACJEACJEACJEACJEAC7hKgYO0uQbYngQAiQEEkgBaTUyEBEiABEiABEnCJgNlvMLs0KTbyGgGeP3sNLTv2AoHrv9xAz8hErNrwsUd7j4sIRXxkb+TNmydHv56SBl0RrEU6lazU772/Flt37se1n284Pe/cEqwlsFu//Y6osVMwbd5yNU49gd3bgnV2WdtT6ycTshas7cn2X359GfETM3NkbrW3gJXKl8GQsC5o1+IVu5mb/VWwlgcDwqKSNcevyJVZsyYoe7tdryiNgCl7d+n0JJQvW9rwvpfMzp36xWLPweNqG1ezozsa1Blp2pm6jsaV769cvYawqCSs2bhdrS6y/tJpySj9xKPqZ94UrGWQ3HqYgcea/q7wB8FaIhfJOjVzEYYnpWsm0qpJQ2SmxCqZ/FlIwB0CZr/+pWDtzuqyLQmQAAmQAAmQAAmQAAmQAAmQAAmQgCcIULD2BEX2QQIBQoCCSIAsJKdBAiRAAiRAAiTgMgGz32B2eWJs6BUCPH/2ClZ26iUCW3ftR5seQzUSpieGspcF21OCrjOCtWSr3rb7oJLx88DR04an+MC/i+C5Z5/B6fNf4LsrPyrtclOwlvEkq3bHPjGQTMWWkjyiP0aEv63+t7cF603LMvBqg+eV8Ty1ftKXtWDdtV0zZCQPh2Rb1iv//PMPRPhdtGIDFq1YbyijtfTTpulLmJQQaTOzqz8K1rYEy5SRAxEZ1gXCSoR0yYKevbRv2QiZKTEoen8RQ8eBZFLvHzNek93ZVqZxQx3aqeSMNO1MXaNxbdr+aQ4p3TpbtzcF67Kln0DW7AmoXL4sjzWji+bhev4iWMu0b/x6C+EjU3I8dNKve3vI70Dhewt5mA67CyYCZr/+pWAdTLuRcyUBEiABEiABEiABEiABEiABEiABcxKgYG3OdWFUJOATAhREfIKdg5IACZAACZAACZiIgNlvMJsIFUMBwPNnbgN/IXDnzl0kpM2ECGXeKCtmp6Bts5dzdO0pQdeoYC0i6oyFKxS5WmRRW0Uy/1Ys9x8892w5VK9cXvnfxx8pgc+/+gYdwkbg2OlzStPcFqyNCK7eFqxzK6uuM+KuSPNfX76CHZ8ewbrNOxxmJBfJWsTi4sWK5tgC/ihY68nA1nPUy8osk7dI2HoZ5vWOj0kzlyBydJr6lV5mZ0/8hjgjTTtT12hsl69cRef+I5Us95YyZlgfSEZ+S/GmYG392+Kp30qJ3fphBh5r+rvCnwRrmYE8eBPSN1b9+ySfyQMqMybEIKR1E+hIqEYPB9YLcgJmv/6lYB3kG5TTJwESIAESIAESIAESIAESIAESIAETEKBgbYJFYAgkYBYCFETMshKMgwRIgARIgARIwFcEzH6D2VdcOK4+AZ4/c2f4C4GLly4jpF8M9h0+qYYsUrGegOpoTn/9/TeOnTqHaz/fUKt279ASU5OicmTRtBYj7QnLtsYVOTwuZTrGpb+nVLHXx7ZdB9AlPE7NQC31JTN1SJvX0KJRPTz7TBk89GBRFMifX3c4Z+LVky8XTU1E57ZNHSG0+b2ePN3kxTpYnDEWxYrer7S7/ddfGJ6UDhFhLSVtdCQiendyelzJEN2pXyz2HDyutBVZb9PSDNSuXkn570PHz6BltwiV5ws1KmPJtCSb2aHtBWAt7krm1dT4CNxTsIDTcQuDc59fwvptu7Fy/TbNvrZ0Zkv69zfBWqTKtyMSNHMsX7Y0JNuyJfuxZc7b9x5Gt0HxSuZvS5GHCeZPTkDDOtUMcd5/5BRa9xiiOYZmp8ahZ0grQ+2NVnJGmnamrtHx9Y5faxH5lxs3ETo0EVkfblW7XTMvDa83bmB0GLWe9bEkD3bIGpYpVZLHmtM0PdPA3wRryVQv8nzX8FEaAPI3cen0JMjvAgsJuELA7Ne/FKxdWVW2IQESIAESIAESIAESIAESIAESIAES8CQBCtaepMm+SMDPCVAQ8fMFZPgkQAIkQAIkQAJuEzD7DWa3J8gOPEqA588excnOvEhAJNQ3QqPUER4p8SBWz01FrecqOj3qn7dvIypxCqbMWeawv6s/XVcE3i079yt1ReDdsDgddWtWMTyudVZnW4L1rd9+x4DYFMx7f53at4yTmRKrZKs2UvxBsJZ5eEpW/vTQCTQO6a9m+7aWPh0J2EaYSp0//ryNIQmTMG3ecrVJ8oj+GBH+ttEubNaT7NYbtu1B/5gJGrHYlsDtT4K17OmosVM03OxlrJWHEdIyFyltspfmjeph9sQ4PPxQMYe89Y4jZ9o7HOD/KjgjTTtT1+j4RgRrvYcZXN2376/dhI59YtTwhOnC9DEoen8R5TMea0ZXznP1/E2wlpnf+PUWwkemYMHyjzQgBrz9JlLiBqHQPQU9B4g9BQ0Bs1//UrAOmq3IiZIACZAACZAACZAACZAACZAACZCAaQlQsDbt0jAwEsh9AhREcp85RyQBEiABEiABEjAXAbPfYDYXLUbD82fuAX8goCdMdm3XDBnJwxXh2ZWydtMOtOoeqWkaFxGK+MjeyJs3j/q5nljrbLZlo9Lz8TPn0S40GucvXlLGl7llzUpB44a1DU9xx6eH0bBtb7W+vWzZ3shgbS2TSyDWWXXls8079qFxx/5qnC++UF3Jcv1oieKG5yoVMxeuRJ/oZLVNuxavKCLu/UX+pXymF8+MCTFKTM6Uy1euonP/kfhkzyG1mXUmYMnULJm0D5/4DCfOXIDs0V6d2xgaRjK7zliwAv1GjFfrW2f+tnzhL4K1zEkeYhg8KlXDwJFIaUvAjBnYAwlDw5AvX16HTNds3I6u4XGqeC8NxseGY0hYF0PtHQ4AwBlp2pm6RsaWOnp7csywPpDfsezF+hhx5bfTOgu/9C8Z54WpJZs+jzWjK+e5ev4oWMvsDx47jXa9ojUPlMjfu4XpiWjVpKHnALGnoCFg9utfCtZBsxU5URIgARIgARIgARIgARIgARIgARIwLQEK1qZdGgZGArlPgIJI7jPniCRAAiRAAiRAAuYiYPYbzOaixWh4/sw94A8ErMVjiXl2ahx6hrRyOfzvrvyItwaOUjNTS0e2JN/FKzegy4A4dazXGzfArIkj8dCDDxgaf87SNQgdkqjWtSU9W0vHL9SojCXTkvDk448YGkeEVskMLZmWLSW3BetTZ79A+97RENnYUhKj+iJ2UA9kF4yss91K3UVTE9G5bVNDc5VKP/x4Db2GjoXI8vbGss6W7ez6Sd/We0CPq3UdPbHc3uR2HziGeq16qlX8XbDevvcwug2K10iUL9WtoWQ9fuzhh+yus+yfkL6xOHb6nFrPGQFTHsqIiE/DrMWrNO1Frg9p3USzFw1vOKuKzkjTztQ1Gs/WXfvRpsdQjUSudwwdOn4GLbtFQH7zpEj2/2XTk9GgdjWjQ+nK5Hpj8VgzjNQjFf1VsPZEpnqPAGQnAUPA7Ne/FKwDZqtxIiRAAiRAAiRAAiRAAiRAAiRAAiTgtwQoWPvt0jFwEvA8AQoinmfKHkmABEiABEiABPyLgNlvMPsXzcCPlufPgb/G/j5DZ6Vho/PV61farpidgrbNXtZ0c/HSZYT0i8G+wyfVz2e+E4vQTq0diprffv8DuoaPwse7D6ptbUnP1lm1q1cuj2UzklGmVElD0xIRvWOfGI3cnJuC9Z+3byN2/DSkzlikxitS7Kq5E/FKvVqaOYhgl5A2EyIIWopR+Vbqy/rNXrIavYclqe1FHF09NxW1nquoGUtP+ja6ftKR3hoO7NkRKXEDUbBAAXUs6wcBypctraxf5fJlDa2ftaAt+2ty4lDcW+geTXt/yGD9/Q8/IXRoIj7askuNXR4UmD85AQ3rOBZ7ZX2Xrt6oZCeXzMiW8ny1Z/HepHgIW0dFJO23IxI0x+0D/y4CyUAvIr+RTNi2xrj603Vln0+bv1wT3641c1C3ZpUczTwtWF//5QbCopKxfN0WdSxhsnzmBFQs9x/N+HpvAHirfXOkj41CkfsKO8KIv/++g/iJmUieMlezDkunJaP0E4/yWHNI0HsV/FWwtvW7Kp+njByIyLAumjdJeI8gew4UAma//qVgHSg7jfMgARIgARIgARIgARIgARIgARIgAf8lQMHaf9eOkZOAxwlQEPE4UnZIAiRAAiRAAiTgZwTMfoPZz3AGfLg8fw74Jfb7CYpI2DMyEas2fKzORU9udWWiepmxu3doialJUSh8byG1S5E9p8xZhsGjUtXPRBadPn4EXnupjk3JWsTQ6KQpmD4/SxOeLen500Mn0Dikv0bYlGy/IoPqyDmaPkUiDotKgmRBzl4qlS+DDzLH45kypXIg+un6L+jcfyQ2frJX/c7ZLNKWhiJXT569DGPfna2Jv33LRshMiUHR+4vkGP/gsdNo1ytak+FY6ov4WaK47ezgsh6yHyJHT9K0HfD2m0iJG4RC9xTUjKUnfotomzFuODq8/qpdtiLSSkbwhVnrNWu/OGNsDpFWT2Rt1aQhMlNi7c5HOtYTkiXbsmTBti7Wsq6tzOuuHBOeaPP7H38iKnEypr73gaa78bHhGBLWxbDYbKufft3bKxJm9mPUVtyyt0VElozp2YsIxsMHdFeOC0fHVvZ2kjVd9kL63Pdz9Cn1ckOwlt+V2PEZSgzZy5A+XZA0vJ9G+rd8v2bjdnQNj9Mcm4NCQ5T69jiKXD1j4QrEjJuqaWtLguWx5okjyHgf/ixYyyz19qWzD6YYp8WagUzA7Ne/FKwDefdxbiRAAiRAAiRAAiRAAiRAAiRAAiTgHwQoWPvHOjFKEsgVAhREcgUzByEBEiABEiABEjAxAbPfYDYxuqAMjefPQbnsfjXprbv2o02PoRq5b828NLzeuIHb89ATYm1lQb5y9ZoiMIsQZiki6Y4cHIreXdrkELIvfPk1osema8RwSztbgvV3V37EWwNHYcvO/eoYInKPje4LEY+zZ0u2VBDhc/4HH2L81Hm49vMNXSa2pE93Bevbf/2FH368rmTnnrV4FXbuO6IZX7JXZ81KQeOGtXXjkizWaZmLEDV2iub7mlUrIHnEALxctwby5Mmj+U5iFtl90szFTmU2Pn/xkpJJPHsWcomvX7f2EDG1eLGimnHu3r2LXfuPImZcRg5p3Z4ovGn7p2jXK0oTW4tX6yM+sheqVXomx3xEFj9y8ixGJE+FtLUUyYIssnupktoMwfK9yMKd+sViz8HjSnWZx7Rxw9GpzWs5+s8+KZHv67XqqZmnrb3h6sFlK/O0MxmTs4+tlz1cvjf64IEtGd8yhqxNr85tFFlejmdrCU72gey5/UdOQTKMf7hlp2ZtrX8L+rz1Rg7BX+q4m8FaZHOR8Ndu2o45S9fgxJkLmiVyJKXaktVl/glDw/Dcs+VyzP3St98jafJczFy0UjOWo4cGeKxBycw/6p0ZKrcmL9aBPJRRrOj9rh5auu38XbCWv8ER8WnK34/sRY7JSQmRhh6i8ChQdua3BMx+/UvB2m+3FgMnARIgARIgARIgARIgARIgARIggYAhQME6YJaSEyEB9wlQEHGfIXsgARIgARIgARLwbwJmv8Hs33QDL3qePwfemgbSjETAjUuZjnHp76nTalS/FhZMGQMRoT1RVq7fhjdCozRdxUWEIj6yN/Lm1cq9Z85fxNsRCRpJVxqKBC1ZhEVy/PXmLUXM3b73sM3wbAnWIoPOXrIavYcl5Whb7qknUadGZTUTtUifIjRL1uvsReRkyUj7yZ5D6sfbV85Eg9rVcvSpJ1h7gqmlDyMZi0WwE8F62rzlunN+pX4tPPHYw7h9+y9FKN594GgOwVX4z5+cgIZ1cs4xe6eyJt0GxefIPCyCct2aVfFCjcooUCA/RCzdunO/IsVaF0fZk/Uy+Fr6EIlV1lDmI0XG2XvwuCJYZy8Sj2SvDmndRDe78i83biJ0aCKyPtyqaSf9iyieP38+JI/oj8rly2q+zw3BWrLCd+wTAzlWLOX5as/ivUnxyvHhStm26wC6hMdBHkCwFFnzrFkTUKNKBYddynG199AJDB41EQeOnrZZXwTrKhWfRv58+ZQ6N27eynF86TW2Jylb6usJ1g4DN1jB0X6xdKP3kEj2vdmowfOKAGzvN8zoWgb7seYrwdrglrFbTbLmT0oYkuNBAW/J3HpvMpA9vTA9ESLzs5CAEQJmv/6lYG1kFVmHBEiABEiABEiABEiABEiABEiABEjAmwQoWHuTLvsmAT8jQEHEzxYsiMOV7FddBsSpBLyV0SiIEXPqJEACJBC0BMx+gzloF8akE+f5s0kXhmEpBC5euoyQfjEaodmW/OwqsstXrqJz/5EaIVkkwqXTklH6iZzZgw8dP4P+MRNySNb2xh8UGqLI2mmZi5VqtgRr+U6E49jx0zB59lKnp9Sj4+tIGt4f772/Vsm8bCkiH0sGYeviLcFa5Lioft2UzNCF7inocB4yZ8nALXP+9eZvDutnryBC+ZTEYahdvZKhdiKkD4x7x65oq9eRzEnWcfiA7g6zqkom8eFJ6TmyshoJUCTftNGR6Ny2KfLly6vbRIRhyeI9eFSqzS43LcvAqw2e13zvbcFaT+A1Kv/aY/P333eQmrlIYZq9tGn6EjJTYnJkH7fVl+yzmYtWYey7s21mezeyRpY6cg0f3b+bIvZbZ1q37sdbgrWR/ZI9lqs/XVc4zl221pmpKnVFJE8bHYGypZ8w1DaYjzUK1oa2iFLJ1psMXqpbQ8lU/9jDDxnvjDWDloDZr38pWAft1uTESYAESIAESIAESIAESIAESIAESMA0BChYm2YpGAgJ+J4ABRHfrwEjMEaAgrUxTsFaS15FLVm/5NXy8npcFhIgARJwhoDZbzA7MxfW9T4Bnj97nzFHcJ2A9TmzZK1ePTcVtZ6r6HqnVi1F7kpImwkR4rKXFbNT0LbZy7rjiKSYOmMRps1fblcIFvlxzLA+CO3cGikZCzDqnRlKf/YEa/n+9z/+xIwFKwyLoNai59pNO9Cqe6Qau62MpN4QrCXrcvSAbkr2ZB2hyOa6yfnvtt0HMSZtlpKZ21ERtiI79+7SFvcX+Zej6prvZf3enbUUMxZkGRJtRSyNGfg2alerZHhOksl67tK1mJAxP0fGbFvBijA8cnBPSCZqR+wcSdySAVvWPXvxpmBtS4IWyT5peD8ULFDAqTWyrixrFhaVjFUbPtZ8ZSRLunVfP/x4DR+s24KZi1bixJkLTsUl+65ru+YI7dQaFZ4u7VCstnTuacFaxPVu7VsoDzGUKpnzQRB7k5K9uXL9x8qbAYzMX7Lnjwh/G2++/qqhByayjx2sxxoFa6cOK3z7/Q/oGj4KH+8+qGmYMnIgIsO65HibhHO9s3YwEDD79S8F62DYhZwjCZAACZAACZAACZAACZAACZAACZibAAVrc68PoyOBXCVAQSRXcXMwNwhQsHYDXgA3lWx0n134Usngt2D5R4qQI1kaWUiABEjAGQJmv8HszFxY1/sEeP7sfcYcwTUCkm12QGwK5r2/Tu1ABNQ5aXEoen8R1zq10Wr/kVNo3WMIvrvyo1qje4eWmJoUZTNbsZy3ffXNd4qouW3XARw4ekqRdUXAfKFmFbR8tT5av/YiHnrwAaXP7MKdI8HaEoSIoOs278SWHftw5ORZiKQp5cnHH0GVCmUhGT5FrhYBMnsGXevM3+XLlsayGcmK9Jy9uCtYy7hKLBWfRr1aVVG72rPqfF1dIBF1Za7//XgPRAi2cJX+JEt1tUrPoNnLdVH/+edQ5L7Crg6jtBO+InVv/GQvjp06p4xrhK8zg4osv+/wSWza/ik+PXxCGUf2iRThJ2sjGZBfb9wQpUo+YljYlfYiyq7fuhvL1mxSxpD9aCkixCZG9dWIid4UrNds3I6u4XGaBw5aNWmIzJRYlCj+v2PA3XLw2Gm06xWtmac8dLEoPREv16vpdPci9X99+Qq27NyPwyc+w5nzFzXrIxJz1Yrl8FSpx1GzSgVIZvtK5cugQP78To/lrmAt0v2jDxdHjSoV8EKNyors7+7+z743d+0/iqOnzirrZ5m3HNONG9ZW5m0kE709KMF2rFGwdvoQgd5viPx9yZo1Qdn3LCRgj4DZr38pWHP/kgAJkAAJkAAJkAAJkAAJkAAJkAAJ+JoABWtfrwDHJwETEaAgYqLFYCh2CVCw5gbRI5D14Vb0iExQxQQK1twnJEACrhAw+w1mV+bENt4jwPNn77FlzyRAAiRgRgLZxfpda+agbs0qZgyTMZGA3xOwPNQgD8IszhiLYkXv9/s5cQIkYEYCZr/+pWBtxl3DmEiABEiABEiABEiABEiABEiABEgguAhQsA6u9eZsScAuAQoi3CD+QoCCtb+sVO7Gab0vKFjnLn+ORgKBQsDsN5gDhXOgzIPnz4GykpwHCZAACRgjkD2bMgVrY8xYiwRcIWC5vqdg7Qo9tiEB4wTMfv1Lwdr4WrImCZAACZAACZAACZAACZAACZAACZCAdwhQsPYOV/ZKAn5JgIKIXy5bUAZNwTool93hpClYO0TECiRAAgYImP0Gs4EpsEouEuD5cy7C5lAkQAIkYAICm3fsQ+OO/VG9cnksm5GMMqVKmiAqhkACgUXgzp27iEuZjnHp76Ff9/ZIjY/APQULBNYkORsSMAkBs1//UrA2yUZhGCRAAiRAAiRAAiRAAiRAAiRAAiQQxAQoWAfx4nPqJGBNgIII94S/EKBg7S8rlbtxUrDOXd4cjQQClYDZbzAHKnd/nRfPn/115Rg3CZAACThP4NZvvyMiPg2zFq9C9w4tMTUpCoXvLeR8R2xBAiRgl8CZ8xcR0jcWx06fw+zUOPQMaUViJEACXiJg9utfCtZeWnh2SwIkQAIkQAIkQAIkQAIkQAIkQAIkYJgABWvDqFiRBAKfAAWRwF/jQJkhBetAWUnPzoOCtWd5sjcSCFYCZr/B/P+xd9/xUVT9Hsd/D6FXQSxYaFJEqjSpAoogIFIEpYMQqSImaIBAaIEAARKVIgFEqaIgiBQFqdKkSRfpRRCRJiCo1Ps6482Q3exmZ5Ld7OzuZ/65L5JT3+fEO/PMd88G6rpYdd7cP1t1ZRgXAggg4F6B8xcvS/TEGTLm45mSLWtmmT8lWurUqOTeTmgNgQAXuHfvnuzcd1D6RY2XFSGoVjAAACAASURBVOt+lFpVy8vMcUPl8UcfDnAZpo+A5wSs/vxLwNpza0/LCCCAAAIIIIAAAggggAACCCBgTICAtTEnSiEQEAIERAJimf1ikgSs/WIZ3T4JAtZuJ6VBBAJSwOovmANyUSw8ae6fLbw4DA0BBBBwo4AKezZ7K0xrMeLdYAnp3FrSpg1yYw80hQACt2/fkUFj4iTqo2lS9Kl8Mnl0f3m+UllgEEDAgwJWf/4lYO3BxadpBBBAAAEEEEAAAQQQQAABBBAwJEDA2hAThRAIDAECIoGxzv4wS28HrP+4cElWrt8qi1f8oJ2udPDoSY013xN5pPQzhbVTll6tU0PyP5lH0qRJk2zyi5evyPK1m236UaelVSxTQurUrCSvN6yt9aleNvz9z78SMmisxM1coPVXt2ZlmT1hmDyYM4eh/q9euy7rt+yU+UtXye79h7R5qSvXA9mlQpniUrVCaWn8ck0pVriA4SCBcnmjSz/ta33VVfqZIvJF3AjtRamRy0j9yNipMnD0JCPNSZe2TSV2SG/JlDGDofIUQgCBwBSw+gvmwFwV686a+2frrg0jQwABBNwpoJ631LNH+dLFtOeilDznuXNctIWAvwkcPn5KRk+cKaFdWsvThfL72/SYDwKWE7D68y8Ba8ttGQaEAAIIIIAAAggggAACCCCAQMAJELAOuCVnwgg4FyAgwu7wFQFvBaxP/PqbjJ00S6bPWyLX/rrhkqtJvVoy4N1O8myJoloI2uilXt5PmvGVDPtgqlz686rTaips3b19cwnr0V4LDScnYK2+6lqFsmMnz06yr/hBVH/uWRkY+pa8ULW8y1CBkYB0UiZG6hOwNrqrKIcAAkYFrP6C2eg8KJc6Atw/p44zvSCAAAIIIIAAAggggID7Baz+/EvA2v1rTosIIIAAAggggAACCCCAAAIIIGBOwHjay1y77ix9L2Fj9+7Z/NOd/dAWAgEvQEAk4LeAzwCkdsBa/f8edZL0uwPH6qdVG8VSJ0DHDA6V1k3rGTr5WQWeew+JlZnzlxntQhrVrSGjB/bSwt9mTrD+ae8v8s6A0bJx227DfamCKtgd1r299O7aJsnToI0EpJPq2Eh9Atamlo7CCCBgQMDqL5gNTIEiqSjA/XMqYtMVAggggAACCCCAAAIIuFXA6s+/BKzdutw0hgACCCCAAAIIIIAAAggggAACyRAgYJ0MNKog4K8CBET8dWX9b16pGbBW4erPv14uXftEJTq1WoWnX6xeUcoULyJBQUFy4PBxWbtph5w8fdYGXQWSI94NlpDOrZMMWV+/8beEDftIJn42L1H9qhXKSJXypSR9+nQO+6lRuax2ovSajdu1unVrVpbZE4bJgzlzONwA6zb/JO17DXI41oR9nTrzu6xav9VhsLxXcEsZ3re7ZMmcyWEfRgLSSe1OI/WXrtwg+w4e1ZrZ98tRmfXV/WB6/ReryvOVyupd5H38UXmtwQuSPl06//ujYEYIIOA2Aau/YHbbRGnILQLcP7uFkUYQQAABBBBAAAEEEEDACwJWf/4lYO2FTUGXCCCAAAIIIIAAAggggAACCCBgI0DAmg2BAAK6AAERNoOvCKRmwFqd7ty6xwCbILIKVg/v20PaNqufKFz8782b8tXS1TI0ZopNKFmFrCePHiAtGtVxyHznzl2JiZulBawTXu2aN5Ah73WR/E8+ZvNzFcaePGuhDPtgqlz682qiNpMKWB8+fkra9hwoW37ap9dT41MB8Hc6tUgUyr57966s3rhdwkeMl227frbpK3rAOxLapY0EBaVJNAYjAemk9pzZ+vb7Yuj7XSUiJNhXtjXjRAABiwhY/QWzRZgYxv8LcP/MVkAAAQQQQAABBBBAAAFfFbD68y8Ba1/dWYwbAQQQQAABBBBAAAEEEEAAAf8RIGDtP2vJTBBIsQABkRQT0kAqCaRWwPrylavSJSxK5i1eqc+s9DNF5ONRfaVyuVJJzlaFmN8Oj5YV637Uy1WtUFpmjY9MFJZWBfYcOCwtuoZrp1PHX4N7d5awHu0lU8YMDvtSp2t/t2azdOs7ItFJ1M4C1ioA3n/kRBk7aZbeZr4n8kjM4BBpUq+WOHhxoZc7f/Gy9B4SKzPn3z8lWtWdP2WUlC/9TKIxmg1I2zdgtj4B61T6A6QbBPxcwOovmP2c3+emx/2zzy0ZA0YAAQQQQAABBBBAAIH/F7D68y8Ba7YqAggggAACCCCAAAIIIIAAAgh4W4CAtbdXgP4RsJAAARELLYYbhrJ5x16Z8eUSWb1xmxw7dUZrsWDex+WFqhWk3euvSOVyJd3Qi3eaSK2A9aoNW6VJx/fk2l83tImqU57nT4mWOjUqGZq4o9D0B0N7a6dEJ3xBoE6vHhIzWSJjp+rtNm9YW+KiwyVnjuxJ9qVC1lPnfC2d3x9uU85ZwHr/wWPSvHMfmyD35NH9JbhV4yTD1fGNn/n9D+306zUbt+v99e7aRob37S4Z0qe3GYPZgLT9RM3WJ2BtaFtSCAEEXAhY/QUzC2gtAe6frbUejAYBBBBAAAEEEEAAAQSMC1j9+ZeAtfG1pCQCCCCAAAIIIIAAAggggAACCHhGgIC1Z1xpFQGfFCAg4pPL5nDQ3fqMkEkzv0pyQl3bviYfj+rnk5NOjYD1zVu3pO/wcRI7eY5upILR0RHvJAoSO0NU4WdVX536HH+9XKuKzBw3VHLnekD/2W/nzkvrHgNk7aYd2s9UkHvhtDHyYrWKhtZHnbTdKTRSFn67Ri/vLGCtxhM6OEYvp06t/iQmwmWQO+FAFixbLa8Fh+k/Uqd6fxE3Qoo+lc9mvGYD0vaTNVufgLWh7UIhBBBwIWD1F8wsoLUEuH+21nowGgQQQAABBBBAAAEEEDAuYPXnXwLWxteSkggggAACCCCAAAIIIIAAAggg4BkBAtaecaVVBHxSgICITy5bokG/3KqnLF+72dBkVAj3uznjDJW1UqHUCFjbh57V/FfMnSAvPf+cKQp1inWz4D5y+PgprV6eR3LL4umxUq5UMb2d73/YInVa9ND/7SiE7arTuJkLpGufKL2Yo4C1Oom7R/hImTl/mV5u0qhw6dK2qavmbX7vyGbRZzHyap3nbcqZDUjbD8JsfQLWppaRwggg4ETA6i+YWThrCXD/bK31YDQIIIAAAggggAACCCBgXMDqz78ErI2vJSURQAABBBBAAAEEEEAAAQQQQMAzAgSsPeNKqwj4pAABEZ9cNptBGzm52n6WvniSdWoErH/csVfqtOwhKpSsrirlS8mcicMl3xN5TG2UK1f/kuD3ImX+klV6vVnjI6V103r6v+1Ple7X802JDOsmQUFpDPdlP15HAesjJ36VFl3DZceeA1q7jsLeRjp0dLr30Pe7SkRIsE11swFp+77N1idgbWT1KIMAAq4ErP6C2dX4+X3qCnD/nLre9IYAAggggAACCCCAAALuE7D68y8Ba/etNS0hgAACCCCAAAIIIIAAAggggEDyBAhYJ8+NWgj4pQABEd9e1s079kqVhm8maxKbFn8qlcuVTFZdb1RKjYD1Nyt+kEYdQvXpNXvlRZk6JkJyZM9qasp37tyViOiPZcS4T/V6CcPIjsLK0z8cIu2aNzDVj3142lHAWgWrG7YPkbPnLmhtJzc0ruran5itTsGOHdJbMmXMoI/bbEDafsJm6xOwNrVlKIwAAk4ErP6CmYWzlgD3z9ZaD0aDAAIIIIAAAggggAACxgWs/vxLwNr4WlISAQQQQAABBBBAAAEEEEAAAQQ8I0DA2jOutIqATwoQEPHJZdMHnZzTq+Mr+9op1qkRsLbvw1GA2OiOiYydKgNHT9KLJwxY3/j7H+kVMUamzvla/739CddG+rl4+Yq07jFAlq/drBV3FLDeuG23VGvUSW/OURkjfakyRnzMBqTt+zZbn4C10dWjHAIIJCVg9RfMrJ61BLh/ttZ6MBoEEEAAAQQQQAABBBAwLmD1518C1sbXkpIIIIAAAggggAACCCCAAAIIIOAZAQLWnnGlVQR8UoCAiE8umz7ootWayqFjp5I1iSIF88rBDQuSVdcblXw9YJ0wrG0fjFaeGxZ9IlUrlDZF6+2AtaOwttmAtP2EzdYnYG1qy1AYAQScCFj9BTMLZy0B7p+ttR6MBgEEEEAAAQQQQAABBIwLWP35l4C18bWkJAIIIIAAAggggAACCCCAAAIIeEaAgLVnXGkVAZ8UICDik8umDzpd3ufk9u07yZpE2rRBcuvUlmTV9UYlXw9Y9+v5pkSGdZOgoDTiLwHrts3qy4SovpIta2Z9S5gNSNvvJbP1CVh746+RPhHwPwGrv2D2P3HfnhH3z769foweAQQQQAABBBBAAIFAFrD68y8B60DencwdAQQQQAABBBBAAAEEEEAAAWsIELC2xjowCgQsIUBAxBLLkOxBELAeJg/mzJFsP/uK9mHdhKdOm+0kMnaqDBw9Sa829P2uEhESrP37xt//SK+IMTJ1ztf672eNj5TWTeuZ6sbbJ1g78jEbkLafsNn6BKxNbRkKI4CAEwGrv2Bm4awlwP2ztdaD0SCAAAIIIIAAAggggIBxAas//xKwNr6WlEQAAQQQQAABBBBAAAEEEEAAAc8IELD2jCutIuCTAgREfHLZ9EEXrdZUDh07laxJFCmYVw5uWJCsut6olBonWH+z4gdp1CFUn16zV16UqWMiJEf2rKamfPPWLek7fJzETp6j14vq10PUKdbq+uffm9J7SKxM/Gye/vvpHw6Rds0bmOrnyIlfpUXXcNmx54BWr27NyjJ7gm3oXP2uYfsQOXvuglamSvlSMmficMn3RB5TfanCaj6hg2P0et07NJexg0IkY4b0+s/MBqTtB2G2PgFr08tIBQQQcCBg9RfMLJq1BLh/ttZ6MBoEEEAAAQQQQAABBBAwLmD1518C1sbXkpIIIIAAAggggAACCCCAAAIIIOAZAQLWnnGlVQR8UoCAiE8umz7obn1GyKSZXyVrEl3bviYfj+qXrLreqJQaAWv7MHK5UsVk7qQoKZT/SVNTvnzlqrTtOVCWrtyg11PtvPFqHf3fI8Z9KuEjJuj/VuHryLBuEhSUxnBf9uN1FLA+efqstOreXzZt36O1my1rZlnx+QSpVK6k4X5UQUeh8ISh8fjG7Psr/UwR+SJuhBR9Kp+h/n7csVfqtOwh1/66oZV3VZ+AtSFWCiGAgAsBq79gZgGtJcD9s7XWg9EggAACCCCAAAIIIICAcQGrP/8SsDa+lpREAAEEEEAAAQQQQAABBBBAAAHPCBCw9owrrSLgkwIERHxy2fRBb96xV6o0/O9UZLPXpsWfSmWTIVuzfbizfGoErH87d15a9xggazft0Ie+Yu4Eeen550xNZc+Bw9IsuI8cPv7f6eJ5Hskti6fHigpsx1/f/7BF6rToof+7Sb1a8klMhOTMkd1wX3EzF0jXPlF6eUcBaxVU7hE+UmbOX6aXmzQqXLq0bWq4H1XQkc2iz2Lk1TrP27Rz8fIVzXD52s3az0sWKyRfxo2UpwvlN9TfF9+s0E7ljr8IWBtioxACCKRQwOovmFM4Paq7WYD7ZzeD0hwCCCCAAAIIIIAAAgikmoDVn38JWKfaVqAjBBBAAAEEEEAAAQQQQAABBBBwIkDAmq2BAAK6AAER398MyTnF2tdOr1arlBoB65u3bknf4eMkdvIcfWOoIHLskN6SKWMGQ5vlzp27Ej1xus3p1C/XqiIzxw2V3Lke0NtwdLL0wmlj5MVqFQ31c/Xadek5IFpmzFuql3cUsFa/VPMJHRyjl1Oh6CljBsjDuXMZ6suRv7Pgs33AWtVdt2CyPF+prMu+HPkTsHbJRgEEEHCDgNVfMLthijThRgHun92ISVMIIIAAAggggAACCCCQqgJWf/4lYJ2q24HOEEAAAQQQQAABBBBAAAEEEEDAgQABa7YFAgjoAgRE/GMzvNyqp35isKsZqRDud3PGuSpmud+nRsBaTXrVhq3SpON7ok5+Vle2rJll/pRoqVOjkiETdXq1OoH5wOHjevmxg0IkpHMrSfiCQAWxh8RMlsjYqXq5ds0byLhhYZI9WxaXfc1dtEI6vz9MH6eq4Cxgvf/gMWneuY/NmCaP7i/BrRrbjMlZp2d+/0Pa9hwoazZu14u806mFREe8IxnSp7ep5ujEbEfzd9SXIzsC1i63AgUQQMANAlZ/weyGKdKEGwW4f3YjJk1ZQuD6jb9l1/5DsnHbbtm8fY+oDwLu3HdQH1u+J/JI4QJPyrMln5ZqFctIpbIlTH1QzxKT9OAg7D9g6Or+1YNDoWkLCajnvIGjJ+kjmjU+Ulo3rWehETIUBBBAAIFAFbD68y8B60DdmcwbAQQQQAABBBBAAAEEEEAAAesIELC2zlowEgS8LkBAxOtL4LYBGDnJ2hdPro4HSq2A9eUrV6VLWJTMW7xSX5uiT+UTFUh2dQrz4eOn5O3waFmx7ke97nNlS2inVxcukDfRWjsKFEf16yGhXVonCi4nrLx5xx7p1mek7P75kE2bzgLW/968Kf1HTpSxk2bp5XM9kF0mjOgrb7z6UpIh6/MXL0vvIbEyc/4yva4K2cyeMEyqViidaE737t2T4R9Ok4joj20MPo0dJMUKF3C631WIu0e/UbJo+TqbMq4CKvb7ol/PNyUyrJsEBaVx298WDSGAgP8LWP0Fs/+vgG/NkPtn31ovRutY4O7du1qoevy0L2XR8rVy6c+rpqheeam6vPtWS6lRqZykTRtkqq43Cqt72jkLv5MGtatJofxPunUIBKzdymm4MbWH123+SY6c+FXeat3EcL3UKmj1gLXV/VJrnegHAQQQCEQBqz//ErAOxF3JnBFAAAEEEEAAAQQQQAABBBCwlgABa2utB6NBwKsCBES8yu/2zjfv2Cszvlwiqzduk2OnzmjtF8z7uLxQtYK0e/0VqVyupNv7TK0GUytgreajTu9r3WOAdnpf/KUCyQPeDZbObZpIlsyZbKatAszLVm2UflHj5eDRk/rv1OnXk0aFS8vGdR2GmNUp1jFxsyRs2Ec27XVu01T69+ooeR9/1Obnf//zr3y1dJUMGPWxzdjiCzkLWKvfq/C3OoV6y0/7bMbXvX1z6d21jTz0YE6bvtQL9w1bd0n4iAmaR8JrZP+e0rtLG6dhGlW+XuueNqdrqxPAR4S/Lc+WKGpjcfv2HVmzabv0HzlBtu36OdF2chWw/mbFD9KoQ6heTwXap46JkBJPP5VaW5N+EEDADwSs/oLZD4j9agrcP/vVcgbkZE78+psMGhMnM+YtTfH8VdB6dEQvebpQ/hS35YkG1OncXy7+XkaNny4ZM2SQL+JGiPrwpDsvAtbu1HTdlvpA5y9HTsjI8Z9pe3jo+10lIiTYdcVULmHVgLWv+KXyctEdAgggEFACVn/+JWAdUNuRySKAAAIIIIAAAggggAACCCBgSQEC1pZcFgaFgHcECIh4x51ezQvYB6zNt5C4hrNAsnrp/PnXy6VrnyibkLBqQQWtX6xeUcoULyJBQUFy4PBxWbtph8PAs6sgsmrP0YnZ6ucqnF21QhmpUr6UpE+fzmE/eR7JLWfPXdAnllTAWhVSJ7y17zUo0Vjt+zp15ndZtX6rTVg8vpPuHZpL9IB3EoXME+qqIHjIoLESN3NBIvQXq1WUGpXLanNy1I9qP2OG9BITN1ur6ypgvWPPAWnYPsTGQc2nTPGikiljBilcMK9E9e0h2bNlcceWoQ0EEPBTAau/YPZTdp+dFvfPPrt0AT9w9QG6r5aulvcjP3R47xoPpL6tpHCBJyVNmv++EUSd/rxz30GnfiqwrD5UqO7xHARivOau7rPffHeI/g0pru4rkztQAtbJlUtevflLVknH0CH6cxoBa3OOvuJnblaURgABBBAwI2D1518C1mZWk7IIIIAAAggggAACCCCAAAIIIOAJAQLWnlClTQR8VICAiI8uXAAOOzUD1opXhay//m5tolOpjdCrEPawPt21r6o28pXp585fkp4DomXe4pVGmtfKtG1WX5rUqyVNO72v13EVsFYFf9yxV96JGO3wtOikOleh5V7BLaXv2x2SDFfHt6FOzH47PFpWrPvR8JyUlwqlT/j0Sxk4epJWz1UQxllAPb7TmlXKyewJw+SxRx4yPA4KIoBA4AlY/QVz4K2ItWfM/bO114fRORZQ3xoyaeZXEj5ivMMPELZt1kBaNXlZShYrpH1Izf66eeuWdmrwF4u+l0kz5sulP6/aFFGh7OkfDtFC1la5Uiv4nFr9WMXV2+Owfy4kYG1uRXzFz9ysKI0AAgggYEbA6s+/BKzNrCZlEUAAAQQQQAABBBBAAAEEEEDAEwIErD2hSpsI+KgAAREfXbgAHHZqB6zjidVXqA+NmSrzl65MFEZxtAztmjeQ8Hc6mv7qcfX15ZNnLZRhH0xNFFhJ2I8KOod1by+9u7aRn/b+ItUaddJ/3aB2NZk5bqjkzJE9yR2iTiH8YMrnDsMxjiqqr34Pf+dNqVS2pKlTCVU/YyfNkonT5yVppwLpA94Nlq7tXtMCPQm/TttVwFqNV51i3SN8lGz5aV+i4RcukFfmTx0lpYoVDsC/GqaMAAJGBaz+gtnoPCiXOgLcP6eOM724T8DZt7Oo+8ru7ZtrH6JT34xi9FL3eNETZ8iYj2faVFEf/ouLDpeHHsxptCmPliP47FFerzXuKwHhhM80CmvW+Ehp3bSe19ziO/YVP69DMQAEEEDAjwWs/vxLwNqPNx9TQwABBBBAAAEEEEAAAQQQQMBHBAhY+8hCMUwEUkOAgEhqKNOHOwS8FbBWY1ehlNNn/5BlqzbK2k3bta9IP3j0pDYt9ZXoz5YoKjWrlJf6L1aVJ/I8bCqEbG/zx4VLsvj79drJzyowfPL0WVHhl4plSkidmpWkRaM6kvfxR7VqG7fttglYd2nbVGKH9HZ46qCjNVB9rd64XZav3Sy79x/Sv/pdnUBY+pnCUqtqeVGnYqs5xn9FvNm1VHZqDl8uXimrN2yTbbv2awHy+D5UKLzxyzXl4dy59KbNBqxVRRX0mTFvqXy7epNs3bXPJtC9Yu4Eeen558wOnfIIIBBAAlZ/wRxAS+ETU+X+2SeWiUEmENhz4LC06BouBw4f13+q7sVGR/SS1xq8kKz7PHUi9ti4WdJ3+Dgb68mj+0twq8Ypuh921+IRsHaXpLXa8ZWAMAFra+0bRoMAAgggcF/A6s+/BKzZrQgggAACCCCAAAIIIIAAAggg4G0BAtbeXgH6R8BCAgRELLQYDAUBkwLf/7BF6rToodfq3qG5jB0UIhkzpDfZEsURQACBwBaw+gvmwF4d682e+2frrQkjci7w9z//SsigsRI3c4FeSH14b9KocGnZuG6KgtDqG1jChn0kEz+bp7ddu3pFmfHRUFMnYntq/QhYe0rWu+0SsE6Zv6/4pWyW1EYAAQQQSErA6s+/BKzZvwgggAACCCCAAAIIIIAAAggg4G0BAtbeXgH6R8BCAgRELLQYDAUBkwLqxOb2vQbptYa+31UiQoJNtkJxBBBAAAGrv2BmhawlwP2ztdaD0SQtsGrDVmnS8T2bb/eIDOsmfd/uIGnTBqWYb/vun6XZW320byyJv6zy7SEErFO8vJZswFcCwpxgbcntw6AQQAABBETE6s+/BKzZpggggAACCCCAAAIIIIAAAggg4G0BAtbeXgH6R8BCAgRELLQYDCWgBA4ePSm9IsZIpowZpGzJp6V86WfkhWrlJUN6Y6dP/3vzpoRFfiQffTJXd5s7KUreeLVOQDkyWQQQQMAdAlZ/weyOOdKG+wS4f3afJS15VsDR/WLVCqVl1vhIyf/kY27p3FEf/Xt1FPXBvzRp0hjq4+7du6LujRd/v15Wb9gm23btl0t/XtXqVipXUrtXblS3hlR/7lnt3jmpS7XzRpd+svvnQ4b63rDoE1EmKbnMBLntw8EJ+799+45s2blPvvzme9m6a7/8uGOvNqyiT+WTZ0sUlUYv15T6L1SV7NmyuByu/cnldWtWltkThsmDOXNodU+d+V3mLlohK9b+KFt37dMC+PmeyCPPlS0hTerVMtyPasvevPQzReSLuBHauI1cRurbh5WTardL26YSO6S3y71iZGwJy9y7d09On/1Dlny/Xpat3iibtu3W9qlyq1mlnLRuWk+er/Ss/jyXkoD1zVu3ZNe+Q7J28w7ZvH2PHDh8XHOOv5RtscIFpEblsqLWVv07qb83d/u5e3xm14LyCCCAAAIpE7D68y8B65StL7URQAABBBBAAAEEEEAAAQQQQCDlAgSsU25ICwj4jQABEb9ZSibiYwL2QYzCBfLK/KmjpFSxwoZmsufAYWnRNVx72a4us/UNdUIhBBBAIEAErP6COUCWwWemyf2zzyxVwA90/8Fj0rxzH/1+UYGMHRQiIZ1biYPgSrK9Fn//g0z7/BtpWv8FLWD65GOPGApXq8Dqzn0HZdCYOC206upSIdKBoW/Jaw1ecPqhRF8NWO/af0gioj926ZDrgexaeD24deMkP5jpLGCdNUsmmTr7axk4epIeYnfkrvoZ8G6wdG33msugspGAdFJra6S+uwPCrvaa/e/PX7wsYyfNkonT59mcBm9f7pWXqsvoiF7ydKH8kpyA9fUbf8tnXyyWcdO+sAlUuxqv6nfIe120IL6jv213+XlqfK7mx+8RQAABBNwrYPXnXwLW7l1vWkMAAQQQQAABBBBAAAEEEEAAAfMCBKzNm1EDAb8VICDit0vLxCwuYB96UMM1+nXt585fki5hw2XR8nX6LDu80VDGDw+TLJkzWXzmDA8BBBCwnoDVXzBbTyywR8T9c2Cvvy/NPm7mAunaJ0ofspU+kKdOvp48a6H0HzkhycCqI++2zeprQfGHHsyZ6Ne+GLA+d/6ihA6OlZOnzxreXr2CW8rwvt2d3vs7ClhPix0o079cIuEjJhjuJynrgwUTxQAAIABJREFU+EaMBKST6tBIfXcFhA1PPEHBn/b+Iu8MGC0bt+02VF2dAj51TIQs/HaNFmSPv9TJ8eqUa2fX4eOn5O3waFmx7kdD/dgXUqH4CSP6yhuvvpQoZO0OP0+OL1kTphICCCCAQLIFrP78S8A62UtLRQQQQAABBBBAAAEEEEAAAQQQcJMAAWs3QdIMAv4gQEDEH1aROfiqgP1XhGfLmlm6t28uKjCR55Hciaalvj5dveAfEjPF5nQ79bXU6iu/U/r15r7qyLgRQACBlApY/QVzSudHffcKcP/sXk9a84yAow/zqbDshKi+ou45vXndvn1HxsbNkr7DxyUahjqBt3L5UpL38Uflzp07ok52XrV+a6LTlhvVrSFx0f3lkYdy2bTx+x8XZe6i5fLvzVuiDL785nv9BG91f932tfqSK2cOvU7T+rW0b4JJyWX/zTSlnykiX8SNEHXitv1lf/8/4N1OMnP+Mj1crdamaoUyUqV8KUmfPp2cOvO7Nn8VQra/kgrs2q9/7eoVpW7NyvJ+5Id6MyqQ26B2NSle9Cm5efOWrNv8k6zasDVRP907NJfoAe84DXMbCUgn5Wuk/tKVG2TfwaNaM/t+OSqzvlqmN1n/xaryfKWy+r/V3lGnnKdPly4ly6rVVd8W9GbIENny0z6btuztNm3fIxu37dI/LKBcc+d6QAu0x19JrZejD9CqeqqfCmWKS/nSxSRb1ixaU2pPbN6+Rzv93f5ytvdS6ufp8aV4oWgAAQQQQMCUgNWffwlYm1pOCiOAAAIIIIAAAggggAACCCCAgAcECFh7AJUmEfBVAQIivrpyjNsfBC5fuSpdwqJk3uKVNtNRwYqKZUpIpXIl9Bfpvxw5ob1Itw9XqLKj+r8jnds0laCgNP7AwhwQQACBVBew+gvmVAehwyQFuH9mg/iCwPmLl6VV9/6ycv39wKz6tpT+vTomOt02Nedz7949+fzr5drJ2tf+uqF3/cpL1WVQ6FtStuTTkiaN7T3t1WvXZfKsBTI0dopNnbfffF2iI3pJpowZHE7BTPA5JQZm+rEPWMf3m9QHLdVp33MWfifvDfnAJmjepF4t+SQmQnLmyJ5o+I4C9vZ99e7axuYUcLU2R078Kn2GjdNOX054qYB1aJc2Dp83jASkk/I1W9/ecOj7XSUiJDglS+iwrtp3PQdEy4x5S/Xfq3V6v1s77QOx2bP9F3iOv86euyAxk2fLmI9nOmzPWcD6zp27Ej1xus3J4qqfgSFvac949v2oxtVa7T94TDsh236t1OnuIZ1bOf07N+uX2uNz+0LSIAIIIIBAIgGrP/8SsGbTIoAAAggggAACCCCAAAIIIICAtwUIWHt7BegfAQsJEBCx0GIwlIAUUF8F3iN8lKhTxcxe6kSzmMGh2ldNp00bZLY65RFAAAEE/l/A6i+YWShrCXD/bK31YDSOBdSH817v0lf2HjiiF0jqBN3UcrQP06p+u7Vvpn1gMKmTtVWg9Ls1m6Vb3xE2pz3PnxItdWpUcjh8M8HnlMzfTD+OAtZq3hNH9JVWTV5OFC6PH5ejYLqq9+3scQ6/xcZZwFrViR3SW9o3f8Xp84MKvvcZ/pF8PH2+zlKscAGZN3mUFC9aMBGV2YC0fQNm65sNCCd3bRctXydte0booX4j65TU6ezO/v6On/pNWnYPtzkle/Lo/hLcqrHLD0P8efWavDNgtHYKevzl6qR6s36pPb7krhf1EEAAAQSMC1j9+ZeAtfG1pCQCCCCAAAIIIIAAAggggAACCHhGgIC1Z1xpFQGfFCAg4pPLxqD9TOD6jb9l8qyFMuyDqYm+/tzZVNWJdeorxdXXqDt48eBnQkwHAQQQ8KyA1V8we3b2tG5WgPtns2LWLr95x16Z8eUSWb1xmxw7dUYbbMG8j8sLVStIu9dfkcrlSlp7Ak5Gt3HbbqnWqJPNbzcs+sRhGDe1JqhCwrGT50jvIbF6l43q1pC46P7yyEO5XA5D1Z8652vp/P5wvWyHNxrK+OFhkiVzpkT1zQSfXXaeRAEz/TgKWKuTpIf37S4Z0qdPchjq2286hUbanFg8/cMh0q55g0T1nAWs1Snmfd/u4PLDmb//cVGC34u0+RCos5ORzQak7Qdrtr7ZgHBy1lY9n73dP1o++2KxXj38nY4y5L0uLu1U3ZBBMTJl9kKbrp0FrL9Z8YM06hCql03qZHJHc/n+hy1Sp0UP/Ve1q1eUOROH25xOnrCeWb/UHl9y1os6CCCAAALmBKz+/EvA2tx6UhoBBBBAAAEEEEAAAQQQQAABBNwvQMDa/aa0iIDPChAQ8dmlY+B+KKC+hnr9lp2ybPVG7bTBXfsP6iemFX0qnxamrlmlvNR/sao8kedhgtV+uAeYEgIIeEfA6i+YvaNCr84EuH/2n73Rrc8ImTTzqyQn1LXta/LxqH4+N2n70KWagLcD1mfPXZB27wyUleu3ap7qROCkTqB2hG7fRp5Hcsvi6bFSrlSxRMXNBJ9TssBm+rEPtyZ1CrX9mO7cuSsR0R/LiHGf6r8a+n5XiQgJTjR8RwHr58qWkM8nRkmBvI8Zmq79WF+uVUVmjhsquXM9YFPfbEDavnOz9c0GhA1N1q7QngOHpVlwHzl8/JT2m6RO8HbU/tad+6Vxx96i9mv85SxgvW3Xz7Jm03bZufcXOXH6rHR4vaF0advU8LA97Zfa4zM8cQoigAACCCRbwOrPvwSsk720VEQAAQQQQAABBBBAAAEEEEAAATcJELB2EyTNIOAPAgRE/GEVmQMCCCCAAAIIpETA6i+YUzI36rpfgPtn95t6o8WXW/WU5Ws3G+q6bs3K8t2ccYbKWqWQo5OSzQas7YObZubmqC91qna91j31DxA6C+wm1Y+jkPGkUeEOA6lmgs9m5mZf1kw/9utSs0o5mT1hmDz2yEOGhhA3c4F07ROllzUTsFZB7EGhnSUoKI2hvk6ePiutuveXTdv3aOWdhdnNBnztOzdbPzUC1vZ9tG1WXyZE9dU+FGDkuvbXDekRPlJmzl+mF3cWsDbSXlJlrOiXcLxmx5dSD+ojgAACCLgWsPrzLwFr12tICQQQQAABBBBAAAEEEEAAAQQQ8KwAAWvP+tI6Aj4lQEDEp5aLwSKAAAIIIICABwSs/oLZA1OmyRQIcP+cAjyLVDVycrX9UH3tJOtvVvwgjTqE2kzD2wFr+3Bw9w7NZeygEMmYIb2pnTFj3lJp32uQXiekcysZ2b+npE+XzqYdM8FnUwOwK2ymH/vgbnCrxvJh5HuSOVNGQ0MwGi52dIL1irkT5KXnnzPUjyp04+9/pFfEGJk652u9ztxJUfLGq3Vs2khpgNZsfaMGhidqV9BRiD9mcKiofWbmUieNh4+YoFchYH1Isyj9TBH5Im6EqG9o4kIAAQQQ8I6A1Z9/CVh7Z1/QKwIIIIAAAggggAACCCCAAAII3BcgYM1uQAABXYCACJsBAQQQQAABBAJdwOovmAN9faw2f+6frbYi5sazecdeqdLwTXOV/r/0psWfSuVyJZNVN7UrqdOiqzXqZNOtNwPWjkKr9V+sKs9XKmuaZt8vR2XWV/dPBnZ2urCZ4LPpQSSoYKYf+3Cw2ZC50XCxfcC6ZLFC8mXcSHm6UH5TU42MnSoDR0/S6zg6MdtsQNp+AGbrGzUwNdEEhY0Gy121/8U3K6RF13C9mDsD1jdv3ZKjJ07L2k075Kulq2XVhq16P64CzJ72UwNJyfhcufJ7BBBAAIGUC1j9+ZeAdcrXmBYQQAABBBBAAAEEEEAAAQQQQCBlAgSsU+ZHbQT8SoCAiF8tJ5NBAAEEEEAAgWQIWP0FczKmRBUPCnD/7EHcVGg6OadXxw/Ll06x3rHngDRsHyJnz13QVR2dPpwUuX3w1czy2Ie5HZ2obKa9pMrWrVlZZk8YJg/mzGFTzEzwOSVjMdNPSsOtRuvbe9euXlHmTBwuDz2Y09RU7U8d79fzTYkM6yZBQWn0dswGpO0HYLa+UQNTE01Q2H491a/MfjhB1bH/kIPZgPXdu3flyrW/5OTp3+X8xcuiPliw58Bh2b3/kOzcd9Dp9FIrYO2p8SV33aiHAAIIIGBcwOrPvwSsja8lJRFAAAEEEEAAAQQQQAABBBBAwDMCBKw940qrCPikAAERn1w2Bo0AAggggAACbhSw+gtmN06VptwgwP2zGxC92ETRak3l0LFTyRpBkYJ55eCGBcmqm9qVTp4+K62695dN2/foXccMDpWQzq3cPhRHQWwC1iOk6FP5ElmnNBxstL59wNpZCN3VZrDvr0vbphI7pLdkyphBr2o2IG3fp9n6Rg1czc3Z770ZsFbrpk6l/vSLb2TV+q1y6c+rpqfhyYB1aozP9ISpgAACCCBgWsDqz78ErE0vKRUQQAABBBBAAAEEEEAAAQQQQMDNAgSs3QxKcwj4sgABEV9ePcaOAAIIIIAAAu4QsPoLZnfMkTbcJ8D9s/ssvdFSurzPye3bd5LVddq0QXLr1JZk1U3tStf+uiE9wkfKzPnL9K4dhWPdMS4C1lekdY8BsnztZo0zqYBrSsPBRusTsE7+zvZGwFqdBr1643YJHzFetu362fDgcz2QXZ4t8bT8fPiYflq9JwLWqTk+w5OnIAIIIIBAsgWs/vxLwDrZS0tFBBBAAAEEEEAAAQQQQAABBBBwkwABazdB0gwC/iBAQMQfVpE5IIAAAggggEBKBKz+gjklc6Ou+wW4f3a/aWq2GCgBa2UaO3mOhA6O0XmfK1tCPp8YJQXyPuZW8uQGrGeNj5TWTeu5dSwJG7MPyroKniZ3IGb6MRqQdjYWo/XdFbC230ND3+8qESHBNsMzewK1/dzM1jdq4K71VO3Yn8hupO2N23ZLtUad9KLO9rv6wMekmV9p4Wr1wQhnV74n8kjxogXl2RJFpVypYtr/fSLPI3L05Gl5o0s/2f3zIa2qq31u1i+1x2fEljIIIIAAAikTsPrzLwHrlK0vtRFAAAEEEEAAAQQQQAABBBBAIOUCBKxTbkgLCPiNAAERv1lKJoIAAggggAACyRSw+gvmZE6Lah4S4P7ZQ7Cp1GzRak3l0LFTyeqtSMG8cnDDgmTV9UalrTv3S+OOvfWTbdUYpo6NkE4tG7l1OEYC1v/8e1N6D4mViZ/N0/uO6tdD+vV8061jSdiYmeBzSgZhph+z4Vb7cRmtbx+wVoHcuZOipFD+Jw1P9d69ezIkZooMGTtZrxMzOFRCOreyacNsQNp+AGbrGzUwPFG7gvZ26tfJ+TDA9z9skToteuitO2tj9YZt0qZnhM3fqTqZumWTl+WV2tWkxNOF5OHcOSV9unQOp+Rpv9QeX3LXjXoIIIAAAsYFrP78S8Da+FpSEgEEEEAAAQQQQAABBBBAAAEEPCNAwNozrrSKgE8KEBDxyWVj0AgggAACCCDgRgGrv2B241Rpyg0C3D+7AdGLTXTrM0I7LTY5V9e2r8nHo/olp6pX6ly/8be83T9aPvtisd5/g9rVZOqYCHn04QfdNiYjAWvV2Yhxn0r4iAl6v13aNpXYIb0lU8YMbhtLwobMBJ9TMgAz/aQ0HGy0vn1IOM8juWXx9Fjt5GOjlzpNuUf4SJk5f5leZdFnMfJqnedtmjh5+qy06t5fNm3fo/3c1QnK9v3/uGOv1GnZQz+92VV9owZG52lfzlGwPDKsm/Tv1VEcBL6cdhM3c4F07ROl/95RwNrR32jVCqUlLrq/dlq1kcuTAWtvjM/InCmDAAIIIJAyAas//xKwTtn6UhsBBBBAAAEEEEAAAQQQQAABBFIuQMA65Ya0gIDfCBAQ8ZulZCIIIIAAAgggkEwBq79gTua0qOYhAe6fPQSbSs1u3rFXqjRM3qnJmxZ/KpXLlUylkbqnm0XL10nbnhF6eFW1OrJ/T+ndpY2kTRvklk6MBqy/WfGDNOoQqvf5XNkS8vnEKCmQ9zHD41Dh19jJc2TekpWS/4k8UrJYIalUtqTUqFxOgoLS2LRjJvhseAAOCprpJ6XhYKP1HZ3CbPb0cqPBXfv5qzX5Mm6kPF0ovyHWL75ZIS26hutlvR2wVgOxH1OzV17UPpiQI3tWQ3Myegr2ngOHpVlwHzl8/L9T9bNlzSzzp0RLnRqVDPWjCv3w409So2lnj/h5Y3yGJ05BBBBAAIFkC1j9+ZeAdbKXlooIIIAAAggggAACCCCAAAIIIOAmAQLWboKkGQT8QYCAiD+sInNAAAEEEEAAgZQIWP0Fc0rmRl33C3D/7H7T1G4xOadY+9rp1fGm6gTakEExMmX2Qp1ZhTgnjQqXlo3rmjqR19k6GQ1YHz/1m7TsHi5bftqnNzV5dH8JbtXY8DjO/P6HtO05UNZs3K63ETM4VEI6t0o0PDPB55TsQTP9GA1IOxuP0fqOAr4d3mgo44eHSZbMmQxN95PPF0lw70i9rLP69vNXFdYtmCzPVyrrsp+bt25J3+HjtNB8/GWFgLX9nlYngM/9OMrQnNQ89h88Js0795EDh4/r83J0gvX3P2yROi166GWqlC8lcyYOl3xP5HFppwrEf+Cg95BYj/h5Y3yGJk4hBBBAAIEUCVj9+ZeAdYqWl8oIIIAAAggggAACCCCAAAIIIOAGAQLWbkCkCQT8RYCAiL+sJPNAAAEEEEAAgeQKWP0Fc3LnRT3PCHD/7BnX1G715VY9ZfnazYa6rVuzsnw3Z5yhslYspEKeb4YMsQk253ogu6hgcuum9VJ0kvX5i5dl7KRZMnH6PJtTsjcs+kSqVihtw/HvzZvSf+RErXz8pU6x/jR2kBQrXMAl3Z07dyUmbpaEDftIL6uCqF9/OlbKFC+SqL6Z4LPLzpMoYKYfowFpZ90Zre8oYK2C9TPHRUqjujVcTvfEr79Jm7cjZOO23XrZr6ZGS9P6LySqe+2vG9IjfKTMnL9M/93YQSFa6N1BQMqmvjohWZ1enTCIbIWAtdqrYZEfyUefzNXH2655Axk3LEyyZ8uSpN/t23dk0Jg4ifpomk05RwFr+1Pdy5UqJnMnRUmh/E+6XCNVwNN+3hifoYlTCAEEEEAgRQJWf/4lYJ2i5aUyAggggAACCCCAAAIIIIAAAgi4QYCAtRsQaQIBfxEgIOIvK8k8EEAAAQQQQCC5AlZ/wZzceVHPMwLcP3vG1RutGjnJ2ldPrrb3VGHyLmFRcvL0WZtfqdBo37c7yNOF8rsMwyas+MeFS1qgdty0LxK1qco5Clirn2/f/bM0e6uPTZ0GtavJhKg+SZ7aq07qVadWdwwdalO3d9c2Mrxvd8mQPn2iLWQffC5cIK/MnzpKShUr7Nbt5isBazVpFWhX1irI6+xSoXl1InLCwPSrdZ6XKWMGyMO5cyWqptZm+IfTJCL6Y/13RoLz6jTyHv1GyaLl62zaNBuw7tfzTYkM6yZBQWncuq6O9urg3p0lrEd7yZQxg8O+7t69K3MWfifd+420+cCBKuwoYP3jjr1Sp2UPm7Izxw3VPvjgKpyuTsnuEjbcJgSv+ilZrJB8GTdS+5t2dNmH9JPy88b43LqINIYAAggg4FDA6s+/BKzZuAgggAACCCCAAAIIIIAAAggg4G0BAtbeXgH6R8BCAgRELLQYDAUBBBBAAAEEvCJg9RfMXkGhU6cC3D/71+bYvGOvzPhyiazeuE2OnTqjTa5g3sflhaoVpN3rr0jlciX9YsIqBLvw2zUSOjjWYSD6lZeqy1utm2inTqvTre2DLSo4qoLEW3fuFxXQXLJyfaIAqYJSdQe8Gyxd273mMITq6BRqVU+FalVQuvbzFROFpa/f+Fsmz1oowz6YKpf+vKqvh6sQ75Wrf0nwe5Eyf8kqvU5Uvx4S2qW1w0B2chfalwLWao5Fn8onA0PfktcavGDjoPbIzn0HpV/UeFmx7kedQ518PX9KtNSpUckpkTrpul7rnjZ7QpUfEf62PFuiqM1+Uic8r9m0XfqPnCDbdv2cqE1XAWv7U5XVPpg6JkJKPP1UcpfQYT01zrFxs6TvcNvT69WHEoa810XyP/mYTb2r167Lh1M/l9Efz3D4t+EoYH323AVp985AWbl+q96WOpV9WJ9u0rxhbYf7VH24YfqXS2Tk+M9s/h4SDsbZBxxUGTN+3hifWxeRxhBAAAEEHApY/fmXgDUbFwEEEEAAAQQQQAABBBBAAAEEvC1AwNrbK0D/CFhIgICIhRaDoSCAAAIIIICAVwSs/oLZKyh06lSA+2c2h68KqACtCpS/O3CMw2Br/LxUSLp08SKSLm1a7UdX/7ou6iRbV5cKaavgqX2g1r6eCkyHDftIJn42L1GTKlxas0o5KVa4gPa7/QePytKVGxIFSVW5D4b2lsYv13Q6rJu3bmnh2NjJc2zKqICxqq8uFbauW7Oyq6kl+XtfCVjneSS3qMBs/KUcXqxeUfI+/qhc++u6FvLd8tO+RHMd2b+n9O7SRtKmDXLq8Pc//0rIoLESN3NBojIvVqsoNSqXlfTp08mpM7/LqvVb5eDRk3q57h2aS8YM6SUmbrb2M1cB6x17DkjD9iE2c1Eh8DLFi2qh/sIF80pU3x6SPVuWFK2rquxsr6r+qlYoI1XKl9JOzt61/5A2r4QfALDv3FHAWv1NTp3ztXR+f3iisar1qVy+lH4Stdpn67fsTPS3WKHMM5IlcyZZu2mH3sa6BZPl+UplHc7fjJ83xpfiRaMBBBBAAAGXAlZ//iVg7XIJKYAAAggggAACCCCAAAIIIIAAAh4WIGDtYWCaR8CXBAiI+NJqMVYEEEAAAQQQ8ISA1V8we2LOtJl8Ae6fk29HTWsIODsROrmjUwHlPj3aayHaNGnSGGpGjSHqo08l6qNphsonLKTC0TGDQ6RJvVqJTtq2b2zR8nXStmeEwxOFVdlJo8KlS9umpseQsIKvBKy/jBsp85aslHmLVxqarwoRR/V7W7q2fS3JcHV8Y4ePn5K3w6NtTr921ZE6NV0FuCd8+qUMHD1JK+4qYH35ylXpEhbldB4qoD97wjB57JGHXHVv6PcqNK2C+lNmLzRUXhVSJ8G3bdZAuvaJ0us4ClirX6q/hf4jJ2qnX5u9OrZ4VYb37SGffvGNhI+YoFef/uEQUSdtO7rM+qX2+MwaUB4BBBBAwLyA1Z9/CVibX1NqIIAAAggggAACCCCAAAIIIICAewUIWLvXk9YQ8GkBAiI+vXwMHgEEEEAAAQTcIGD1F8xumCJNuFGA+2c3YtKUVwX+uHBJvly8UibPWiB7DxwxNRZ1yrUKkAa3aizPFClgOFidsJO7d+/K6o3bZWjMFO1kXiOXCo2qU7LzP/mYkeKiTlaOnjBdBo+d7LB8v55vSmRYN+0U4uRevhKw3rDoEylVrLCMHP+ZjJs212noXDkYPY3c3uz8xcsydtIsmTh9XpLtq/0z4N1g6druNe3U6cjYqYYD1qpPdQpzj/BRDk/cLlwgr8yfOkqbq7uuf2/elK+Wrtb2asLTtx21Hx96PnrytFRr1Ekv4ixgrQqofTppxlcy7IOpSZ6CHd+Y/YcavlnxgzTqEKr3pT40EDukt2br6DLrl9rjc9e60Q4CCCCAgGMBqz//ErBm5yKAAAIIIIAAAggggAACCCCAgLcFCFh7ewXoHwELCRAQsdBiMBQEEEAAAQQQ8IqA1V8wewWFTp0KcP/M5vA3ARV0/vW3c7Jy/Vb5ae8vcuDwcdm9/5Ae9FQnGZcpXlSeyv+EVCj9jDxXtoSULFZI0qdL5xaK27fvaH1+/d1a+fGnvbL/4DE5efqs1nbRp/JJscIFpE6NSlro94k8D7s8tdp+UGp+67fsks++XCybt++xCci2bVZfJkT1FTXH5F6+FLBWJyvfu3dPfjlyQuYs/E6WrtwgO/cd1KZeqVxJqV29ojR+uaY8W6JoskLzqh3Vvlo/Fd5fvWGbbNu1X9tL6uTx0s8Ulga1q2l9PJw7l05uNmCtKqow94x5S+Xb1Ztk6659NoHuFXMnyEvPP5fcJXVa7+q167Js9UZZ9N1azS0+bB1v98ardfQPHGzctttwwDq+Q/Whh8Xfr5eVP2yxaT/erlbV8qLC1ervIuFp8cdP/SYtu4frgXP1NzN3UlSSIfPk+KXm+Ny+eDSIAAIIIKALWP35l4A1mxUBBBBAAAEEEEAAAQQQQAABBLwtQMDa2ytA/whYSICAiIUWg6EggAACCCCAgFcErP6C2SsodOpUgPtnNgcCCFhdQJ04HDJorMTNXKAPVZ1grQLWXAgggAACCCAQ2AJWf/4lYB3Y+5PZI4AAAggggAACCCCAAAIIIGAFAQLWVlgFxoCARQQIiFhkIRgGAggggAACCHhNwOovmL0GQ8cOBbh/ZmMggIDVBQhYW32FGB8CCCCAAALeE7D68y8Ba+/tDXpGAAEEEEAAAQQQQAABBBBAAIH/BAhYsxMQQEAXICDCZkAAAQQQQACBQBew+gvmQF8fq82f+2errQjjQQABewEC1uwJBBBAAAEEEHAmYPXnXwLW7F0EEEAAAQQQQAABBBBAAAEEEPC2AAFrb68A/SNgIQECIhZaDIaCAAIIIIAAAl4RsPoLZq+g0KlTAe6f2RwIIGB1AQLWVl8hxocAAggggID3BKz+/EvA2nt7g54RQAABBBBAAAEEEEAAAQQQQOA/AQLW7AQEENAFCIiwGRBAAAEEEEAg0AWs/oI50NfHavPn/tlqK8J4EEDAXoCANXsCAQQQQAABBJwJWP35l4A1excBBBBAAAEEEEAAAQQQQAABBLwtQMDa2ytA/whYSICAiIUWg6EggAACCCCAgFcErP6C2SsodOpUgPtnNgcCCFhdgIC11VeI8SGAAAIIIOA9Aas//xKw9t7eoGcEEEAAAQQQQAABBBBAAAEEEPhPgIA1OwEBBHQBAiJsBgQQQAABBBAIdAGrv2AO9PWx2vy5f7baijAeBBCwFyBgzZ5AAAEEEEAAAWcCVn/+JWDN3kUAAQQQQAD72AyaAAAgAElEQVQBBBBAAAEEEEAAAW8LELD29grQPwIWEiAgYqHFYCgIIIAAAggg4BUBq79g9goKnToV4P6ZzYEAAlYXIGBt9RVifAgggAACCHhPwOrPvwSsvbc36BkBBBBAAAEEEEAAAQQQQAABBP4TIGDNTkAAAV2AgAibAQEEEEAAAQQCXcDqL5gDfX2sNn/un622IowHAQTsBQhYsycQQAABBBBAwJmA1Z9/CVizdxFAAAEEEEAAAQQQQAABBBBAwNsCBKy9vQL0j4CFBAiIWGgxGAoCCCCAAAIIeEXA6i+YvYJCp04FuH9mcyCAgNUFCFhbfYUYHwIIIIAAAt4TsPrzLwFr7+0NekYAAQQQQAABBBBAAAEEEEAAgf8ECFizExBAQBcgIMJmQAABBBBAAIFAF7D6C+ZAXx+rzZ/7Z6utCONBAAEEEEAAAQQQQAABowJWf/4lYG10JSmHAAIIIIAAAggggAACCCCAAAKeEiBg7SlZ2kXABwUOTksn9+7e1kdetP4W+d//gnxwJgwZAQQQQAABBBAwL3Dv3h05uOw5veL/0qSVoh1vmW+IGgEjQMA6YJaaiSKAAAIIIIAAAggg4HcCBKz9bkmZEAIIIIAAAggggAACCCCAAAIIuFmAgLWbQWkOAV8WOPRZVrl7+7o+hSIvr5c0QZl8eUqMHQEEEEAAAQQQMCxw987fcui76nr5NGmzSJEOfxmuT8HAEyBgHXhrzowRQAABBBBAAAEEEPAXAQLW/rKSzAMBBBBAAAEEEEAAAQQQQAABBDwlQMDaU7K0i4APChye9bDc+ee8PvJCtVdI2gy5fHAmDBkBBBBAAAEEEDAvcPvfS3JkZR29YlDGh6Rwmz/MN0SNgBEgYB0wS81EEUAAAQQQQAABBBDwOwEC1n63pEwIAQQQQAABBBBAAAEEEEAAAQTcLEDA2s2gNIeALwsc+7KQ3Lx6VJ9CwZoLJH2WvL48JcaOAAIIIIAAAggYFrh5/ZQcW9tUL58++1NS8PUjhutTMPAECFgH3pozYwQQQAABBBBAAAEE/EWAgLW/rCTzQAABBBBAAAEEEEAAAQQQQAABTwkQsPaULO0i4IMCJxZVkH/Ob9dHnq/qZ5LpgRI+OBOGjAACCCCAAAIImBf4+899cnJjB71ixofKS/5G28w3RI2AESBgHTBLzUQRQAABBBBAAAEEEPA7AQLWfrekTAgBBBBAAAEEEEAAAQQQQAABBNwsQMDazaA0h4AvC/y6vL5c//VbfQpPlI+RrI8878tTYuwIIIAAAggggIBhgb/O/SCnt4fq5bM8WU+erLvMcH0KBp4AAevAW3NmjAACCCCAAAIIIICAvwgQsPaXlWQeCCCAAAIIIIAAAggggAACCCDgKQEC1p6SpV0EfFDg7A8d5cqhT/WRP1oyXB7I29QHZ8KQEUAAAQQQQAAB8wJ/nlogv++N0ivmKPKm5Hl+mvmGqBEwAgSsA2apmSgCCCCAAAIIIIAAAn4nQMDa75aUCSGAAAIIIIAAAggggAACCCCAgJsFCFi7GZTmEPBlgQs7BsqFnZH6FB4s1FEeKtrdl6fE2BFAAAEEEEAAAcMC5w9OlItH7geqcz8bIbnLDTVcn4KBJ0DAOvDWnBkjgAACCCCAAAIIIOAvAgSs/WUlmQcCCCCAAAIIIIAAAggggAACCHhKgIC1p2RpFwEfFPjz4Cfy+/pgfeTZH39ZHiszzAdnwpARQAABBBBAAAHzAr/tGiBXz3ynV3y0+lR5oGgn8w1RI2AECFgHzFIzUQQQQAABBBBAAAEE/E6AgLXfLSkTQgABBBBAAAEEEEAAAQQQQAABNwsQsHYzKM0h4MsCN86ukVNLX9CnkPGB4pK/6nRfnhJjRwABBBBAAAEEDAuc2Nhe/vlzv14+b4PVkjlPLcP1KRh4AgSsA2/NmTECCCCAAAIIIIAAAv4iQMDaX1aSeSCAAAIIIIAAAggggAACCCCAgKcECFh7SpZ2EfBBgdvXz8iRz5/QR54mbRYpUnedD86EISOAAAIIIIAAAuYFDi2vIXdvX9crFmp5WtJmedx8Q9QIGIFfPkkrcu+OPt+n628V+V+agJk/E/UdgdkLvpU2b0c4HPCkUeHSpW1Tt0zmytW/JPi9SJm/ZFWi9jYs+kSqVijtln681cjBoyfljS79ZPfPh7Qh1K1ZWWZPGCYP5szhrSHJxctXpHWPAbJ87WZ9DP5g7TXQVOrY/m9y6PtdJSLk/jeKJRyGmbKpNHxT3fj6+E1NlsIIIICALwncuyu/LKt4f8T/C5KnO9221Az+979ErzB94Z2mpQwZDAIIIIAAAggggAACCCCAAAIIpEzAF/7HiHsJp3jvns0/UzZ7aiOAQCKBwzMflDv/XtJ//lStRZIuM8EitgoCCCCAAAII+LfArRtn5OiaRvokgzLkksJtL/r3pJldigUOfppJ7t35R2+naL1N8r806VPcLg0g4G6BpALWbZvVlwlRfSVb1swp7nbHngPSsH2InD13IVFb/hD6JWCd4i1CA/8vYCZ0bKZsagKf+PU3+fzr5dK13WuSM0d2p11bdfypaUVfCCCAgBUF7t29KQe/raIP7X9BGaXom39baqgErC21HAwGAQQQQAABBBBAAAEEEEAAgYAUIGAdkMvOpBFwLnBqaU25cfb+qdWPlxst2R6tBRkCCCCAAAIIIODXAtd+XyNndryvzzFznhqSt8Fav54zk0u5wKEZD8jdm1f0horUWSNp0mVLecO0gICbBZIKWBcukFfmTx0lpYoVTnGvsZPnSOjgGIftELBOMa/DBjjB2jOunm7VTOjYTFlPj1u1r/bctM8Xycjxn0mFMsVdnuJutfGnhhF9IIAAAr4gcPfWNTm04v7/7p8mfQ4p0u5PSw2dgLWlloPBIIAAAggggAACCCCAAAIIIBCQAgSsA3LZmTQCzgXO/fiuXN73oV7gwUId5aGi3SFDAAEEEEAAAQT8WuD8wYly8cg0fY45S/SSRyp94NdzZnIpFzgy5zG5feOs3lChF7+VtBkfSnnDtICAmwWSClirriaNCpcubZumqNcrV/+S4PciZf6SVQ7bIWCdIl6nlQlYe8bV062aCR2bKevpcR89cVra9IyQH3fs1bqqW7MyAWtPo9M+Aggg4CGB2/+clyOr6umtp82cRwq1+s1DvSWvWQLWyXOjFgIIIIAAAggggAACCCCAAAIIuE+AgLX7LGkJAb8QuHpklvy2tq0+lyy5n5Mnn5vgF3NjEggggAACCCCAgDOBX7f0kOsXtui/fqzmTMleqA1gCCQpcGxeEbl55bBepmDNryR9lnyoIWA5AVcB6w5vNJTxw8MkS+ZMyR77jj0HpGH7EDl77oLDNghYJ5s2yYoErD3j6ulWzYSmzZT19LgPHj0pb3TpJ7t/PqR1RcDa0+K0jwACCHhO4Ob1k3Js7Wt6B+lzFJaCzf/777tVLgLWVlkJxoEAAggggAACCCCAAAIIIIBA4AoQsA7ctWfmCDgUUAERFRSJv9IEZZQiL29ACwEEEEAAAQQQ8GuBQ99Vk7t3/tHnqF4sqxfMXAgkJXDi6wryz4XtepH8VadLxgeKg4aA5QTsA5p5Hskt2bNmERWWVFexwgVk3uRRUrxowWSN/d69exI7eY70HhKr1X84dy75+59/5NpfN/T2CFgni9ZlJQLWLoksWcBKoWkzQMkJWJtpn7IIIIAAAqkn8M+f++XExvZ6hxlzl5f8jbel3gAM9ETA2gASRRBAAAEEEEAAAQQQQAABBBBAwKMCBKw9ykvjCPimwJHPn5Tb10/rg89X5RPJlLO0b06GUSOAAAIIIIAAAi4E/r68W05u6qSXSpvlCSnU8lfcEHAp8Ou3deT6me/1ck9W/EiyPFTFZT0KIJDaAvZhTnXqbOlnCkv0xBn6UKaOjZBOLRsla2iXr1yVTqGRsvDbNVr9bu2byeFjp2Tl+q16ewSsk0XrshIBa5dElixAwNqSy8KgEEAAgYASuH5+k/y69R19zlkef0merLfCUgYErC21HAwGAQQQQAABBBBAAAEEEEAAgYAUIGAdkMvOpBFIWuC3Na3l6tE5eqHcRbpK7sLBsCGAAAIIIIAAAn4pcOHwVLlwaJI+t+xPtZLHas32y7kyKfcK/LamlVw9+rne6GNlhkr2x+u7txNaQ8ANAo4C1u++1VI6hg6Vs+cuaD10eKOhjB8eJlkyZzLd49ad+6Vxx95aW9myZpbpHw6RuJkLZPnazXpbBKxNsxqqQMDaEJPlChGwttySMCAEEEAg4ASunlkmv+0amOA5uKU8Vuv+OwErgBCwtsIqMAYEEEAAAQQQQAABBBBAAAEEAluAgHVgrz+zR8ChwJ8HP5Hf198PVGfO9azkrTwFLQQQQAABBBBAwC8FTm1+S25c2qnP7dHqU+WBovdPtPbLSTMptwic+/FdubzvQ72th4u9K7kKtnFL2zSCgDsFHAWsJ47oK32GfyTzl6zSuipWuIDMmzxKihctaKrre/fuSezkOdJ7SKxWr0m9WjJqQE/p2X80AWtTkskrTMA6eW7erkXA2tsrQP8IIIAAApeOzZI/DnygQ+Qs0UseqXT/31YQImBthVVgDAgggAACCCCAAAIIIIAAAggEtgAB68Bef2aPgEOBW3+dkqNz89n8rlDtFZI2Qy7EEEAAAQQQQAABvxK4/e8lObKyjs2cnmpxUtJlzetX82QynhG4uHuknN/WT288V8HW8nCxEM90RqsIpEDAUcB69oRhMmPeUgkdHKO3PHVshHRq2chUT5evXJVOoZGy8Ns1Wr2xg0KkXfMG0ubtiBQFrK9euy7rt+yU+UtXye79h2TnvoNa+7keyC4VyhSXqhVKS+OXa2rB8LRpg0yNOWHhv//5V7b8tE8bv+ovvp8alctK/RerSYtGdSTv449qVQ4ePSlvdOknu38+pP27bs3KohwfzJnDUP8qjH767B+y5Pv18t2aTbL758Ny8vRZre6zJYpK6eJFpP4LVbV2s2fLYqhNTweslU/IoLHaieSO5nzqzO8yd9EKWbH2R9m6a59c++uG5HsijzxXtoQWtlfzSe5curRtKrFDekvGDOllz4HD8uGUubJo+Vq59OdVqVSupNSuXlHeeLWOPFOkgKRJk8apl7O9pMZZ+pnCUqtqeW0vqX87CHIZWgdV6I8Ll2Tl+q2yaPk6bU+ptVX79cXqFaVp/Rek4UvV9RPizQSszZR1NFg1rtUbt2t/jwn/loo+lU/bd7Wff04b28O5Hf9vPhu37ZZqjYx98Kz0M0Xki7gRotqOv9wxfuW6eMUP2t+n+jtUV8L1e7VODcn/ZJ4k90FCG/s5zRofKa2b1tOK3L17V34+dFy++GaFrNv8k+zaf1Df12q/NKhdTdsvzrwMbxgKIoAAAl4W+ONArFw6dv+bmx6qMEIeLN3Xy6Oy7Z6AtaWWg8EggAACCCCAAAIIIIAAAgggEJACBKwDctmZNAKuBU4sqiD/nN+uF3y0VIQ88KS5F+2ue6EEAggggAACCCDgXYE/f10kv++J1AeR8aHykr/RNu8Oit59RuDKkZlydm07fbzZ87wkj5Ud4TPjZ6CBI+AsYH3i19+kYfsQOXvugoYRH2jNlDGDYZytO/dL4469tTbyPJJbvp42Vp7K/4S07jEgWQHr8xcva2He2MmztSCtq6v6c8/KwNC35IWq5Q2HK1WbKkSpQqfhI8bLtl0/O+1GBWSHvt9Vgls3lhO/nk12wFpZDxoTp4XaXV2qzwHvBkvnNk30QK6zOt4KWGfNkkmmzv5aBo6elOQ6xc+la7vXxNW+sp+L2o/RA3rJjPlLtXVS4W37S+25xdNjpVypYol+d/3G3zJ51kIZ9sFUQ3tJfTBgyHtdJP+Tj7laIpvfG+2nQpln5IOh70nlciVlzsLvtA8hxF9qj0WE3P8msYQdJDegrP6WPpjyuUyaMd/l/NU69XjzdXm/WzvJljWzzfy8FbBWfzNjJ82S6fOWOFx7+0VSgf4B73bSQuOugvLOAta//nZOBoya6PLvVBn17NhC+r7dIZGXqc1DYQQQQMCLAr/91E+unv1eH0GemjMkR6G2XhxR4q4JWFtqORgMAggggAACCCCAAAIIIIAAAgEpQMA6IJedSSPgWuDCT0Pkwk+D9YJZH64uT1T47yufuRBAAAEEEEAAAX8ROL0tRP76Y70+ndxlB0vusoP8ZXrMw8MCN86uk1NLa+q9ZHqghOSr+pmHe6V5BMwLOAtYpw0KkuD3ImX+klVao45On02qN3Uic+zkOdJ7yH/Piirg+ElMhNy9ey9ZAeuf9v4i7wwYLSr8aOZSYcew7u2ld9c2LkO8ql11KrMKbkZPnG4ouKnqRPXrIa/Uri5tew40dYK1CnJ/tXS1vB/5oX5atdG51alRScZHhUnhAs6/VcEbAetpsQNl+pdLJHzEBKNTkbbN6munmz/0YE6ndezn8lbrJlK+dDF5b+gHTtepwxsNZfzwsERB9F+OnJBeEWNkxbofDY9RFVSnIscMDtH2squQriqvTqkOGRSjn+DuqjPV/rSYgfLbufPaXoq/3BmwVn+X6uTlrn2i9NOeXY0r/vfqdOYJUX00h/grtQPWavzqtO13B441PX4VFI8ZHKqdRp3UyfaOAtYF8z0u3fqM1P++jZg1b1hbxg0Lk0ce4hvfjHhRBgEErCVwcmMH+fvPffqg8jZYK5nz1LDUIAlYW2o5GAwCCCCAAAIIIIAAAggggAACASlAwDogl51JI+Ba4N+Lu+T4wmdtChaqvULSZuClkWs9SiCAAAIIIICALwjc/veSHFlZx2aoBZrslAwPlvGF4TNGCwjc+uukHJ2bXx+JuldW98xcCFhNwFnA+sGcObSAdOjgGH3Is8ZHauFEI9flK1elU2ikHi5VAdqQzq2003LNnmCtAqHtew1KFEJW4emqFcpIlfKlJH36dHLqzO+yav1Wh8HLXsEtZXjf7kme+nz79h0ZGzdL+g4fl2iKz5UtIbWrV5RsWbM47Ce0S2v5/octsvfAEa1u3ZqVZfaEYaIcHV0qKPr518u1oKv96ctFn8onlcuXkqcL/fffkAOHj8vaTTsSzV+N6dPYQVKscAGHfaR2wFr5qHmrwHj8pUKtKphbvOhTcvPmLS3cu2rD1kTj7d6huUQPeMfp+tjPRRld/eu6fsL6i9UqSo3KZbV24/v4amq0NK3/gk1fyvLNkCGy5af7oTFVQI2zSoXSUrFMcW0vqf5W/rBFdu47aFNf7blJo8KlZeO6SYasz52/JF3Chsui5esS1VdjVSdWq2vX/kPano0/kV19kKFW1fLywZQ5ej13Bqyd/S2p+b9YvaKUKV5EgoKCnO45FS6Piw7Xw/CHj5+SBcvWaGO9dPmKzPxqmb4mal++/upL+gcbMqRPJy0a1ZVHH35Qn5uZE7iT+psxOn61fhHvBktI59ZOQ9b2AWv1t61+lnDPqL1WrWIZ7b8HzvaKmqT68IX6gEdQUBoj/9mkDAIIIGAZAfUsrJ6J46+nWpyQdFnzWWZ8aiAErC21HAwGAQQQQAABBBBAAAEEEEAAgYAUIGAdkMvOpBEwJnBiYVn55+JOvfAjxd+TnPlbGKtMKQQQQAABBBBAwOICl0/MlXP7x+ijzPjgs5K/yU8WHzXDs5rAwWnp5d7dW/qwitRZI2nSZbPaMBlPgAskFbDeseeANGwfogcmu7RtKrFDehs6CXrrzv3SuGNvrW6eR3LL19PGSsVni2thRDMBaxXgVKf5Jgw3qpCkCki+06lFogCzOhV69cbtEj5ivGzb9bPN6qoAb2iXNk7DjupE42ZvhdkEnqtWKK2drqwCsWnS3A9JqjD26o3bJCzyI4en2roKWDsKuqo+hvftIbWqlE8U/lQna3+1dJUMGPWxTdDaPvCacMJmrc3+KagxhQwaK3EzFySqqtaoe/vm2snhCU+mViHZIyd+lT7DxiU62Tmp9XE0F9WpOk15dEQvea3BC/r6qD7O/nFBsmXJImoc8Zej0LMK5g54N1g6tWwk2bNlsZmH2kvq5PT+IyfanHat+lThebU3HF1qbwwaEydRH02z+bUKkQ/o1Un7e0h4Xb12XSbPWiBDY6c4PI3bXQFrR39LSc1ffUhizMezZNy0uTbj+mBob+1vzz7YdvDoSXmjSz9Tp7ibCVirkLP6b4c6GTz+UuNXfzPqFPQsmTPZuP5786Z2QvzQmCk2H7pQe2Ly6AHSopHtB+niKyd1Kne75g1kUGhnKZD3MZv5q73y7epN2on9yiH+Uh+C+HxilFaeCwEEEPAVgbu3rsmhFbX04f4vTTop2vGm5YZPwNpyS8KAEEAAAQQQQAABBBBAAAEEEAg4AQLWAbfkTBgB4wIXd4+U89v66RUyPlBc8ledbrwBSiKAAAIIIIAAAhYWOLGxvfzz5359hA9VGCEPlu5r4REzNCsKHP+quPx7+X7AU90vq/tmLgSsJJBUwPrK1b8k+L1Imb9klTZkdbruF3EjRJ0enNSlAq7q9GsVNlRXs1delKljIiRH9qymAtYqIKnCrWMnzdK7U+HWmMEhooLFDoI1ernzFy9r/c+cv8ym7vwpo6R86f9OD054qTBpl7Aombd4pf7jRnVryIQRfeTxRx92Ol1nJyInFbD+48Ileeu9YfLNih9M9aUKq9B7j/BRNoHzyaP7S3Crxok8vBWwVgFWFcRv3/wVp6cEq1O7+wz/SD6ePl83UCcez5s8SooXLZjI21nAeua4odqp6kntBdXYnTt3JXridAkfMcFmP0yLGaidGJ1UfXW6tDrVfMrshXpdFbQdNywsUShbFdi++2dp9lYfmyCwOslYnYScIX16h3spqdOZ3RGwVvMfEjNZImOnmpq/o1PdnYWGPRmwdvT3qf579PGovlK5XKkk/3ukguVvh0fbhORVOF6dyJ//ycTBZ2cBa1drqAbh6IMTZk7+t9L/b2AsCCAQuALqOVg9D8dfGXI+IwVeu/9sbBUZAtZWWQnGgQACCCCAAAIIIIAAAggggEDgChCwDty1Z+YIuBS49dcpOTrX9qV6viqfSKacjk9wctkgBRBAAAEEEEAAAYsI/H15t5zc1MlmNE+1OCnpsua1yAgZhq8InFnZVK6duB/Iy1N6sOR44hVfGT7jTCCwecdemfHlEu3E4mOnzmi/KZj3cXmhagVp9/orUrlcSZ/1SipgrSalgtKhg2P0+RkJC6owZKfQSP2E4pjBoRLSuZXWhpnQ7/6Dx6R55z6iQszxl7MwsaMFOPP7H9rp12s2btd/rU5UHt63e6Kg66oNW6VJx/f0k3pV2HfupCgpVaywy7VdvWGbtOkZoZ/0rSokFbBesGy1vBYcprerAqufxg4S1aeRy/6k7drVK8qMj4YmOhnZjLWRfu3LODvBOjKsm/R9u4PTcHV8O7//cVEL8C9duUFvWp0WrvaKfWjK0VyczdvRXI6f+k1adg/Xg+kqBD5pVLi0bFzXZThbtWe/l1T9hdPGyIvVKtp05yjInFQYO2FlFWYeOf4ziYj+2KZNdwSs7eevOjAaTnf0gYCpYyO0U78TXp4MWNv/fSr/+VOipU6NSoa27p4Dh6VF13Cb/5Y4O4nbUcC6ecPaEhcdLjlzZE+yP/WhEHWq/UefzNXLDerdWQaFvmVonxmaDIUQQAABDwtcOb1Ezu4erPeSLX8Tebx24m+r8PAwXDZPwNolEQUQQAABBBBAAAEEEEAAAQQQQMDDAgSsPQxM8wj4usCZ75vItZNf69PI8eSrkqfUQF+fFuNHAAEEEEAAgQAXOLtnqFz59RtdIVu+xvL4S/dDsgHOw/RNCJzfPkAu7hqu18hVsK08XKyXiRYoagWBbn1GyKSZXyU5lK5tX5OPR93/hh8rjNvoGFwFrNWJyQ3bh+jh4Xc6tZDoiHecnsSr+lUBxXqte2ph5TyP5JbF02OlXKli2pDMhH7tw93q1OpPYiJchhwTzt0+zOzoFG4VilWh1hHjPtWrRoQEy6DQzhIUlMYlpaNQpbOA9fUbf8vb/aPlsy8W6+2aCY2rSo7aWPRZjLxa53mbsZqxdjlJBwUcBaydnW7srH37/fdyrSpa8Dd3rgdczqVfzzdFhbmNrNEnny+S4N6ReptGQ88JB2HfhgqCj+zfU9KnS6cX++3ceWndY4Cs3bRD+5mzILYzD0dBaHcErO2d1V6ZMmaAPJw7l6Glt5979w7NRYXhM2a4fyK3pwLWN2/d0k4QV/89iL+M/Hco4cTsT9VXv3O21xwFrI18sCS+v7iZC6Rrnyi9+y5tm2onumfKmMGQNYUQQAABbwv8ceBDuXRspj6MB8v0l4fKD/P2sBL1T8DackvCgBBAAAEEEEAAAQQQQOD/2LsPKDurqn/AO1OSSTJpkx4gDUKvEqQLiPAHEQQUpahYABWkozRRkY5UEaWqiAIKIkUUKdJBIHyCNCGQhBDSM2mTnkz+6x1XLrmTO5k7Le+duc9dy+Ui875n7/2cM3x88pszBAgQKDoBAeui23IDE2iaQM0HD8SkR7NvLNpo779HWUX/pi3kaQIECBAgQIBAgQgsXzwj3nt8/6xu1t/n/qgcdlCBdKiN9iQwb9xdMfmfR2Ra7t5/59jgk9e1pxGKvtf9jjwx/vHkC3k5JIHah+9of/vbWMB67ryauluG7/nr43UOjQVokyDjRdf+OnML7xc/t3fccsV50atnZd37+YZ+k3D2CedcGrff87eMf3LjcBJWbMqnfuA1ebd+GHlm9Zy6m64ffuL5zNKP3HV97POpHfMu9ejTL8a+h5+Qeb6hgHX9EGquwHc+ReuHOHOFjfO1zqdermdyBaybEkxP1vxg0pQ48vhz4/kx/6krUT+Qv6purlluu/b8SILSjX1y9dmUwOyq9ZNbkL94zJkxdvzEuj/ac5ft4w/XXxhDBn78v4Gs/sMFDYg19dIAACAASURBVD2ztn5zhf1bGrDOFVBu6KbwhnpLZj/5vCtiUP++sd1Wm8b2W28au31y26wftGirgHWu7+Gmfn8mc9Xfv4bOWv2A9agRQ+OeWy7L6zb7pE79vxcIWDf2HerrBAgUmsCHL50YC2Z8/M+/Qz59Z/QceXihtZnrNwO0h3+nWXCOGiJAgAABAgQIECBAgAABAgSaL9Ae/seIlauPl/xLPB8CBNatwPh7toglc97KFO270Tej/ybHr9smVCNAgAABAgQItJLAjHd+GbPe+3VmtS69N48RX3yzlVa3TLEJLJ3zdoy7Z/PM2GVdqmKjzzxSbAztdt58bq6uP1x7vMm6sYB1MmP9m6T/fMvlcehnP51zb+uHla/6yWmR3PS76pNv6Pe9CR/G4d85J5IbtJNPQ2HIxg5YrnBp/cBq/eDlLqO3jjt+eVEMW39wY8tnvl6/34YC1vXDlwd8Zre6G5v79OqZd63kwaf/9X+xx6HHZd6pH2RPvpCvdZMKr/ZwruByU4OvCxctrgvu3nLHx78d664bLo4vH7RvVlstmSXXrdKP3Hl97LT9Vk0afcas2XVh8MeeeanBM1k/+J7rluvGiv7xgUfqzv6qT0sD1rPnzqv7AYKHHns2s+ZT994Un9rpE4210qSvt1XA+l+vvB77HnFC3Y34yac535/Je/V/WCT5s1xB+/oB68/s/sm6vx/079snL4/67wtY58XmIQIECkjgvcf2jeVLqjMdjfziW9G59/9+E0khfdxgXUi7oRcCBAgQIECAAAECBAgQIFCcAgLWxbnvpibQJIHZb14X0144KfNOSVn32OgzD0dJadcmreNhAgQIECBAgEDaArUrFsV7j+0XtcsXZFoZuPPPo88WJ6bdmvrtWODd23pG7bL5mQk23Ov+KO+2XjueqDhaf+GV12OXA7/RrGGff/A3sXMTg5vNKtRKL+UTsE5CzgcefWpMmTazrupJ3zo8Lj/vpKzba1e1s/oNvrlufs03KFu/ZnNDlUlf9UOv9QOP9cPKzQk91w+xNhSwrt/LrjtsE/vttUuUl5c1aUcnTZ4Wv/jNnzLv5LpNOV/rJhVe7eH6AeutNtso/nTjpbHpRsObtOQFV98SP/rZDZl3cgWK68/SlFuFc91c/NUvfDaq+vRqUp/JvH964NF4e+z4zHurB8qTix/Ov+rmOP/KmzJfv/jsEyK5Xbwpn/qB4pYGrOsHn5u7T43N0FYB6wceeTo+//XTMuVz/TBBY70lX8/3dvD6Aemm/v1AwDqf3fAMAQKFKrBs4Ufx/hMf/8bKkvIesfHR8wqyXQHrgtwWTREgQIAAAQIECBAgQIAAgaISELAuqu02LIFmCqxcEWP/MDhWLJ6RWaDfxt+JfqOOaeaCXiNAgAABAgQIpCMwc+wtMfPdjwNepRX9Y9RRUyI6labTkKodQmDiQ3vFwilPZmYZst3F0XNI9s2sHWLQDjZEc26vXkXQ3m6xzidgXf/m1x0/sWXc+cuLY8TQIVk7nwRML7r213He5b+q+/OvfvGzcf3FZ0WPym6Z5/IN/dYPKTYUWM7n6NWfsX7AurGv51Ojfti4oX7rh4nzWTufZ7bZfOP4442XxCYbDmuydT7r53qm/sxNvel31Zr1Q+dJIPmCH3w3SktLGpwl17wNzVH/LDV33lzvrX4Dcq4bvXPdkNxY/fpB5ZYGrP/73oT40rfPitfffq+u9PZbbxbJLeEbDd+gsVaa9PW2Cli3xvfnqkHyCfO3NCDd0vebhO5hAgQItLLAvMmPxOR/f/xbFLoN3jOGHvBEK1dpneUErFvH0SoECBAgQIAAAQIECBAgQIBA8wUErJtv500CRSUw69WLYsaYH2ZmrrvFeu+HoqSssqgcDEuAAAECBAi0X4Ha5TXx3uMHZN1e3X/0hdF323Pb71A6LwiBGS+dGbP+c3mml6oRR8SAzU8viN400bDAJrsdGu+Om9gsoo1HDo13nr23We+m8VI+Aeukr6tvuiNO+8lVmRbv/+1VcdC+n8pqeWb1nPjqiT+Kh594vu7Pb7jsnEjCzKt/CiFgXT/83BoBTgHriOaG4PPxr39uBKz/911V3y5XGLs1f1hhbX+Pao8B6/o/bJHM19KAdEvfT+P/DqhJgACBVQLT37oyqsffmQHpu/UPov8nLytIIAHrgtwWTREgQIAAAQIECBAgQIAAgaISELAuqu02LIHmC9QuXxjv37lBrFhS/fH/+Lrh0dF/0xObv6g3CRAgQIAAAQLrUGDGf6+LWe/flqlY2qUqNjziwygp+/jW1XXYjlIdSGD+hPvio8cOyUxU0XvzGL7r7zrQhB1zlPKhO8by5SuaNVxZWWksm/his95N46V8A9av/OftOPDoU2PKtJl1bZ563JFx6bknRufy8kzbSbBw/6NOjPk1C2PUiKFxzy2XxdabjcoaqxAC1vVv1s4n4NvY3ghYC1gX6g3WAtYff/fWv8E6123pLQ1It/T9xv5e4+sECBBoS4EJz30tFs95K1Nivc/8JXoMP7gtSzZ7bQHrZtN5kQABAgQIECBAgAABAgQIEGglAQHrVoK0DIFiEJj12qUx4+Wzs0Yduee90bn70GIY34wECBAgQIBAOxZYumBijHsy+4bV/jtcEn23OasdT6X1QhFYsWh6jP3DwKx2Nt73iSgp71EoLeojh4CA9YXRt0+vLJm582rimDMuiHv++njdn+8yeuu445cXxbD1B9f99cqVK+Oia38d513+q7q/rh9iXrVYIQSs699am2bAOteNw631TZmvdXPr5Rsqb2z9+rej5zJpzRusm3vTdmNzFGrA+j9vj40vHnNmjB3/v1v5t996s7jrhotjo+EbNDZSk77eHm+wzufG71y3XK8NRsC6ScfGwwQIFJBA7bL58e4je2V1NOqoaVHadUABdflxKwLWBbktmiJAgAABAgQIECBAgAABAkUlIGBdVNttWAItF3j/rhGxrGZCZqGe6+0XQ7a9sOULW4EAAQIECBAg0IYCk1/9Ycz76OFMhfLK4bHh4ePbsKKli01g/L3bxpLq1zJjrz/6iqgcuGexMbSreTfZ7dB4d9z/wohN/Ww8cmi88+y9TX0ttefzvcE6abB+EPb+314VB+37qbreZ1bPia+e+KN4+Inn6/76livPi28d8fk15so39Fv/xuz6ge6mgNXv+/ivHxZX/vjUqOjSuW6Z1rjhN7m1+4RzLo3b7/lb3ZoNhXgvue43cc4l12far99LU+Zq7Nl8rRtbp6Gv1w8UNye4mwTzz7/q5jj/ypsyZa76yWl1N6Sv/mlJwPpfr7we+x5xQt3N6smnOX3ma1T/huTmBOjrB6LXtkb9799cz9YPPm+12UbxpxsvjU03Gp7vWHk911YB6wceeTo+//XTMj188XN7xy1XnBe9elbm1deqh5YuWxZnXXRd3d/HVn0uPvuESG6xXv3T0oB0S99v0lAeJkCAQCsK1Ex7MiaNOSOzYpeqbWLEoa+2YoXWXUrAunU9rUaAAAECBAgQIECAAAECBAg0XUDAuulm3iBQ1AJz3rk1pj5zTJbB+qOvisqB//sX7j4ECBAgQIAAgUITqJn2dEwa83FoJ+lv0O63RO9NvlVoreqnHQtM+9cpMfuNazMT9Bn+5Ri4xffb8UQdv/XvnnlJ3HD7n5s16He++oX41WXZv92nWQuto5eaErCuH3pOQrCXnntidC4vrwsp73/UiXUh1s1GjYi7b7ostthk5BpT5Bv6/WDSlDjy+HPj+TH/qVujR2W3eOTO62On7bdqksziJUvj9POvjl/+9u7Me/VDlf99b0J86dtnxetvv1f3zDabbxx/vPGS2GTDYXnXmjxtRhx1wg/jyedfqXunoYD1Hx94JA7/zjmZdffba5e4/bqfRr+q3nnXyvfBfK3zXa/+c/UD1oMH9osHb7u6LsCc76d+MD15b/Xg/qp1WhKwfm/Ch3XmyflddZb+/ofrYtcdtsm3zbyf+93dD8XRJ/8483xTbz9OXnz06Rdj38NPyKzR0oD1jFmz676XHnvmpcyaT917U3xqp0/kPVey12f89Jp4e+z4uu/v5PbrL39+nxgysH9mjbYKWNf/+05zA/Kz586r+yGQhx57NtNzcpP3lw/aN8uhpQHplr6f96Z4kAABAq0sMO3Nn8XsCX/MrNpny5Nj4E7XtHKV1ltOwLr1LK1EgAABAgQIECBAgAABAgQINE9AwLp5bt4iUNQCEx/aMxZOeSpj0KXHyBjxqT8VtYnhCRAgQIAAgcIVGP/0l2LJ/HGZBrsN3iOGHvBk4Tass3YpUPPBAzHp0Y9v8u1cOTxG7nFPu5ylWJp+4ZXXY5cDs281zXf25x/8TezcxBBwvmu3xXNNCVjPnVcTx5xxQdzz18frWtlzl+3jD9dfGIMH9IuLrv11nHf5r+r+/OtfPjB+cdEPonu3rmu0nG/oN1fw9obLzokksNqUT/3gc/Ju/QBvruBlrpDv2uquHjBPnmsoYF0/LJqEku/79ZXxye22aMpYce/f/hkXXnNrDFt/cHxiq03rwuwHfGa36NL5f7dyJ598rZtUeLWH6wesky81dHN5QzXqh3IbCre3JGBd/9wmvSQ3mCc/IJAjnNUgx/iJk+Obp50fZaWlsd1Wm8bw9QfHFw7YOwb2r8q8U/+27KbevJ7c6L3691KycEsD1rl+yCDXLeFrOwf1v49GjRga99xyWWy92ajMa20VsM71PfzIXdfHPp/asUlHt/7N4A39QEBLA9Itfb9JQ3mYAAECrSgw7qkvxtLVfjvl+vvcH5XDDmrFCq27lIB163pajQABAgQIECBAgAABAgQIEGi6gIB10828QaDoBRZOfSYm/jX7xuq+Gx4d/Tc9sehtABAgQIAAAQKFJTDjv9fFrPdvy2pq6Oeejm6Ddi+sRnXT7gVWLl8U7/y2W9YcI/e4OzpXjmj3s3XkAZpzi3V7u7062b+mBKyT56++6Y447SdXZbY+CTput+UmdTfDPvzE83V/vraQbVNCv/VrHbTvp+LmK34YA/p9HGht7AzWny9XgDdXqLUpNw+vWFEb5191U1xw9S2ZdhoKWCdh7m+ddkH85e9PZJ4956RvxvlnfDvKykobG6fu6/PmL4gTf3h5JLclr/qsfpv4qj9rinVehes9lCtgvbZwfa4at955fxxz+gWZLzX0fksC1sn+Jmcpucl81WevXUfX3Ry+3qABeY2erHHLHffFcd+/KPN8rvD0zOo5Wd8LycO//8UFcdSh++dVZ8q0mfG1k36Uddt0SwPWSeH6zofsv1fcetV50adXz7z6evzZl+KQb55Rd0N98vni5/aOW644L3r1rMy831YB66XLlsVZF11Xt4erPk35/kzeSb5HL//lbXHOJddn1mjo9viWBqRb+n5eG+IhAgQItLLA0prxMe6pw7JW3eTrC6NT2Zo/LNfKpZu9nIB1s+m8SIAAAQIECBAgQIAAAQIECLSSgIB1K0FahkCxCdT/FejJ/EN3/FV067dDsVGYlwABAgQIEChQgYUzX46JL343q7tC/xXIBUqprTwFPnx4/1gw6eHM0wM2OyWqRn4lz7c9lpbAfkeeGP948oW8yieB2ofvuC6vZwvpoaYGrOvfwHz2id+ou635wKNPqQtfbjZqRNx902V1Nyrn+jQl9PvmO+PisOPOjLfHjs8sddPPzo1jjjw4r5uHP5o6vS7s+sRzYzLvn/Stw+Py807Kuuk5+eJL/34zDv7m6ZEEXJNPj8pucc/Nl8e+e+zU6HYlN+Me/p1zsvpsKGCdBHV/futdccqPrsysm9xCfdu158ceO3+i0VrJA3fd/0gc9/0LM2HXpNc7f3lx3Q3Wq3+aYp1X4XoP5QpYJ73cft0F8fn/t0ejS074cHJ85XvnRRJIXfX58y2Xx6Gf/fQa77YkYJ0sNua1t+KLx54ZH0yakln70nNPjNO//ZW8gu1jx0+sO0sv/t8bmfd/cPzX4oIzvxudy8szf9aSMHeuEHeycGsErHN9LyUB8yT43dgt3rn2OdcN4G0VsE4M6ge8m/L9mbyf63u0oVvMWxqQbun7jX7jeIAAAQJtIFA97vcx/e1rMit3X3+/2GC/v7dBpdZbUsC69SytRIAAAQIECBAgQIAAAQIECDRPQMC6eW7eIlD0AitXLI3xf948ls57P2PRpcfIGL77ndGpU343chU9IgACBAgQIECgzQRWrlwRE545IpbMH5ep0bnnhjHiC29Fp9LObVbXwsUtMPvNn8e0F07OIHTru30M3enG4kZpJ9Pnc5N1e7y5ehV/UwPWc+fVxDFnXBD3/PXxuiWSIPHwDQbHjbffW/fXjd1g3JTQ75KlS+PcS38ZV97w+8xpqerdM66/5Kz48kH7rDUYOmPW7Lobi2+/52+Zd5Mg8x+uvzB23WGbNU5frlo7fmLLuP7iM2P7rTdr8LQmIe4Tzr4s7v/HU1nPNBSwTh7KFSzOp1by7hv/fb/Of/Wg72EHfiZuvPycNW4jbop1c74dcwVvk3XymSXX/qzthvKWBqxz7W8S0r36/NPj6MM+t9aQdfKDA2de9PP41W33ZJ2le26+LEZvs/kadLn299ijDokk0J2c31yfJFyd/CDAN0/7aVYIPHm2NQLWuW5ZzyfYX1tbG3f85eE4/uxLM4H+XLfAJ33WD1jvucv2dd9vQwb2b/B41f/7T0OzJje/f/sHF8fdDz6WWWuTDYdF8gMXn9pp7T+YkITjv3fO5fHIU//KvJuc0SRgPmrE0DV6a2lAuqXvN+d70TsECBBoqcDEf307Fs56JbPMwJ2vjT5bnNTSZdv0fQHrNuW1OAECBAgQIECAAAECBAgQIJCHgIB1HkgeIUAgt0DNBw/EpEc/n/XF3kMPiUFbnYuMAAECBAgQIJCqwNTXL4o5E/+S1cP6+9wflcMOSrUvxTu2wLL54+L9P26YNeRGez8UZRUDO/bgHWS6F155PX73p7/GP597OcZN/KhuqpFD14tP77pDfO1Ln4udt9+q3U7a1IB1MujVN90Rp/3kqpwz//4XF9TditvQp6mh31w3ByfB2OOPPixO/85Xon/fPlmlkkDosy+9Gudccn3WzcjJQ43dWJzclP2NU8/PCi8nIc4fnXZsfOGAT2fdep3UefnVt+pC3KvfwLyqmbUFrJNn6t9CnfxZEnhNaiXh8e7dumbNlQSE//zQP+OnV91cF2Rd9VlbSLap1k09xA0FrJN1GnJLgsT/fuOdOPviX2QFXhu7kbilAeukp1xnKfnzU487Mk459sgYut6gLIJVvf74ihvjr48+k/W1tZ2l5L077/tHfOfMizOh5OTlz+2ze5x/xrdjuy03yfrhgMQxef77P70mqufMW2MbWiNgnSyaK/idnJ8Lz/xufOGAvaNrRZes2vPmL4hrb7kzfvar32XNcc1PT4/kJvj6wbbkdvAjjz83nh/zn7p1kj395SVnxZGH7BclJSU5j1e+Aevk5eT77KgTfpgVQE8C6z885Zg47iuH5Pye+dvjz9WdtdW/Z5K+brjsnDji4P+X84c0WhqQbun7Tf0+9DwBAgRaKrB88bR47/EDspbZ8MvvR3mP3L+NpKX1Wut9AevWkrQOAQIECBAgQIAAAQIECBAg0FwBAevmynmPAIE6gWn/OiVmv3Ftlsagrc6J3kMPJUSAAAECBAgQSEVgzsR7Y+rrF2fV7rPlyTFwp49/HXIqjSlaFAIfPLBLLJr+QmbWgVucEX2GH14UsxuycAWaE7B+5T9vx4FHnxpTps3MGqyhm21Xf6g5od+nXvi/OPrkH69xs28SlNx1h21jl9FbR+fO5THxo6nx+DMvZYUpV9U+/uuHxeU/PGmNEGb9nWmoVhIY3nv3T9aFcJMZHnv6xbqgcEOfxgLWy5eviCtv/H2cddF1ayyRhEaTWttusXGUlpbWzZ0ERZP/Xv2TzH/ZuSfFcV85NEpL1wywNse6KSc1V8B68MB+Wedidbf5NQvisWdeygqwr6rXWPi9NQLWSa2G9jf52h47fyJ2++S20aOye6yt16O/9Lm48senRt8+vRrkWtv+rl4nCfU/+fwra+zt6gu3VsB6bfMnQevkxunNRo2IFStWxKtvvlv3vVQ/8L2276P6t9uvmiEJlCc/CFFeXhYXn31CbL3ZqMx4TQlYNxRcTxar/z2zNtfGzlpLA9Itfb8p34OeJUCAQGsIzJ5wV0x784rMUl0H7BzDDnq+NZZu0zUErNuU1+IECBAgQIAAAQIECBAgQIBAHgIC1nkgeYQAgbULTLh/h1g8Y0zWQ8N2uTW69lnzVzKzJECAAAECBAi0pcCi2a/FB89/K6tERf/RMfzzL7dlWWsTyAhU/+dnMf2lH2T+ulvVdjF055sJEUhVoDkB64aClN/+6qFx9fmnr3ET7uoDNjf0+69XXo+TzvtZ3a3RTfkkIeSTjzkizvre1xsNVyfrJiHOh594Ib571iVrDb2u3kNS49TjjqoLeP/2jw/WfamxgHXyTBLCveH2P8c5l/wi64bgfOZLal589vfiO1/9QpSVleZ8pbnW+dRPnskVsP7TjZfG3X99LO5+8LG8lslnjmSh1gpYJ2u98Mp/4rtnXhqvvfVuXj2u/tBXv/jZunB1/ZvTcy2U+Fx+/W3xkytvyrtOEkhPboe+6fd/yfTXmgHrlsx/7FGH1N0Cn4SZc32S752f33pXnPKjKxuc95G7ro99PrVj5utNCViv+v687+En17iVOh/gpO8Lzzw+kjka+p5J1mlpQLql7+czi2cIECDQmgITXzg2Flb/O7PkgE9eHlVbf781S7TJWgLWbcJqUQIECBAgQIAAAQIECBAgQKAJAgLWTcDyKAECuQUWz3wlJtw3OuuLnbtvEEN3vjXKulRhI0CAAAECBAisE4HlS6pj4gvfiqULPsyqN/zgMVHRb/t10oMiBJbNHxfv/3HDLIiRe9wdnStHwCGQmkBzAtZJs1ffdEec9pOrsvr+/S8uiKMO3X+ts7Qk9Dtj1uy45uY744bf3bPGzbq5in5un93jnJO+ETt9YqvIEcJZa58TPpwcP77ixvjd3Q+t9bkkEJuENvf/9C5x+vlXx42331v3fD4B6+S5JJSa3IR94TW3xl/+/kRe5yCZ6/wzvh3JzcBrm6sl1vk0kitg/ez9t9bdUHzpL34b1/36rrUGx/OdI+mlNQPWyXpNPUvJPv/otGPjCwd8Orp07pwPT90ztbW18c/nxtSF6Bv74YDE42fnnVy3p1/+9tltFrBeNf+VN/w+fnnb3Y2G+5sye3LjdXIr+81/+EtOoxsuOyeSH8RY9WlqwHrVe8n350+vuiXueeixRvtP3vnaYQfEOSd9M5JZGvu0NCDd0vcb68/XCRAg0JoCS2vGx7inDstacsMvvx/lPUa2Zpk2WUvAuk1YLUqAAAECBAgQIECAAAECBAg0QUDAuglYHiVAoGGBOe/cGlOfOSbrge79dowNdrweGwECBAgQIEBgnQh8+OIJsWDmi1m1Bu1+S/TeJPtG63XSjCJFLTDxb5+JhZMfzxj0G/Wt6Lfxd4vaxPDpCjQ3YP3Kf96OA48+NaZMm1k3wDabbxx/vPGSRgOMrRH6nT6zui60+o8nX4jX3ny3LqCcfIatPzi22XxU7LXr6LqAcxKmLCkpaTZwEo59693x8ccHHomnXvi/ePXNd+rCnEmdHT+xZRyy/17x2U/vGj17dF/jNud8A9armktqTfhwSjzwyFN1td4eOz7eef+DzFxbbDIy9th5+zhwn93znqs1rNeG11DAetcdtqkLjv/3vQlxx18ejoceezazRzttv1V8ZvdPxsH77VkXEM93f1o7YL1qrtlz58VjT78Uf/vnc3X9JjelJ5/kZu1tt9ikrsdkn5P97lrRpdlnKbF65sV/x533/SPrzCbr777jdvGlg/aJHbfbsu5m5WTf2zpgvWqQ5HvpwUeficeefrFuj1adueR7Z+fRW9ed7+QsJ2c838+SpUvjb48/F3fd/0i8+H9vZN0Ef/aJ34gLfvDdKC393/dlcwPWybvJGZs0ZXpdrSefH7NG/4ntnruMjs/uvWusP3hA3j9k0dKAdEvfz9fZcwQIEGgNgZnv/ipmjr01s1S3IXvH0M/m91soWqN+S9YQsG6JnncJECBAgAABAgQIECBAgACB1hAQsG4NRWsQIFAnMP3FM6L69exfE9tr/QNi8DbnEyJAgAABAgQItKnAlNd+HHMnZd9AWrXV6TFgxyvatK7FCeQSmPPOLTH1mWMzXyrvNiQ23OsBWAQIEGh3AmsLWLe7YTRMgAABAgSKUOD9Jw6KZQsnZyYftPvN0XuT7ItSCpVFwLpQd0ZfBAgQIECAAAECBAgQIECgeAQErItnr01KYJ0IfPToITH/g/uyalWNODIGbH7aOqmvCAECBAgQIFB8AtPfuiqqx9+RNXiPYQfHevvk/tX1xSdk4nUtsHL5onj39qpYuWJxpvT6o6+IyoF7rutW1CNAgECLBASsW8TnZQIECBAgkKpAzbQnY9KYMzI9dCqtiI2/Wh2dyrqm2le+xQWs85XyHAECBAgQIECAAAECBAgQINBWAgLWbSVrXQJFKlC7fGFMfGiPWDxjTJZA342+Gf03Ob5IVYxNgAABAgQItJXAjHd+GbPe+3XW8hX9R8fQA56KkrJubVXWugQaFZj67HEx5783Z56rHLhHrD86+7e9NLqIBwgQIJCygIB1yhugPAECBAgQaIHApDGnR820pzIr9N702Bi0200tWHHdvipgvW69VSNAgAABAgQIECBAgAABAgTWFBCwdioIEGh1gWXzx8XEh/aOZTUTstbuN+rY6Lfxt1u9ngUJECBAgACB4hSY+e6NMXPsxwHWRKG8cngMPeDxKO8xsjhRTF0wAoumPR8fPLhrVj8j97g7OleOKJgeNUKAAIHGBASsWN8wUwAAIABJREFUGxPydQIECBAgUJgCS2vGx7inDstqbtiBz0XXgbsUZsM5uhKwbjdbpVECBAgQIECAAAECBAgQINBhBQSsO+zWGoxAugKLZ74SH/5931ixpDqrETdZp7svqhMgQIAAgY4ikOvm6tIuVbHB/o9ERb/tO8qY5mjnAh88uFssmvZcZoqqEUfEgM1Pb+dTaZ8AgWISELAupt02KwECBAh0JIHpb10Z1ePvzIzUdeCuMezAZ9vViALW7Wq7NEuAAAECBAgQIECAAAECBDqkgIB1h9xWQxEoDIGFU5+JSQ/vH7XLF2Q1VDXiyBiw+WmF0aQuCBAgQIAAgXYnMP2tq6J6/B1ZfZeUdY/19/t7dBu0e7ubR8MdV2Du2NtiylNfzwzYqaRzjPrMP6KkvEfHHdpkBAh0KAEB6w61nYYhQIAAgSIRqF02P8Y+9v9iZe3SzMSD9/ht9Bp1dLsSELBuV9ulWQIECBAgQIAAAQIECBAg0CEFBKw75LYaikDhCCyc8kRM+seBa4Sse61/QAze5vzCaVQnBAgQIECAQLsQmPLaj2PupIeyeq0LV/+/B6Pb4L3axQyaLC6B9+8aFstqJmaG7r/J8ZH8VhcfAgQItAcBAev2sEt6JECAAAEC2QKz3vt1JL/1adWnvHJobHj4B+2OScC63W2ZhgkQIECAAAECBAgQIECAQIcTELDucFtqIAKFJ5DcZP3RowfHiiXVWc1177djDN72gijrUlV4TeuIAAECBAgQKCiB5UuqY8qr58WCmS9m9VXapSrW2+c+N1cX1G5pZnWBWa9dGjNePjvzR8k/+26098MRnUpAESBAoOAFBKwLfos0SIAAAQIEsgVW1sZ7j+8Xyf8PverTf4dLou82Z7U7KQHrdrdlGiZAgAABAgQIECBAgAABAh1OQMC6w22pgQgUpsDima/ER499MZbVTMhqsHP3DWLwNj+Jrn22KczGdUWAAAECBAikLrBo9msx5bWfxNIFH2b1Ul45PNb7zD1R0W/71HvUAIGGBGqX1cR7dwyJ5Nd0r/oM2OyUqBr5FWgECBAoeAEB64LfIg0SIECAAIEsgepxv4/pb1+T+bOS8h6x0ZGTo6S8st1JCVi3uy3TMAECBAgQIECAAAECBAgQ6HACAtYdbksNRKBwBZbNHxcf/fPLsXjGmDWaHLTVOdF76KGF27zOCBAgQIAAgVQE5ky8N6a+fvEatSv6j471Pv3HKO8xMpW+FCXQFIEZY34Ys169KPNKWZd+sdHef3OLdVMQPUuAQCoCAtapsCtKgAABAgSaJ1B3e/VnY/mSmZn3+257bvQffWHz1kv5LQHrlDdAeQIECBAgQIAAAQIECBAgQCAErB0CAgTWqUDt8oUx5YmjYv4H961Rt/fQQ2LglmdFp06l67QnxQgQIECAAIHCE1i5ckVMe+PSmDPxL2s012PYwTF4rz9ESVm3wmtcRwRyCKxYPCveu3P9WLlicear/Tf9XvTd8Ou8CBAgQIAAAQIECBAg0CoCs97/bcz47y8ya3UqrYiNjpgUpRV9W2X9db2IgPW6FlePAAECBAgQIECAAAECBAgQqC8gYO1MECCQisD0F8+I6tevXKN2lx4jY+Dm349u/XZIpS9FCRAgQIAAgfQFFs58Oaa99bNYMn/cGs1UbXV6DNjxivSb1AGBJgrUv8W6pKwyNvr0g5H8ym4fAgQIECBAgAABAgQItESgdtn8eO+fB0bt8prMMu359upkCAHrlpwI7xIgQIAAAQIECBAgQIAAAQKtISBg3RqK1iBAoFkCc965NaY+c0zOd/tueHT03/TEZq3rJQIECBAgQKD9Csz473Ux6/3bcg4waPdbovcm32q/w+m8qAVql86L9+4aGrVL52YcqkZ+NQZsdnJRuxieAAECBAgQIECAAIGWC0x/+9qoHnd7ZqGSzr1io8MnRknnni1fPKUVBKxTgleWAAECBAgQIECAAAECBAgQyAgIWDsMBAikKrB45isx9bnvxOIZY9boI7nNuv8m34vKgZ9KtUfFCRAgQIAAgbYXqJn2dMx45xc5b62u6D86Bu16Q1T0277tG1GBQBsKzHrt0pjx8tlZFUbucXd0rhzRhlUtTYAAAQIECBAgQIBARxZYWjM+xj11WNaI/Xe4JPpuc1a7HlvAul1vn+YJECBAgAABAgQIECBAgECHEBCw7hDbaAgC7V9g2r9OidlvXJtzkJ7r7Rf9Rh0XnbsPbf+DmoAAAQIECBDIEli6YGLMHHtTzPvo4ZwyfbY8OQbudA01Ah1G4P0/bRTL5r2fmafn4H1iyCcu6TDzGYQAAQIECBAgQIAAgXUrMPn/zo55Ux7NFC3vuWFs+KX31m0TbVBNwLoNUC1JgAABAgQIECBAgAABAgQINElAwLpJXB4mQKAtBWo+eCCmv3haLF0tcLJ6vb4bHh19N/pGlJRVtmUb1iZAgAABAgTWgUDt8pqY9d5vYtb7t+Ws1rnnhjFgx6uicthB66AbJQisO4G5Y2+LKU99Pavg+qOviMqBe667JlQiQIAAAQIECBAgQKBDCNRMezImjTkja5bBe/w2eo06ut3PJ2Dd7rfQAAQIECBAgAABAgQIECBAoN0LCFi3+y00AIGOJbByxdKY/vIPGrzNuqSse1SN/GpUjTwqSkq7dqzhTUOAAAECBIpAoHbFoqge94eoHnd71C5fkHPi5NbqATtcHp1KOxeBiBGLUWDi3z4TCyc/nhm9S4+RMeJTfypGCjMTIECAAAECBAgQINACgfFPfymWzB+XWaHbkL1j6Gcfa8GKhfOqgHXh7IVOCBAgQIAAAQIECBAgQIBAsQoIWBfrzpubQIELLJz6TMx85bxYOOWpnJ0mQes+w78cfYYdFmUV/Qt8Gu0RIECAAAECyxfPiNkf3B2zJ/yxwWB1t8F7RL/tL4hug3YHRqBDCyya9nx88OCuWTP2G/Wt6Lfxdzv03IYjQIAAAQIECBAgQKD1BGa++6uYOfbWrAWHHfhcdB24S+sVSXElAesU8ZUmQIAAAQIECBAgQIAAAQIE6gQErB0EAgQKWmDOO7fGrH9fGMtqJjTYZ68NDoreG3w+uvbZpqBn0RwBAgQIEChGgUWzX4s5H94fcz98oMHxyyuHR9/tfhi9N/lWMRKZuUgFpv3rlDV+a8vwXW+Lit5bFKmIsQkQIECAAAECBAgQyFdg8Zw3Y8JzR2c9nvw2qIE7XZPvEgX/nIB1wW+RBgkQIECAAAECBAgQIECAQIcXELDu8FtsQAIdQ2DWa5dG9X9+FiuWVDc4UBJG6bXe/tFj8L5R1qWqYwxuCgIECBAg0A4Fli+pjvlTHom5H/09kn/p29CntEtVVG39/ei7zVntcEotE2iZwMrli2LcPZvGspqJmYW6VW0XQ3e+uWULe5sAAQIECBAgQIAAgQ4vMPGFY2Nh9b8zc5ZXDo2RX/xvdCrr2mFmF7DuMFtpEAIECBAgQIAAAQIECBAg0G4FBKzb7dZpnEDxCdQuXxiz37g6qt+4NlYsnrFWgMoBu0floD0j+W9h6+I7KyYmQIAAgXUvkISqa6Y/EzVTn6z777V9Siv6R9WWJ0efLU+NkrJu675ZFQkUiMC8cXfF5H8ekdVNv42/E/1GHVMgHWqDAAECBAgQIECAAIFCE5g59paY+e4NWW0N+fSd0XPk4YXWaov6EbBuEZ+XCRAgQIAAAQIECBAgQIAAgVYQELBuBURLECCwjgVWrojZb/0y5rx9QyyZ81ajxZObALv12zG699shuvbZptHnPUCAAAECBAjkJ7Bo9muxYObLsXDmi1k3ZzX0dpfem0fvzb4TfTY/PqJTaX5FPEWggwtMeeromDv2d1lTJrdYJ/8M60OAAAECBAgQIECAAIHVBZJbq5Pbq1f/9Br1tRi8x20dDkrAusNtqYEIECBAgAABAgQIECBAgEC7ExCwbndbpmECBFYXqPnggZj77m9i/gf35QVTUlpRF7Ku6L1FVPTaLCp6bhzl3dbL610PESBAgACBYhZYtvCjWDzv3Vg89+1YPOfNSMLVtSsW50XSY9jB0Wvjb0TlsIPyet5DBIpJYMXiWTH+3q1i+cIpmbG79NgoRux+R0SnkmKiMCsBAgQIECBAgAABAmsTWFkb4585MpbMfy/zVFm3wTHi0NejtKJvh7MTsO5wW2ogAgQIECBAgAABAgQIECDQ7gQErNvdlmmYAIFcAstqJsa89++I+eP+FItn/btJSCVl3aNz5fDo3H2DKO86JMq7DoqyLv2itEtVlJb3jJKyyigp6xqdSjpHJ7dtNsnWwwQIECBQ2AIrV66IlbVLo3b5oqhdXhMrls2LFUuqY/mSmbFs0dRYtmhyLF3wYSytmRC1yxc0aZiKvttFj5Ffip4bHhnllUOb9K6HCRSbwPzxd8dHj38pa+zeQw+JQVudW2wU5iVAgAABAgQIECBAoAGBqa9fFHMm/iXrq+vt/afoMeKwDmkmYN0ht9VQBAgQIECAAAECBAgQIECgXQkIWLer7dIsAQL5CCyZ9WrM/+D+qPnwr7F4xph8XvEMAQIECBAg0AoCFf1HR+UGn4sewz4fXfpu2worWoJA8QhMe+HEmP3mL7IGHrTVOdF76KHFg2BSAgQIECBAgAABAgRyCsyZeG9Mff3irK/12eJ7MXDn6zqsmIB1h91agxEgQIAAAQIECBAgQIAAgXYjIGDdbrZKowQINEcgudl6wUePxsLJ/4yFU5+O5QsmNWcZ7xAgQIAAAQI5BMq6rx/dBn0qug35dHRfbx83VTslBFooMOG+HWLxzOwfEBy2y2+ia5+tWriy1wkQIECAAAECBAgQaK8Ci2a/Hh88/42s9iv6jY7hB7/cXkfKq28B67yYPESAAAECBAgQIECAAAECBAi0oYCAdRviWpoAgcITWDp3bCye8WIsmjkmkpuul1S/HiuWVBdeozoiQIAAAQIFJlDapSq6VG1VdzN1136jo6L/jtG516gC61I7BNq3wOKZr8SE+0ZnDdG5cngM3+U3UVLeo30Pp3sCBAgQIECAAAECBJosULtsfkx4/huxtGZC1rvDDx4TFf22b/J67ekFAev2tFt6JUCAAAECBAgQIECAAAECHVNAwLpj7qupCBBogsDyBR/F0nnvxtJ542J5zQexbMGkWL5oaqxYPCNql8yOFUvnxcrlC2Nl7ZJYWbu8CSt7lAABAgQIFLZAp5Ky6FTSJTqVdYvSzj2jpEufKK3oH2VdB0V59/WjrHJYdO45Mjr33DjKuq9X2MPojkAHEZjzzi0x9Zljs6apHLhHrD/6yg4yoTEIECBAgAABAgQIEMhXYNKY06Nm2lNZjw/a/ebovckx+S7Rbp8TsG63W6dxAgQIECBAgAABAgQIECDQYQQErDvMVhqEAAECBAgQIECAAAECBDqCwLR/nRKz37g2a5SqEUfEgM1P7wjjmYEAAQIECBAgQIAAgTwEpr91ZVSPvzPryT5bnhwDd7omj7fb/yMC1u1/D01AgAABAgQIECBAgAABAgTau4CAdXvfQf0TIECAAAECBAgQIECAQIcT+PDh/WPBpIez5hqw2SlRNfIrHW5WAxEgQIAAAQIECBAgkC1QPe73Mf3t7CB19/X3iw32+3vRUAlYF81WG5QAAQIECBAgQIAAAQIECBSsgIB1wW6NxggQIECAAAECBAgQIECgWAVWLJ4eHzy4WyydOzaLYMi2P42e6322WFnMTYAAAQIECBAgQKDDC8z76G8x+dUfZc3ZudeoGHbgs1FaMaDDz79qQAHrotlqgxIgQIAAAQIECBAgQIAAgYIVELAu2K3RGAECBAgQIECAAAECBAgUs8DiGS/HB3/9VKxcsTiLYf0dronKAbsVM43ZCRAgQIAAAQIECHRIgZrpz8akl0/Jmq1TaUUM+9zTUdF/hw45c0NDCVgX1XYblgABAgQIECBAgAABAgQIFKSAgHVBboumCBAgQIAAAQIECBAgQIBAxPwJ98VHjx2SRdGppHNssOP10a1qO0QECBAgQIAAAQIECHQQgYXV/44PXzwhVtYuzZpovc/8JXoMP7iDTJn/GALW+Vt5kgABAgQIECBAgAABAgQIEGgbAQHrtnG1KgECBAgQIECAAAECBAgQaBWBOf+9KaY+++2stUrLe8YGn7wuKnpv0So1LEKAAAECBAgQIECAQHoCi+e8GR++dGKsWDYvq4lBu90YvTc9Lr3GUqwsYJ0ivtIECBAgQIAAAQIECBAgQIBAnYCAtYNAgAABAgQIECBAgAABAgQKXGDWa5fGjJfPzuqyrEtVrL/DtVHRa7MC7157BAgQIECAAAECBAg0JLB47tsx6eWTY/mS6qxH+u9wSfTd5qyihROwLtqtNzgBAgQIECBAgAABAgQIECgYAQHrgtkKjRAgQIAAAQIECBAgQIAAgYYFZoz5Ycx69aKsB+pC1qOvdpO1g0OAAAECBAgQIECgHQokN1dPGnPqGuHqvtueG/1HX9gOJ2q9lgWsW8/SSgQIECBAgAABAgQIECBAgEDzBASsm+fmLQIECBAgQIAAAQIECBAgsM4Fpr/4/ah+/YqsuqXlPWO90VdGt6rt1nk/ChIgQIAAAQIECBAg0DyBhdX/jo/GnB4rls3LWqBqqzNiwI4/a96iHegtAesOtJlGIUCAAAECBAgQIECAAAEC7VRAwLqdbpy2CRAgQIAAAQIECBAgQKA4Bab/67SofuPqrOE7lXSO9ba/PCoH7FacKKYmQIAAAQIECBAg0I4EaqY/Gx+98oNYWbs0q+uqLU+NATtd1Y4mabtWBazbztbKBAgQIECAAAECBAgQIECAQH4CAtb5OXmKAAECBAgQIECAAAECBAgUjECum6yT5oZs+9Poud5nC6ZPjRAgQIAAAQIECBAgkC0w76O/xeRXf7QGi5urs0kErH3nECBAgAABAgQIECBAgAABAmkLCFinvQPqEyBAgAABAgQIECBAgACBZgjMGPPDmPXqRWu8OWCzU6Jq5FeasaJXCBAgQIAAAQIECBBoS4Hqcb+P6W9fs0aJvtueG/1HX9iWpdvd2gLW7W7LNEyAAAECBAgQIECAAAECBDqcgIB1h9tSAxEgQIAAAQIECBAgQIBAsQjMeu3SmPHy2WuMWzXiiBiw+enFwmBOAgQIECBAgAABAgUvMP2tK6N6/J1r9Nl/h0ui7zZnFXz/67pBAet1La4eAQIECBAgQIAAAQIECBAgUF9AwNqZIECAAAECBAgQIECAAAEC7Vhgzn9viqnPfnuNCSoH7hFDtvlJlJT3aMfTaZ0AAQIECBAgQIBA+xaoXTY/Jr/2k6iZ9tQagwza7cbovelx7XvANupewLqNYC1LgAABAgQIECBAgAABAgQI5C0gYJ03lQcJECBAgAABAgQIECBAgEBhCsyfcF9MfuKIWLlicVaDnSuHx+Ctfxxd+2xVmI3rigABAgQIECBAgEAHFlg0+/WY8p/zY2nNhKwpO5VWxJC97oweww/uwNO3bDQB65b5eZsAAQIECBAgQIAAAQIECBBouYCAdcsNrUCAAAECBAgQIECAAAECBFIXWDzj5Zj85FGxdO7YNXoZtNU50Xvooan3qAECBAgQIECAAAECxSIwZ+K9MfX1i9cYt3OvUTFkzz9ERf8dioWiWXMKWDeLzUsECBAgQIAAAQIECBAgQIBAKwoIWLcipqUIECBAgAABAgQIECBAgECaAisWT4/JTx4dCyY9vEYbvYceEoO2PDuiU0maLapNgAABAgQIECBAoGMLrKyNqW9cEnMm/mWNObuvv18M2fO2KK0Y0LENWmE6AetWQLQEAQIECBAgQIAAAQIECBAg0CIBAesW8XmZAAECBAgQIECAAAECBAgUnsC0f50Ss9+4do3GuvTYKAZueWZ0q9qu8JrWEQECBAgQIECAAIF2LrCw+t8x7Y3LYsn899aYpM+WJ8fAna5p5xOuu/YFrNedtUoECBAgQIAAAQIECBAgQIBAbgEBayeDAAECBAgQIECAAAECBAh0QIE579wSU585Nudk/Tb+TvQbdUwHnNpIBAgQIECAAAECBNIRmDn2lpj57g05iw/a/ebovYl//m7KzghYN0XLswQIECBAgAABAgQIECBAgEBbCAhYt4WqNQkQIECAAAECBAgQIECAQAEILJ75Skx99juxeOaYNbpJbrEesNkpUdF7iwLoVAsECBAgQIAAAQIE2qfA4jlvxvS3r4nk9ur6n4p+o2PQbjdERb/t2+dwKXYtYJ0ivtIECBAgQIAAAQIECBAgQIBAnYCAtYNAgAABAgQIECBAgAABAgQ6uMC0F06M2W/+IueU/UZ9K/pt/N0OLmA8AgQIECBAgAABAq0vMPPdX8XMsbfmXLjPFt+LgTtf1/pFi2RFAesi2WhjEiBAgAABAgQIECBAgACBAhYQsC7gzdEaAQIECBAgQIAAAQIECBBoLYH54++OaS+cHMsXTlljyS49Rkb/TY6PyoF7tlY56xAgQIAAAQIECBDosAI1056MGe/8MpbMH7fGjGXdBsfAna+NHiMO67Dzr4vBBKzXhbIaBAgQIECAAAECBAgQIECAwNoEBKydDwIECBAgQIAAAQIECBAgUCQCKxbPiukvnhZzx/4u58Q9B+8T/TY+LjpXjigSEWMSIECAAAECBAgQyF9gac34mPnuTTFvyqM5X+o16msxYMerorSib/6LejKngIC1g0GAAAECBAgQIECAAAECBAikLSBgnfYOqE+AAAECBAgQIECAAAECBNaxwLxxd8WMl86MZTUTc1auGvnV6LfRN6OkvMc67kw5AgQIECBAgAABAoUnULtsfsx879dRPe72nM2VVw6N/p+8LHqOPLzwmm+nHQlYt9ON0zYBAgQIECBAgAABAgQIEOhAAgLWHWgzjUKAAAECBAgQIECAAAECBPIVWLl8UUwfc3bMfuPanK+UlFVG342+Hn1Hfi2iU0m+y3qOAAECBAgQIECAQMcRWFkbs8b9Lma999uoXV6Tc64+W54cA0ZfEp3KunacuQtgEgHrAtgELRAgQIAAAQIECBAgQIAAgSIXELAu8gNgfAIECBAgQIAAAQIECBAoboFF056PGa/8KBZOfjwnRFmXflE18itRNeJIQeviPiqmJ0CAAAECBAgUj8DK2qgef0dUj/t9LF8yM+fc3YbsHf23/2l0HbhL8bisw0kFrNchtlIECBAgQIAAAQIECBAgQIBATgEBaweDAAECBAgQIECAAAECBAgQiLljb4uZ/74gls17P6dGWZeq6DP88Ogz7LAoKe9BjAABAgQIECBAgECHE6hdNj9mf3B3zJ5wVyxfUp1zvvKeG0a/7c6LXqOO7nDzF9JAAtaFtBt6IUCAAAECBAgQIECAAAECxSkgYF2c+25qAgQIECBAgAABAgQIECCQU2DWa5dG8p/apXNzfr1TSefoM+wL0XvoodG5cgRFAgQIECBAgAABAu1eYGnN+Jgz8d6Y/cGfY2Xt0pzzlHTuFX23OavuPz5tLyBg3fbGKhAgQIAAAQIECBAgQIAAAQJrFxCwdkIIECBAgAABAgQIECBAgACBLIHapfNi1n8uj+rXr4yVKxY3qFM5cI/ovcGBUTlwT4IECBAgQIAAAQIE2p1AzbQnY86HD0bNtKca7L1TaUVUbXV69N36B1HSuWe7m7G9Nixg3V53Tt8ECBAgQIAAAQIECBAgQKDjCAhYd5y9NAkBAgQIECBAgAABAgQIEGhVgRWLZ0X1G1fH7Dd/HsmvS2/oU95tSPRab//oOWQ/t1q36g5YjAABAgQIECBAoLUFktuq501+OOZ+9PdYtnByg8uXlPeIPlucFFVbnhqlFX1buw3rNSIgYO2IECBAgAABAgQIECBAgAABAmkLCFinvQPqEyBAgAABAgQIECBAgACBAheoXVYTs9/6Rcx5+1exrGbiWrvtVrVd9Bi8d/QYtFeUVQws8Mm0R4AAAQIECBAgUAwCyxdPi/lTn4j5Ux6PhdX/XuvI5ZVDo/dm340+m38vSsori4GnIGcUsC7IbdEUAQIECBAgQIAAAQIECBAoKgEB66LabsMSIECAAAECBAgQIECAAIGWCcwde1vM+e/NsWjac40u1K3v9lE5YPeoHLCrm60b1fIAAQIECBAgQIBAawokN1XXTH8uaqY/EwtnvdLo0l0H7hq9Nz02eo06utFnPdD2AgLWbW+sAgECBAgQIECAAAECBAgQILB2AQFrJ4QAAQIECBAgQIAAAQIECBBossCiac/H3LG/jbljb4+VKxY3+n7nyuHRvd+O0b3fDtGtavtIfuW6DwECBAgQIECAAIHWEqhdNj8WVr8SC2a+HAtmvhhLayY0unSn0oroNeqr0WvU16PrwF0afd4D605AwHrdWatEgAABAgQIECBAgAABAgQI5BYQsHYyCBAgQIAAAQIECBAgQIAAgWYLrFy+KOa+/4eY9/5dsXDy43mvU9F78+jWZ5uo6L1VdO29RZR3Wy/vdz1IgAABAgQIECBAYNnCj2LRnDdj8ZzXY+Hs12LxnLfyRuk2ZO/oueHh0WvDo6JTWde83/PguhMQsF531ioRIECAAAECBAgQIECAAAECuQUErJ0MAgQIECBAgAABAgQIECBAoFUEls0fF/PH/znmT/hLLJr+QpPWLOtSFV16bhJdemwUXXpsGF0qR0Tn7kPddN0kRQ8TIECAAAECBDqeQHIz9dIFE2NJzfhYMv/9WDL/vVgy751YvqS6ScN2HbBz9Bh+SPQY8YUo7zGySe96eN0LCFive3MVCRAgQIAAAQIECBAgQIAAgWwBAWsnggABAgQIECBAgAABAgQIEGh1gSRsXTPxr1Hz4d9jwaSHm71+Erwu7zokyrsOjrKuA6KsS/9I/qy0c+8oLe8VJeWVUVLaLUpKK6JTaZfo1KksolNJs+t5kQABAgRdmrqCAAAgAElEQVQIECBAoA0FVtbGypXLY+WKJVG7YnHUrlgYtctqYsWyubFi6Zy60PTyJTNi+aLpsWzRlFi2aHKTg9Srd999/f2icoP9o3Lo54Sq23Bb22JpAeu2ULUmAQIECBAgQIAAAQIECBAg0BQBAeumaHmWAAECBAgQIECAAAECBAgQaLLAyuWLYsFHj8aCKf+MhZOfjCXVrzV5DS8QIECAAAECBAgQaEygS9U20W3IntF98Kej+3r7RKeyro294usFKiBgXaAboy0CBAgQIECAAAECBAgQIFBEAgLWRbTZRiVAgAABAgQIECBAgAABAoUgsGLR9Fg47flYPP2FWDTjpVg885VIfvW7DwECBAgQIECAAIF8BUrKe0RFv+2ja/9PRsWAnaPbwF2itOuAfF/3XIELCFgX+AZpjwABAgQIECBAgAABAgQIFIGAgHURbLIRCRAgQIAAAQIECBAgQIBAoQssnfN2LK5+LZZUvxFL57wVS+e+E0vnjo2VtcsKvXX9ESBAgAABAgQItKFAp5Ly6NxrVHTutUl07r15dKnaMiqqtonOvTdrw6qWTltAwDrtHVCfAAECBAgQIECAAAECBAgQELB2BggQIECAAAECBAgQIECAAIGCFVhW80Esmz8hli2YGMsXfBTLF02N5AbsFYtnxools6N22dyoXVYTtcsXxsoVS/4XyF65omDn0RgBAgQIECBAoKgFOpVGEpjuVNolSsq6RUl5ZZSU94rSLn2itKJf3Q3UZV0HRVn39aK8+9Ao7zE8yiuHFTVZsQ4vYF2sO29uAgQIECBAgAABAgQIECBQOAIC1oWzFzohQIAAAQIECBAgQIAAAQIECBAgQIAAAQIECBAgUPQCAtZFfwQAECBAgAABAgQIECBAgACB1AUErFPfAg0QIECAAAECBAgQIECAAAECBAgQIECAAAECBAgQILBKQMDaWSBAgAABAgQIECBAgAABAgTSFhCwTnsH1CdAgAABAgQIECBAgAABAgQIECBAgAABAgQIECBAICMgYO0wECBAgAABAgQIECBAgAABAmkLCFinvQPqEyBAgAABAgQIECBAgAABAgQIECBAgAABAgQIECCQERCwdhgIECBAgAABAgQIECBAgACBtAUErNPeAfUJECBAgAABAgQIECBAgAABAgQIECBAgAABAgQIEMgICFg7DAQIECBAgAABAgQIECBAgEDaAgLWae+A+gQIECBAgAABAgQIECBAgAABAgQIECBAgAABAgQIZAQErB0GAgQIECBAgAABAgQIECBAIG0BAeu0d0B9AgQIECBAgAABAgQIECBAgAABAgQIECBAgAABAgQyAgLWDgMBAgQIECBAgAABAgQIECCQtoCAddo7oD4BAgQIECBAgAABAgQIECBAgAABAgQIECBAgAABAhkBAWuHgQABAgQIECBAgAABAgQIEEhbQMA67R1QnwABAgQIECBAgAABAgQIECBAgAABAgQIECBAgACBjICAtcNAgAABAgQIECBAgAABAgQIpC0gYJ32DqhPgAABAgQIECBAgAABAgQIECBAgAABAgQIECBAgEBGQMDaYSBAgAABAgQIECBAgAABAgTSFhCwTnsH1CdAgAABAgQIECBAgAABAgQIECBAgAABAgQIECBAICMgYO0wECBAgAABAgQIECBAgAABAmkLCFinvQPqEyBAgAABAgQIECBAgAABAgQIECBAgAABAgQIECCQERCwdhgIECBAgAABAgQIECBAgACBtAUErNPeAfUJECBAgAABAgQIECBAgAABAgQIECBAgAABAgQIEMgICFg7DAQIECBAgAABAgQIECBAgEDaAgLWae+A+gQIECBAgAABAgQIECBAgAABAgQIECBAgAABAgQIZAQErB0GAgQIECBAgAABAgQIECBAIG0BAeu0d0B9AgQIECBAgAABAgQIECBAgAABAgQIECBAgAABAgQyAgLWDgMBAgQIECBAgAABAgQIECCQtoCAddo7oD4BAgQIECBAgAABAgQIECBAgAABAgQIECBAgAABAhkBAWuHgQABAgQIECBAgAABAgQIEEhbQMA67R1QnwABAgQIECBAgAABAgQIECBAgAABAgQIECBAgACBjICAtcNAgAABAgQIECBAgAABAgQIpC0gYJ32DqhPgAABAgQIECBAgAABAgQIECBAgAABAgQIECBAgEBGQMDaYSBAgAABAgQIECBAgAABAgTSFhCwTnsH1CdAgAABAgQIECBAgAABAgQIECBAgAABAgQIECBAICMgYO0wECBAgAABAgQIECBAgAABAmkLCFinvQPqEyBAgAABAgQIECBAgAABAgQIECBAgAABAgQIECCQERCwdhgIECBAgAABAgQIECBAgACBtAUErNPeAfUJECBAgAABAgQIECBAgAABAgQIECBAgAABAgQIEMgICFg7DAQIECBAgAABAgQIECBAgEDaAgLWae+A+gQIECBAgAABAgQIECBAgAABAgQIECBAgAABAgQIZAQErB0GAgQIECBAgAABAgQIECBAIG0BAeu0d0B9AgQIECBAgAABAgQIECBAgAABAgQIECBAgAABAgQyAgLWDgMBAgQIECBAgAABAgQIECCQtoCAddo7oD4BAgQIECBAgAABAgQIECBAgAABAgQIECBAgAABAhkBAWuHgQABAgQIECBAgAABAgQIEEhbQMA67R1QnwABAgQIECBAgAABAgQIECBAgAABAgQIECBAgACBjICAtcNAgAABAgQIECBAgAABAgQIpC0gYJ32DqhPgAABAgQIECBAgAABAgQIECBAgAABAgQIECBAgEBGQMDaYSBAgAABAgQIECBAgAABAgTSFhCwTnsH1CdAgAABAgQIECBAgAABAgQIECBAgAABAgQIECBAICMgYO0wECBAgAABAgQIECBAgAABAmkLCFinvQPqEyBAgAABAgQIECBAgAABAgQIECBAgAABAgQIECCQERCwdhgIECBAgAABAgQIECBAgACBtAUErNPeAfUJECBAgAABAgQIECBAgAABAgQIECBAgAABAgQIEMgICFg7DAQIECBAgAABAgQIECBAgEDaAgLWae+A+gQIECBAgAABAgQIECBAgAABAgQIECBAgAABAgQIZAQErB0GAgQIECBAgAABAgQIECBAIG0BAeu0d0B9AgQIECBAgAABAgQIECBAgAABAgQIECBAgAABAgQyAgLWDgMBAgQIECBAgAABAgQIECCQtoCAddo7oD4BAgQIECBAgAABAgQIECBAgAABAgQIECBAgAABAhkBAWuHgQABAgQIECBAgAABAgQIEEhbQMA67R1QnwABAgQIECBAgAABAgQIECBAgAABAgQIECBAgACBjICAtcNAgAABAgQIECBAgAABAgQIpC0gYJ32DqhPgAABAgQIECBAgAABAgQIECBAgAABAgQIECBAgEBGQMDaYSBAgAABAgQIECBAgAABAgTSFhCwTnsH1CdAgAABAgQIECBAgAABAgQIECBAgAABAgQIECBAICMgYO0wECBAgAABAgQIECBAgAABAmkLCFinvQPqEyBAgAABAgQIECBAgAABAgQIECBAgAABAgQIECCQERCwdhgIECBAgAABAgQIECBAgACBtAUErNPeAfUJECBAgAABAgQIECBAgAABAgQIECBAgAABAgQIEMgICFg7DAQIECBAgAABAgQIECBAgEDaAgLWae+A+gQIECBAgAABAgQIECBAgAABAgQIECBAgAABAgQIZAQErB0GAgQIECBAgAABAgQIECBAIG0BAeu0d0B9AgQIECBAgAABAgQIECBAgAABAgQIECBAgAABAgQyAgLWDgMBAgQIECBAgAABAgQIECCQtoCAddo7oD4BAgQIECBAgAABAgQIECBAgAABAgQIECBAgAABAhkBAWuHgQABAgQIECBAgAABAgQIEEhbQMA67R1QnwABAgQIECBAgAABAgQIECBAgAABAgQIECBAgACBjICAtcNAgAABAgQIECBAgAABAgQIpC0gYJ32DqhPgAABAgQIECBAgAABAgQIECBAgAABAgQIECBAgEBGQMDaYSBAgAABAgQIECBAgAABAgTSFhCwTnsH1CdAgAABAgQIECBAgAABAgQIECBAgAABAgQIECBAICMgYO0wECBAgAABAgQIECBAgAABAmkLCFinvQPqEyBAgAABAgQIECBAgAABAgQIECBAgAABAgQIECCQERCwdhgIECBAgAABAgQIECBAgACBtAUErNPeAfUJECBAgAABAgQIECBAgAABAgQIECBAgAABAgQIEMgICFg7DAQIECBAgAABAgQIECBAgEDaAgLWae+A+gQIECBAgAABAgQIECBAgAABAgQIECBAgAABAgQIZAQErB0GAgQIECBAgAABAgQIECBAIG0BAeu0d0B9AgQIECBAgAABAgQIECBAgAABAgQIECBAgAABAgQyAgLWDgMBAgQIECBAgAABAgQIECCQtoCAddo7oD4BAgQIECBAgAABAgQIECBAgAABAgQIECBAgAABAhkBAWuHgQABAgQIECBAgAABAgQIEEhbQMA67R1QnwABAgQIECBAgAABAgQIECBAgAABAgQIECBAgACBjICAtcNAgAABAgQIECBAgAABAgQIpC0gYJ32DqhPgAABAgQIECBAgAABAgQIECBAgAABAgQIECBAgEBGQMDaYSBAgAABAgQIECBAgAABAgTSFhCwTnsH1CdAgAABAgQIECBAgAABAgQIECBAgAABAgQIECBAICMgYO0wECBAgAABAgQIECBAgAABAmkLCFinvQPqEyBAgAABAgQIECBAgAABAgQIECBAgAABAgQIECCQERCwdhgIECBAgAABAgQIECBAgACBtAUErNPeAfUJECBAgAABAgQIECBAgAABAgQIECBAgAABAgQIEMgICFg7DAQIECBAgAABAgQIECBAgEDaAgLWae+A+gQIECBAgAABAgQIECBAgAABAgQIECBAgAABAgQIZAQErB0GAgQIECBAgAABAgQIECBAIG0BAeu0d0B9AgQIECBAgAABAgQIECBAgAABAgQIECBAgAABAgQyAgLWDgMBAgQIECBAgAABAgQIECCQtoCAddo7oD4BAgQIECBAgAABAgQIECBAgAABAgQIECBAgAABAhkBAWuHgQABAgQIECBAgAABAgQIEEhbQMA67R1QnwABAgQIECBAgAABAgQIECBAgAABAgQIECBAgACBjICAtcNAgAABAgQIECBAgAABAgQIpC0gYJ32DqhPgAABAgQIECBAgAABAgQIECBAgAABAgQIECBAgEBGQMDaYSBAgAABAgQIECBAgAABAgTSFhCwTnsH1CdAgAABAgQIECBAgAABAgQIECBAgAABAgQIECBAICMgYO0wECBAgAABAgQIECBAgAABAmkLCFinvQPqEyBAgAABAgQIECBAgAABAgQIECBAgAABAgQIECCQERCwdhgIECBAgAABAgQIECBAgACBtAUErNPeAfUJECBAgAABAgQIECBAgAABAgQIECBAgAABAgQIEMgICFg7DAQIECBAgAABAgQIECBAgEDaAgLWae+A+gQIECBAgAABAgQIECBAgAABAgQIECBAgAABAgQIZAQErB0GAgQIECBAgAABAgQIECBAIG0BAeu0d0B9AgQIECBAgAABAgQIECBAgAABAgQIECBAgAABAgQyAgLWDgMBAgQIECBAgAABAgQIECCQtoCAddo7oD4BAgQIECBAgAABAgQIECBAgAABAgQIECBAgAABAhkBAWuHgQABAgQIECBAgAABAgQIEEhbQMA67R1QnwABAgQIECBAgAABAgQIECBAgAABAgQIECBAgACBjICAtcNAgAABAgQIECBAgAABAgQIpC0gYJ32DqhPgAABAgQIECBAgAABAgQIECBAgAABAgQIECBAgEBGQMDaYSBAgAABAgQIECBAgAABAgTSFhCwTnsH1CdAgAABAgQIECBAgAABAgQIECBAgAABAgQIECBAICMgYO0wECBAgAABAgQIECBAgAABAmkLCFinvQPqEyBAgAABAgQIECBAgAABAgQIECBAgAABAgQIECCQERCwdhgIECBAgAABAgQIECBAgACBtAUErNPeAfUJECBAgAABAgQIECBAgAABAgQIECBAgAABAgQIEMgICFg7DAQIECBAgAABAgQIECBAgEDaAgLWae+A+gQIECBAgAABAgQIECBAgAABAgQIECBAgAABAgQIZAQErB0GAgQIECBAgAABAgQIECBAIG0BAeu0d0B9AgQIECBAgAABAgQIECBAgAABAgQIECBAgAABAgQyAgLWDgMBAgQIECBAgAABAgQIECCQtoCAddo7oD4BAgQIECBAgAABAgQIECBAgAABAgQIECBAgAABAhkBAWuHgQABAgQIECBAgAABAgQIEEhbQMA67R1QnwABAgQIECBAgAABAgQIECBAgAABAgQIECBAgACBjICAtcNAgAABAgQIECBAgAABAgQIpC0gYJ32DqhPgAABAgQIECBAgAABAgQIECBAgAABAgQIECBAgEBGQMDaYSBAgAABAgQIECBAgAABAgTSFhCwTnsH1CdAgAABAgQIECBAgAABAgQIECBAgAABAgQIECBAICMgYO0wECBAgAABAgQIECBAgAABAmkLCFinvQPqEyBAgAABAgQIECBAgAABAgQIECBAgAABAgQIECCQERCwdhgIECBAgAABAgQIECBAgACBtAUErNPeAfUJECBAgAABAgQIECBAgAABAgQIECBAgAABAgQIEMgICFg7DAQIECBAgAABAgQIECBAgEDaAgLWae+A+gQIECBAgAABAgQIECBAgAABAgQIECBAgAABAgQIZAQErB0GAgQIECBAgAABAgQIECBAIG0BAeu0d0B9AgQIECBAgAABAgQIECBAgAABAgQIECBAgAABAgQyAgLWDgMBAgQIECBAgAABAgQIECCQtoCAddo7oD4BAgQIECBAgAABAgQIECBAgAABAgQIECBAgAABAhkBAWuHgQABAgQIECBAgAABAgQIEEhbQMA67R1QnwABAgQIECBAgAABAgQIECBAgAABAgQIECBAgACBjICAtcNAgAABAgQIECBAgAABAgQIpC0gYJ32DqhPgAABAgQIECBAgAABAgQIECBAgAABAgQIECBAgEBGQMDaYSBAgAABAgQIECBAgAABAgTSFhCwTnsH1CdAgAABAgQIECBAgAABAgQIECBAgAABAgQIECBAICMgYO0wECBAgAABAgQIECBAgAABAmkL/P927Ri5kSCGAaD//2k7Yy5UWdBCnd8czQajFRSs2wmYT4AAAQIECBAgQIAAAQIECBAgQIAAAQIECBAgQIDACShYOwYCBAgQIECAAAECBAgQIECgLaBg3U7AfAIECBAgQIAAAQIECBAgQIAAAQIECBAgQIAAAQIETkDB2jEQIECAAAECBAgQIECAAAECbQEF63YC5hMgQIAAAQIECBAgQIAAAQIECBAgQIAAAQIECBAgcAIK1o6BAAECBAgQIECAAAECBAgQaAsoWLcTMJ8AAQIECBAgQIAAAQIECBAgQIAAAQIECBAgQIAAgRNQsHYMBAgQIECAAAECBAgQIECAQFtAwbqdgPkECBAgQIAAAQIECBAgQIAAAQIECBAgQIAAAQIECJyAgrVjIECAAAECBAgQIECAAAECBNoCCtbtBMwnQIAAAQIECBAgQIAAAQIECBAgQIAAAQIECBAgQOAEFKwdAwECBAgQIECAAAECBAgQINAWULBuJ2A+AQIECBAgQIAAAQIECBAgQIAAAQIECBAgQIAAAQInoGDtGAgQIECAAAECBAgQIECAAIG2gIJ1OwHzCRAgQIAAAQIECBAgQIAAAQIECBAgQIAAAQIECBA4AQVrx0CAAAECBAgQIECAAAECBAi0BRSs2wmYT4AAAQIECBAgQIAAAQIECBAgQIAAAQIECBAgQIDACShYOwYCBAgQIECAAAECBAgQIECgLaBg3U7AfAIECBAgQIAAAQIECBAgQIAAAQIECBAgQIAAAQIETkDB2jEQIECAAAECBAgQIECAAAECbQEF63YC5hMgQIAAAQIECBAgQIAAAQIECBAgQIAAAQIECBAgcAIK1o6BAAECBAgQIECAAAECBAgQaAsoWLcTMJ8AAQIECBAgQIAAAQIECBAgQIAAAQIECBAgQIAAgRNQsHYMBAgQIECAAAECBAgQIECAQFtAwbqdgPkECBAgQIAAAQIECBAgQIAAAQIECBAgQIAAAQIECJyAgrVjIECAAAECBAgQIECAAAECBNoCCtbtBMwnQIAAAQIECBAgQIAAAQIECBAgQIAAAQIECBAgQOAEFKwdAwECBAgQIECAAAECBAgQINAWULBuJ2A+AQIECBAgQIAAAQIECBAgQIAAAQIECBAgQIAAAQInoGDtGAgQIECAAAECBAgQIECAAIG2gIJ1OwHzCRAgQIAAAQIECBAgQIAAAQIECBAgQIAAAQIECBA4AQVrx0CAAAECBAgQIECAAAECBAi0BRSs2wmYT4AAAQIECBAgQIAAAQIECBAgQIAAAQIECBAgQIDACShYOwYCBAgQIECAAAECBAgQIECgLaBg3U7AfAIECBAgQIAAAQIECBAgQIAAAQIECBAgQIAAAQIETkDB2jEQIECAAAECBAgQIECAAAECbQEF63YC5hMgQIAAAQIECBAgQIAAAQIECBAgQIAAAQIECBAgcAIK1o6BAAECBAgQIECAAAECBAgQaAsoWLcTMJ8AAQIECBAgQIAAAQIECBAgQIAAAQIECBAgQIAAgRNQsHYMBAgQIECAAAECBAgQIECAQFtAwbqdgPkECBAgQIAAAQIECBAgQIAAAQIECBAgQIAAAQIECJyAgrVjIECAAAECBAgQIECAAAECBNoCCtbtBMwnQIAAAQIECBAgQIAAAQIECBAgQIAAAQIECBAgQOAEFKwdAwECBAgQIECAAAECBAgQINAWULBuJ2A+AQIECBAgQIAAAQIECBAgQIAAAQIECBAgQIAAAQInoGDtGAgQIECAAAECBAgQIECAAIG2gIJ1OwHzCRAgQIAAAQIECBAgQIAAAQIECBAgQIAAAQIECBA4AQVrx0CAAAECBAgQIECAAAECBAi0BRSs2wmYT4AAAQIECBAgQIAAAQIECBAgQIAAAQIECBAgQIDACShYOwYCBAgQIECAAAECBAgQIECgLaBg3U7AfAIECBAgQIAAAQIECBAgQIAAAQIECBAgQIAAAQIETkDB2jEQIECAAAECBAgQIECAAAECbQEF63YC5hMgQIAAAQIECBAgQIAAAQIECBAgQIAAAQIECBAgcAIK1o6BAAECBAgQIECAAAECBAgQaAsoWLcTMJ8AAQIECBAgQIAAAQIECBAgQIAAAQIECBAgQIAAgRNQsHYMBAgQIECAAAECBAgQIECAQFtAwbqdgPkECBAgQIAAAQIECBAgQIAAAQIECBAgQIAAAQIECJyAgrVjIECAAAECBAgQIECAAAECBNoCCtbtBMwnQIAAAQIECBAgQIAAAQIECBAgQIAAAQIECBAgQOAEFKwdAwECBAgQIECAAAECBAgQINAWULBuJ2A+AQIECBAgQIAAAQIECBAgQIAAAQIECBAgQIAAAQInoGDtGAgQIECAAAECBAgQIECAAIG2gIJ1OwHzCRAgQIAAAQIECBAgQIAAAQIECBAgQIAAAQIECBA4AQVrx0CAAAECBAgQIECAAAECBAi0BRSs2wmYT4AAAQIECBAgQIAAAQIECBAgQIAAAQIECBAgQIDACShYOwYCBAgQIECAAAECBAgQIECgLfC4gnUbzHwCBAgQIECAAAECBAgQIECAAAECBAgQIECAAAECBN4q8ITfNN8KYhgBAgQIECBAgAABAgQIECDwvwJP+Bjx+78E/ncCBAgQIECAAAECBAgQIECAAAECBAgQIECAAAECBD5Y4Am/aX4wnz+NAAECBAgQIECAAAECBAgQeFXgCR8jFKxfTdW/J0CAAAECBAgQIECAAAECBAgQIECAAAECBAgQILAj8ITfNHe0bUKAAAECBAgQIECAAAECBAj8POFjhIK1QyVAgAABAgQIECBAgAABAgQIECBAgAABAgQIECDwvQJP+E3ze9OxOQECBAgQIECAAAECBAgQGBTwMWIwVCsRIECAAAECBAgQIECAAAECBAgQIECAAAECBAgQIECAAAECBAgQIECAAAECBAgQIJAJKFhnbl4RIECAAAECBAgQIECAAAECBAgQIECAAAECBAgQIECAAAECBAgQIECAAAECBAgQIDAooGA9GKqVCBAgQIAAAQIECBAgQIAAAQIECBAgQIAAAQIECBAgQIAAAQIECBAgQIAAAQIECBDIBBSsMzevCBAgQIAAAQIECBAgQIAAAQIECBAgQIAAAQIECBAgQIAAAQIECBAgQIAAAQIECBAYFFCwHgzVSgQIECBAgAABAgQIECBAgAABAgQIECBAgAABAgQIECBAgAABAgQIECBAgAABAgQIZAIK1pmbVwQIECBAgAABAgQIECBAgAABAgQIECBAgAABAgQIECBAgAABAgQIECBAgAABAgQIDAooWA+GaiUCBAgQIECAAAECBAgQIECAAAECBAgQIECAAAECBAgQIECAAAECBAgQIECAAAECBDIBBevMzSsCBAgQIECAAAECBAgQIECAAAECBAgQIECAAAECBAgQIECAAAECBAgQIECAAAECBAYFFKwHQ7USAQIECBAgQIAAAQIECBAgQIAAAQIECBAgQIAAAQIECBAgQIAAAQIECBAgQIAAAQKZgIJ15uYVAQIECBAgQIAAAQIECBAgQIAAAQIECHUOJ40AAAdbSURBVBAgQIAAAQIECBAgQIAAAQIECBAgQIAAAQKDAgrWg6FaiQABAgQIECBAgAABAgQIECBAgAABAgQIECBAgAABAgQIECBAgAABAgQIECBAgACBTEDBOnPzigABAgQIECBAgAABAgQIECBAgAABAgQIECBAgAABAgQIECBAgAABAgQIECBAgACBQQEF68FQrUSAAAECBAgQIECAAAECBAgQIECAAAECBAgQIECAAAECBAgQIECAAAECBAgQIECAQCagYJ25eUWAAAECBAgQIECAAAECBAgQIECAAAECBAgQIECAAAECBAgQIECAAAECBAgQIECAwKCAgvVgqFYiQIAAAQIECBAgQIAAAQIECBAgQIAAAQIECBAgQIAAAQIECBAgQIAAAQIECBAgQCATULDO3LwiQIAAAQIECBAgQIAAAQIECBAgQIAAAQIECBAgQIAAAQIECBAgQIAAAQIECBAgQGBQQMF6MFQrESBAgAABAgQIECBAgAABAgQIECBAgAABAgQIECBAgAABAgQIECBAgAABAgQIECCQCShYZ25eESBAgAABAgQIECBAgAABAgQIECBAgAABAgQIECBAgAABAgQIECBAgAABAgQIECAwKKBgPRiqlQgQIECAAAECBAgQIECAAAECBAgQIECAAAECBAgQIECAAAECBAgQIECAAAECBAgQyAQUrDM3rwgQIECAAAECBAgQIECAAAECBAgQIECAAAECBAgQIECAAAECBAgQIECAAAECBAgQGBRQsB4M1UoECBAgQIAAAQIECBAgQIAAAQIECBAgQIAAAQIECBAgQIAAAQIECBAgQIAAAQIECGQCCtaZm1cECBAgQIAAAQIECBAgQIAAAQIECBAgQIAAAQIECBAgQIAAAQIECBAgQIAAAQIECAwKKFgPhmolAgQIECBAgAABAgQIECBAgAABAgQIECBAgAABAgQIECBAgAABAgQIECBAgAABAgQyAQXrzM0rAgQIECBAgAABAgQIECBAgAABAgQIECBAgAABAgQIECBAgAABAgQIECBAgAABAgQGBRSsB0O1EgECBAgQIECAAAECBAgQIECAAAECBAgQIECAAAECBAgQIECAAAECBAgQIECAAAECmYCCdebmFQECBAgQIECAAAECBAgQIECAAAECBAgQIECAAAECBAgQIECAAAECBAgQIECAAAECgwIK1oOhWokAAQIECBAgQIAAAQIECBAgQIAAAQIECBAgQIAAAQIECBAgQIAAAQIECBAgQIAAgUxAwTpz84oAAQIECBAgQIAAAQIECBAgQIAAAQIECBAgQIAAAQIECBAgQIAAAQIECBAgQIAAgUEBBevBUK1EgAABAgQIECBAgAABAgQIECBAgAABAgQIECBAgAABAgQIECBAgAABAgQIECBAgEAmoGCduXlFgAABAgQIECBAgAABAgQIECBAgAABAgQIECBAgAABAgQIECBAgAABAgQIECBAgMCggIL1YKhWIkCAAAECBAgQIECAAAECBAgQIECAAAECBAgQIECAAAECBAgQIECAAAECBAgQIEAgE1Cwzty8IkCAAAECBAgQIECAAAECBAgQIECAAAECBAgQIECAAAECBAgQIECAAAECBAgQIEBgUEDBejBUKxEgQIAAAQIECBAgQIAAAQIECBAgQIAAAQIECBAgQIAAAQIECBAgQIAAAQIECBAgkAkoWGduXhEgQIAAAQIECBAgQIAAAQIECBAgQIAAAQIECBAgQIAAAQIECBAgQIAAAQIECBAgMCigYD0YqpUIECBAgAABAgQIECBAgAABAgQIECBAgAABAgQIECBAgAABAgQIECBAgAABAgQIEMgEFKwzN68IECBAgAABAgQIECBAgAABAgQIECBAgAABAgQIECBAgAABAgQIECBAgAABAgQIEBgUULAeDNVKBAgQIECAAAECBAgQIECAAAECBAgQIECAAAECBAgQIECAAAECBAgQIECAAAECBAhkAgrWmZtXBAgQIECAAAECBAgQIECAAAECBAgQIECAAAECBAgQIECAAAECBAgQIECAAAECBAgMCihYD4ZqJQIECBAgQIAAAQIECBAgQIAAAQIECBAgQIAAAQIECBAgQIAAAQIECBAgQIAAAQIEMgEF68zNKwIECBAgQIAAAQIECBAgQIAAAQIECBAgQIAAAQIECBAgQIAAAQIECBAgQIAAAQIEBgUUrAdDtRIBAgQIECBAgAABAgQIECBAgAABAgQIECBAgAABAgQIECBAgAABAgQIECBAgAABApmAgnXm5hUBAgQIECBAgAABAgQIECBAgAABAgQIECBAgAABAgQIECBAgAABAgQIECBAgAABAoMCCtaDoVqJAAECBAgQIECAAAECBAgQIECAAAECBAgQIECAAAECBAgQIECAAAECBAgQIECAAIFMQME6c/OKAAECBAgQIECAAAECBAgQIECAAAECBAgQIECAAAECBAgQIECAAAECBAgQIECAAIFBgT+wW5m/cSCByQAAAABJRU5ErkJggg=="/>
          <p:cNvSpPr>
            <a:spLocks noChangeAspect="1" noChangeArrowheads="1"/>
          </p:cNvSpPr>
          <p:nvPr/>
        </p:nvSpPr>
        <p:spPr bwMode="auto">
          <a:xfrm>
            <a:off x="63500" y="-136525"/>
            <a:ext cx="6915150" cy="44005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 name="Picture 3"/>
          <p:cNvPicPr>
            <a:picLocks noChangeAspect="1"/>
          </p:cNvPicPr>
          <p:nvPr/>
        </p:nvPicPr>
        <p:blipFill>
          <a:blip r:embed="rId2"/>
          <a:stretch>
            <a:fillRect/>
          </a:stretch>
        </p:blipFill>
        <p:spPr>
          <a:xfrm>
            <a:off x="2352552" y="1724297"/>
            <a:ext cx="7199276" cy="4435467"/>
          </a:xfrm>
          <a:prstGeom prst="rect">
            <a:avLst/>
          </a:prstGeom>
        </p:spPr>
      </p:pic>
    </p:spTree>
    <p:extLst>
      <p:ext uri="{BB962C8B-B14F-4D97-AF65-F5344CB8AC3E}">
        <p14:creationId xmlns:p14="http://schemas.microsoft.com/office/powerpoint/2010/main" val="43247811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1292942" y="1683038"/>
            <a:ext cx="9709355" cy="4524315"/>
          </a:xfrm>
          <a:prstGeom prst="rect">
            <a:avLst/>
          </a:prstGeom>
        </p:spPr>
        <p:txBody>
          <a:bodyPr wrap="square">
            <a:spAutoFit/>
          </a:bodyPr>
          <a:lstStyle/>
          <a:p>
            <a:pPr marL="342900" indent="-342900">
              <a:lnSpc>
                <a:spcPct val="150000"/>
              </a:lnSpc>
              <a:buFont typeface="Wingdings" panose="05000000000000000000" pitchFamily="2" charset="2"/>
              <a:buChar char="Ø"/>
            </a:pPr>
            <a:r>
              <a:rPr lang="en-IN" sz="2400" b="1" dirty="0" smtClean="0">
                <a:latin typeface="Times New Roman" panose="02020603050405020304" pitchFamily="18" charset="0"/>
                <a:cs typeface="Times New Roman" panose="02020603050405020304" pitchFamily="18" charset="0"/>
              </a:rPr>
              <a:t>Data Cleaning: </a:t>
            </a:r>
            <a:r>
              <a:rPr lang="en-IN" sz="2400" dirty="0">
                <a:latin typeface="Times New Roman" panose="02020603050405020304" pitchFamily="18" charset="0"/>
                <a:cs typeface="Times New Roman" panose="02020603050405020304" pitchFamily="18" charset="0"/>
              </a:rPr>
              <a:t>Remove or impute missing values.</a:t>
            </a:r>
          </a:p>
          <a:p>
            <a:pPr marL="342900" indent="-342900">
              <a:lnSpc>
                <a:spcPct val="150000"/>
              </a:lnSpc>
              <a:buFont typeface="Wingdings" panose="05000000000000000000" pitchFamily="2" charset="2"/>
              <a:buChar char="Ø"/>
            </a:pPr>
            <a:r>
              <a:rPr lang="en-IN" sz="2400" dirty="0" smtClean="0">
                <a:latin typeface="Times New Roman" panose="02020603050405020304" pitchFamily="18" charset="0"/>
                <a:cs typeface="Times New Roman" panose="02020603050405020304" pitchFamily="18" charset="0"/>
              </a:rPr>
              <a:t> </a:t>
            </a:r>
            <a:r>
              <a:rPr lang="en-IN" sz="2400" b="1" dirty="0" smtClean="0">
                <a:latin typeface="Times New Roman" panose="02020603050405020304" pitchFamily="18" charset="0"/>
                <a:cs typeface="Times New Roman" panose="02020603050405020304" pitchFamily="18" charset="0"/>
              </a:rPr>
              <a:t>Feature Selection: </a:t>
            </a:r>
            <a:r>
              <a:rPr lang="en-IN" sz="2400" dirty="0">
                <a:latin typeface="Times New Roman" panose="02020603050405020304" pitchFamily="18" charset="0"/>
                <a:cs typeface="Times New Roman" panose="02020603050405020304" pitchFamily="18" charset="0"/>
              </a:rPr>
              <a:t>Choose relevant features impacting hospital stay.</a:t>
            </a:r>
          </a:p>
          <a:p>
            <a:pPr marL="342900" indent="-342900">
              <a:lnSpc>
                <a:spcPct val="150000"/>
              </a:lnSpc>
              <a:buFont typeface="Wingdings" panose="05000000000000000000" pitchFamily="2" charset="2"/>
              <a:buChar char="Ø"/>
            </a:pPr>
            <a:r>
              <a:rPr lang="en-IN" sz="2400" b="1" dirty="0" smtClean="0">
                <a:latin typeface="Times New Roman" panose="02020603050405020304" pitchFamily="18" charset="0"/>
                <a:cs typeface="Times New Roman" panose="02020603050405020304" pitchFamily="18" charset="0"/>
              </a:rPr>
              <a:t>Data Transformation: </a:t>
            </a:r>
            <a:r>
              <a:rPr lang="en-IN" sz="2400" dirty="0">
                <a:latin typeface="Times New Roman" panose="02020603050405020304" pitchFamily="18" charset="0"/>
                <a:cs typeface="Times New Roman" panose="02020603050405020304" pitchFamily="18" charset="0"/>
              </a:rPr>
              <a:t>Normalize or standardize numerical data.</a:t>
            </a:r>
          </a:p>
          <a:p>
            <a:pPr marL="342900" indent="-342900">
              <a:lnSpc>
                <a:spcPct val="150000"/>
              </a:lnSpc>
              <a:buFont typeface="Wingdings" panose="05000000000000000000" pitchFamily="2" charset="2"/>
              <a:buChar char="Ø"/>
            </a:pPr>
            <a:r>
              <a:rPr lang="en-IN" sz="2400" b="1" dirty="0" smtClean="0">
                <a:latin typeface="Times New Roman" panose="02020603050405020304" pitchFamily="18" charset="0"/>
                <a:cs typeface="Times New Roman" panose="02020603050405020304" pitchFamily="18" charset="0"/>
              </a:rPr>
              <a:t>Encoding </a:t>
            </a:r>
            <a:r>
              <a:rPr lang="en-IN" sz="2400" b="1" dirty="0">
                <a:latin typeface="Times New Roman" panose="02020603050405020304" pitchFamily="18" charset="0"/>
                <a:cs typeface="Times New Roman" panose="02020603050405020304" pitchFamily="18" charset="0"/>
              </a:rPr>
              <a:t>Categorical </a:t>
            </a:r>
            <a:r>
              <a:rPr lang="en-IN" sz="2400" b="1" dirty="0" smtClean="0">
                <a:latin typeface="Times New Roman" panose="02020603050405020304" pitchFamily="18" charset="0"/>
                <a:cs typeface="Times New Roman" panose="02020603050405020304" pitchFamily="18" charset="0"/>
              </a:rPr>
              <a:t>Data: </a:t>
            </a:r>
            <a:r>
              <a:rPr lang="en-IN" sz="2400" dirty="0">
                <a:latin typeface="Times New Roman" panose="02020603050405020304" pitchFamily="18" charset="0"/>
                <a:cs typeface="Times New Roman" panose="02020603050405020304" pitchFamily="18" charset="0"/>
              </a:rPr>
              <a:t>Use one-hot encoding or label encoding for categorical variables.</a:t>
            </a:r>
          </a:p>
          <a:p>
            <a:pPr marL="342900" indent="-342900">
              <a:lnSpc>
                <a:spcPct val="150000"/>
              </a:lnSpc>
              <a:buFont typeface="Wingdings" panose="05000000000000000000" pitchFamily="2" charset="2"/>
              <a:buChar char="Ø"/>
            </a:pPr>
            <a:r>
              <a:rPr lang="en-IN" sz="2400" b="1" dirty="0" smtClean="0">
                <a:latin typeface="Times New Roman" panose="02020603050405020304" pitchFamily="18" charset="0"/>
                <a:cs typeface="Times New Roman" panose="02020603050405020304" pitchFamily="18" charset="0"/>
              </a:rPr>
              <a:t>Data Splitting: </a:t>
            </a:r>
            <a:r>
              <a:rPr lang="en-IN" sz="2400" dirty="0">
                <a:latin typeface="Times New Roman" panose="02020603050405020304" pitchFamily="18" charset="0"/>
                <a:cs typeface="Times New Roman" panose="02020603050405020304" pitchFamily="18" charset="0"/>
              </a:rPr>
              <a:t>Divide the dataset into training and testing sets.</a:t>
            </a:r>
          </a:p>
          <a:p>
            <a:pPr marL="342900" indent="-342900">
              <a:lnSpc>
                <a:spcPct val="150000"/>
              </a:lnSpc>
              <a:buFont typeface="Wingdings" panose="05000000000000000000" pitchFamily="2" charset="2"/>
              <a:buChar char="Ø"/>
            </a:pPr>
            <a:r>
              <a:rPr lang="en-IN" sz="2400" b="1" dirty="0" smtClean="0">
                <a:latin typeface="Times New Roman" panose="02020603050405020304" pitchFamily="18" charset="0"/>
                <a:cs typeface="Times New Roman" panose="02020603050405020304" pitchFamily="18" charset="0"/>
              </a:rPr>
              <a:t>Feature Engineering: </a:t>
            </a:r>
            <a:r>
              <a:rPr lang="en-IN" sz="2400" dirty="0">
                <a:latin typeface="Times New Roman" panose="02020603050405020304" pitchFamily="18" charset="0"/>
                <a:cs typeface="Times New Roman" panose="02020603050405020304" pitchFamily="18" charset="0"/>
              </a:rPr>
              <a:t>Create new features that might improve model performance.</a:t>
            </a:r>
          </a:p>
        </p:txBody>
      </p:sp>
      <p:sp>
        <p:nvSpPr>
          <p:cNvPr id="3" name="Rectangle 2"/>
          <p:cNvSpPr/>
          <p:nvPr/>
        </p:nvSpPr>
        <p:spPr>
          <a:xfrm>
            <a:off x="3898226" y="722360"/>
            <a:ext cx="4181914" cy="646331"/>
          </a:xfrm>
          <a:prstGeom prst="rect">
            <a:avLst/>
          </a:prstGeom>
        </p:spPr>
        <p:txBody>
          <a:bodyPr wrap="none">
            <a:spAutoFit/>
          </a:bodyPr>
          <a:lstStyle/>
          <a:p>
            <a:r>
              <a:rPr lang="en-IN" sz="3600" b="1" dirty="0">
                <a:latin typeface="Times New Roman" panose="02020603050405020304" pitchFamily="18" charset="0"/>
                <a:ea typeface="Poppins" panose="00000500000000000000"/>
                <a:cs typeface="Times New Roman" panose="02020603050405020304" pitchFamily="18" charset="0"/>
                <a:sym typeface="Poppins" panose="00000500000000000000"/>
              </a:rPr>
              <a:t>Pre-processing steps</a:t>
            </a:r>
            <a:endParaRPr lang="en-IN" sz="3600" dirty="0"/>
          </a:p>
        </p:txBody>
      </p:sp>
    </p:spTree>
    <p:extLst>
      <p:ext uri="{BB962C8B-B14F-4D97-AF65-F5344CB8AC3E}">
        <p14:creationId xmlns:p14="http://schemas.microsoft.com/office/powerpoint/2010/main" val="193915864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FE2E27F-2630-ED16-A1C7-8C95BF2005E2}"/>
              </a:ext>
            </a:extLst>
          </p:cNvPr>
          <p:cNvSpPr txBox="1"/>
          <p:nvPr/>
        </p:nvSpPr>
        <p:spPr>
          <a:xfrm>
            <a:off x="267285" y="936293"/>
            <a:ext cx="10747717" cy="5273238"/>
          </a:xfrm>
          <a:prstGeom prst="rect">
            <a:avLst/>
          </a:prstGeom>
          <a:noFill/>
        </p:spPr>
        <p:txBody>
          <a:bodyPr wrap="square">
            <a:spAutoFit/>
          </a:bodyPr>
          <a:lstStyle/>
          <a:p>
            <a:pPr algn="just">
              <a:lnSpc>
                <a:spcPct val="150000"/>
              </a:lnSpc>
              <a:spcAft>
                <a:spcPts val="100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1.	User: </a:t>
            </a:r>
          </a:p>
          <a:p>
            <a:pPr marL="342900" indent="-342900" algn="just">
              <a:lnSpc>
                <a:spcPct val="150000"/>
              </a:lnSpc>
              <a:spcAft>
                <a:spcPts val="1000"/>
              </a:spcAft>
              <a:buFont typeface="Wingdings" panose="05000000000000000000" pitchFamily="2" charset="2"/>
              <a:buChar char="Ø"/>
            </a:pPr>
            <a:r>
              <a:rPr lang="en-US" sz="2000" b="1" dirty="0" smtClean="0">
                <a:effectLst/>
                <a:latin typeface="Times New Roman" panose="02020603050405020304" pitchFamily="18" charset="0"/>
                <a:ea typeface="Calibri" panose="020F0502020204030204" pitchFamily="34" charset="0"/>
                <a:cs typeface="Times New Roman" panose="02020603050405020304" pitchFamily="18" charset="0"/>
              </a:rPr>
              <a:t>Input </a:t>
            </a: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Model:</a:t>
            </a:r>
          </a:p>
          <a:p>
            <a:pPr marL="342900" indent="-342900" algn="just">
              <a:lnSpc>
                <a:spcPct val="150000"/>
              </a:lnSpc>
              <a:spcAft>
                <a:spcPts val="1000"/>
              </a:spcAft>
              <a:buFont typeface="Wingdings" panose="05000000000000000000" pitchFamily="2" charset="2"/>
              <a:buChar char="Ø"/>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The user must provide input values for the certain fields in order to get results</a:t>
            </a:r>
            <a:r>
              <a:rPr lang="en-US" sz="2000" dirty="0" smtClean="0">
                <a:effectLst/>
                <a:latin typeface="Times New Roman" panose="02020603050405020304" pitchFamily="18" charset="0"/>
                <a:ea typeface="Calibri" panose="020F0502020204030204" pitchFamily="34" charset="0"/>
                <a:cs typeface="Times New Roman" panose="02020603050405020304" pitchFamily="18" charset="0"/>
              </a:rPr>
              <a:t>.</a:t>
            </a:r>
          </a:p>
          <a:p>
            <a:pPr marL="342900" indent="-342900" algn="just">
              <a:lnSpc>
                <a:spcPct val="150000"/>
              </a:lnSpc>
              <a:spcAft>
                <a:spcPts val="1000"/>
              </a:spcAft>
              <a:buFont typeface="Wingdings" panose="05000000000000000000" pitchFamily="2" charset="2"/>
              <a:buChar char="Ø"/>
            </a:pPr>
            <a:r>
              <a:rPr lang="en-US" sz="2000" b="1" dirty="0" smtClean="0">
                <a:latin typeface="Times New Roman" panose="02020603050405020304" pitchFamily="18" charset="0"/>
                <a:ea typeface="Calibri" panose="020F0502020204030204" pitchFamily="34" charset="0"/>
                <a:cs typeface="Times New Roman" panose="02020603050405020304" pitchFamily="18" charset="0"/>
              </a:rPr>
              <a:t>Upload dataset</a:t>
            </a:r>
            <a:endParaRPr lang="en-US" sz="2000" b="1"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indent="-342900" algn="just">
              <a:lnSpc>
                <a:spcPct val="150000"/>
              </a:lnSpc>
              <a:spcAft>
                <a:spcPts val="1000"/>
              </a:spcAft>
              <a:buFont typeface="Wingdings" panose="05000000000000000000" pitchFamily="2" charset="2"/>
              <a:buChar char="Ø"/>
            </a:pPr>
            <a:r>
              <a:rPr lang="en-US" sz="2000" b="1" dirty="0" smtClean="0">
                <a:effectLst/>
                <a:latin typeface="Times New Roman" panose="02020603050405020304" pitchFamily="18" charset="0"/>
                <a:ea typeface="Calibri" panose="020F0502020204030204" pitchFamily="34" charset="0"/>
                <a:cs typeface="Times New Roman" panose="02020603050405020304" pitchFamily="18" charset="0"/>
              </a:rPr>
              <a:t>View </a:t>
            </a: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Results:</a:t>
            </a:r>
          </a:p>
          <a:p>
            <a:pPr algn="just">
              <a:lnSpc>
                <a:spcPct val="150000"/>
              </a:lnSpc>
              <a:spcAft>
                <a:spcPts val="1000"/>
              </a:spcAft>
            </a:pPr>
            <a:r>
              <a:rPr lang="en-US" sz="2000" dirty="0" smtClean="0">
                <a:effectLst/>
                <a:latin typeface="Times New Roman" panose="02020603050405020304" pitchFamily="18" charset="0"/>
                <a:ea typeface="Calibri" panose="020F0502020204030204" pitchFamily="34" charset="0"/>
                <a:cs typeface="Times New Roman" panose="02020603050405020304" pitchFamily="18" charset="0"/>
              </a:rPr>
              <a:t>      User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view’s the generated results from the model.</a:t>
            </a:r>
          </a:p>
          <a:p>
            <a:pPr marL="342900" indent="-342900" algn="just">
              <a:lnSpc>
                <a:spcPct val="150000"/>
              </a:lnSpc>
              <a:spcAft>
                <a:spcPts val="1000"/>
              </a:spcAft>
              <a:buFont typeface="Wingdings" panose="05000000000000000000" pitchFamily="2" charset="2"/>
              <a:buChar char="Ø"/>
            </a:pPr>
            <a:r>
              <a:rPr lang="en-US" sz="2000" b="1" dirty="0" smtClean="0">
                <a:effectLst/>
                <a:latin typeface="Times New Roman" panose="02020603050405020304" pitchFamily="18" charset="0"/>
                <a:ea typeface="Calibri" panose="020F0502020204030204" pitchFamily="34" charset="0"/>
                <a:cs typeface="Times New Roman" panose="02020603050405020304" pitchFamily="18" charset="0"/>
              </a:rPr>
              <a:t>View </a:t>
            </a: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score:</a:t>
            </a:r>
          </a:p>
          <a:p>
            <a:pPr algn="just">
              <a:lnSpc>
                <a:spcPct val="150000"/>
              </a:lnSpc>
              <a:spcAft>
                <a:spcPts val="1000"/>
              </a:spcAft>
            </a:pPr>
            <a:r>
              <a:rPr lang="en-US" sz="2000" dirty="0" smtClean="0">
                <a:effectLst/>
                <a:latin typeface="Times New Roman" panose="02020603050405020304" pitchFamily="18" charset="0"/>
                <a:ea typeface="Calibri" panose="020F0502020204030204" pitchFamily="34" charset="0"/>
                <a:cs typeface="Times New Roman" panose="02020603050405020304" pitchFamily="18" charset="0"/>
              </a:rPr>
              <a:t>     Here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user have ability to view the accuracy in %  </a:t>
            </a:r>
          </a:p>
          <a:p>
            <a:pPr algn="just">
              <a:lnSpc>
                <a:spcPct val="150000"/>
              </a:lnSpc>
              <a:spcAft>
                <a:spcPts val="1000"/>
              </a:spcAft>
            </a:pPr>
            <a:endParaRPr lang="en-US" sz="2000" b="1"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919FDAFE-55EF-D24D-8AD8-026344D7CD0B}"/>
              </a:ext>
            </a:extLst>
          </p:cNvPr>
          <p:cNvSpPr txBox="1"/>
          <p:nvPr/>
        </p:nvSpPr>
        <p:spPr>
          <a:xfrm>
            <a:off x="4375053" y="-225084"/>
            <a:ext cx="6105378" cy="823752"/>
          </a:xfrm>
          <a:prstGeom prst="rect">
            <a:avLst/>
          </a:prstGeom>
          <a:noFill/>
        </p:spPr>
        <p:txBody>
          <a:bodyPr wrap="square">
            <a:spAutoFit/>
          </a:bodyPr>
          <a:lstStyle/>
          <a:p>
            <a:pPr>
              <a:lnSpc>
                <a:spcPct val="150000"/>
              </a:lnSpc>
            </a:pPr>
            <a:r>
              <a:rPr lang="en-US" sz="3600" b="1" dirty="0">
                <a:latin typeface="Times New Roman" panose="02020603050405020304" pitchFamily="18" charset="0"/>
                <a:cs typeface="Times New Roman" panose="02020603050405020304" pitchFamily="18" charset="0"/>
              </a:rPr>
              <a:t>MODULES</a:t>
            </a:r>
          </a:p>
        </p:txBody>
      </p:sp>
    </p:spTree>
    <p:extLst>
      <p:ext uri="{BB962C8B-B14F-4D97-AF65-F5344CB8AC3E}">
        <p14:creationId xmlns:p14="http://schemas.microsoft.com/office/powerpoint/2010/main" val="166066971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6D16822-D0C8-DFCF-EB6A-4D21A5D28115}"/>
              </a:ext>
            </a:extLst>
          </p:cNvPr>
          <p:cNvSpPr txBox="1"/>
          <p:nvPr/>
        </p:nvSpPr>
        <p:spPr>
          <a:xfrm>
            <a:off x="478301" y="778595"/>
            <a:ext cx="9439422" cy="5300810"/>
          </a:xfrm>
          <a:prstGeom prst="rect">
            <a:avLst/>
          </a:prstGeom>
          <a:noFill/>
        </p:spPr>
        <p:txBody>
          <a:bodyPr wrap="square">
            <a:spAutoFit/>
          </a:bodyPr>
          <a:lstStyle/>
          <a:p>
            <a:pPr algn="just">
              <a:lnSpc>
                <a:spcPct val="150000"/>
              </a:lnSpc>
              <a:spcAft>
                <a:spcPts val="100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2.	System</a:t>
            </a:r>
          </a:p>
          <a:p>
            <a:pPr algn="just">
              <a:lnSpc>
                <a:spcPct val="150000"/>
              </a:lnSpc>
              <a:spcAft>
                <a:spcPts val="100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2.1	Working on dataset: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System checks for data whether it is available or not and load the data in csv files.</a:t>
            </a:r>
          </a:p>
          <a:p>
            <a:pPr algn="just">
              <a:lnSpc>
                <a:spcPct val="150000"/>
              </a:lnSpc>
              <a:spcAft>
                <a:spcPts val="100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2.2	Pre-processing: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Data need to be pre-processed according the models it helps to increase the accuracy of the model and better information about the data.</a:t>
            </a:r>
          </a:p>
          <a:p>
            <a:pPr algn="just">
              <a:lnSpc>
                <a:spcPct val="150000"/>
              </a:lnSpc>
              <a:spcAft>
                <a:spcPts val="100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2.3	Training the data: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After pre-processing the data will split into two parts as train and test data before training with the given algorithms.</a:t>
            </a:r>
          </a:p>
          <a:p>
            <a:pPr algn="just">
              <a:lnSpc>
                <a:spcPct val="150000"/>
              </a:lnSpc>
              <a:spcAft>
                <a:spcPts val="100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2.4	Model Building: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To create a model that predicts the personality with better accuracy, this module will help user.</a:t>
            </a:r>
          </a:p>
          <a:p>
            <a:pPr algn="just">
              <a:lnSpc>
                <a:spcPct val="150000"/>
              </a:lnSpc>
              <a:spcAft>
                <a:spcPts val="100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2.5	Generated Score: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Here user view the score in %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3082469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3"/>
          <p:cNvSpPr/>
          <p:nvPr/>
        </p:nvSpPr>
        <p:spPr>
          <a:xfrm>
            <a:off x="478059" y="738300"/>
            <a:ext cx="10943303" cy="5355312"/>
          </a:xfrm>
          <a:prstGeom prst="rect">
            <a:avLst/>
          </a:prstGeom>
        </p:spPr>
        <p:txBody>
          <a:bodyPr wrap="square">
            <a:spAutoFit/>
          </a:bodyPr>
          <a:lstStyle/>
          <a:p>
            <a:pPr lvl="0" algn="just" eaLnBrk="0" fontAlgn="base" hangingPunct="0">
              <a:lnSpc>
                <a:spcPct val="150000"/>
              </a:lnSpc>
              <a:spcBef>
                <a:spcPct val="0"/>
              </a:spcBef>
              <a:spcAft>
                <a:spcPct val="0"/>
              </a:spcAft>
              <a:buClrTx/>
            </a:pPr>
            <a:r>
              <a:rPr lang="en-US" altLang="en-US" sz="2800" b="1" dirty="0">
                <a:latin typeface="Times New Roman" panose="02020603050405020304" pitchFamily="18" charset="0"/>
                <a:cs typeface="Times New Roman" panose="02020603050405020304" pitchFamily="18" charset="0"/>
              </a:rPr>
              <a:t>Random Forest</a:t>
            </a:r>
          </a:p>
          <a:p>
            <a:pPr lvl="0" algn="just" eaLnBrk="0" fontAlgn="base" hangingPunct="0">
              <a:lnSpc>
                <a:spcPct val="150000"/>
              </a:lnSpc>
              <a:spcBef>
                <a:spcPct val="0"/>
              </a:spcBef>
              <a:spcAft>
                <a:spcPct val="0"/>
              </a:spcAft>
              <a:buClrTx/>
            </a:pPr>
            <a:r>
              <a:rPr lang="en-US" altLang="en-US" sz="2000" dirty="0">
                <a:latin typeface="Times New Roman" panose="02020603050405020304" pitchFamily="18" charset="0"/>
                <a:cs typeface="Times New Roman" panose="02020603050405020304" pitchFamily="18" charset="0"/>
              </a:rPr>
              <a:t>Random Forest is an ensemble learning method that constructs multiple decision trees during training and outputs the mode of the classes (classification) or mean prediction (regression) of the individual trees. By combining the results of multiple trees, Random Forest improves prediction accuracy and robustness, reducing overfitting compared to a single decision tree</a:t>
            </a:r>
            <a:r>
              <a:rPr lang="en-US" altLang="en-US" sz="2000" dirty="0" smtClean="0">
                <a:latin typeface="Times New Roman" panose="02020603050405020304" pitchFamily="18" charset="0"/>
                <a:cs typeface="Times New Roman" panose="02020603050405020304" pitchFamily="18" charset="0"/>
              </a:rPr>
              <a:t>.</a:t>
            </a:r>
          </a:p>
          <a:p>
            <a:pPr lvl="0" algn="just" eaLnBrk="0" fontAlgn="base" hangingPunct="0">
              <a:lnSpc>
                <a:spcPct val="150000"/>
              </a:lnSpc>
              <a:spcBef>
                <a:spcPct val="0"/>
              </a:spcBef>
              <a:spcAft>
                <a:spcPct val="0"/>
              </a:spcAft>
              <a:buClrTx/>
            </a:pPr>
            <a:endParaRPr lang="en-US" altLang="en-US" sz="2000" dirty="0" smtClean="0">
              <a:latin typeface="Times New Roman" panose="02020603050405020304" pitchFamily="18" charset="0"/>
              <a:cs typeface="Times New Roman" panose="02020603050405020304" pitchFamily="18" charset="0"/>
            </a:endParaRPr>
          </a:p>
          <a:p>
            <a:pPr lvl="0" algn="just" eaLnBrk="0" fontAlgn="base" hangingPunct="0">
              <a:lnSpc>
                <a:spcPct val="150000"/>
              </a:lnSpc>
              <a:spcBef>
                <a:spcPct val="0"/>
              </a:spcBef>
              <a:spcAft>
                <a:spcPct val="0"/>
              </a:spcAft>
              <a:buClrTx/>
            </a:pPr>
            <a:r>
              <a:rPr lang="en-US" altLang="en-US" sz="2000" b="1" dirty="0">
                <a:latin typeface="Times New Roman" panose="02020603050405020304" pitchFamily="18" charset="0"/>
                <a:cs typeface="Times New Roman" panose="02020603050405020304" pitchFamily="18" charset="0"/>
              </a:rPr>
              <a:t>k-Nearest Neighbors (</a:t>
            </a:r>
            <a:r>
              <a:rPr lang="en-US" altLang="en-US" sz="2000" b="1" dirty="0" smtClean="0">
                <a:latin typeface="Times New Roman" panose="02020603050405020304" pitchFamily="18" charset="0"/>
                <a:cs typeface="Times New Roman" panose="02020603050405020304" pitchFamily="18" charset="0"/>
              </a:rPr>
              <a:t>k-NN):</a:t>
            </a:r>
          </a:p>
          <a:p>
            <a:pPr lvl="0" algn="just" eaLnBrk="0" fontAlgn="base" hangingPunct="0">
              <a:lnSpc>
                <a:spcPct val="150000"/>
              </a:lnSpc>
              <a:spcBef>
                <a:spcPct val="0"/>
              </a:spcBef>
              <a:spcAft>
                <a:spcPct val="0"/>
              </a:spcAft>
              <a:buClrTx/>
            </a:pPr>
            <a:r>
              <a:rPr lang="en-US" altLang="en-US" sz="2000" dirty="0" smtClean="0">
                <a:latin typeface="Times New Roman" panose="02020603050405020304" pitchFamily="18" charset="0"/>
                <a:cs typeface="Times New Roman" panose="02020603050405020304" pitchFamily="18" charset="0"/>
              </a:rPr>
              <a:t> k-Nearest </a:t>
            </a:r>
            <a:r>
              <a:rPr lang="en-US" altLang="en-US" sz="2000" dirty="0">
                <a:latin typeface="Times New Roman" panose="02020603050405020304" pitchFamily="18" charset="0"/>
                <a:cs typeface="Times New Roman" panose="02020603050405020304" pitchFamily="18" charset="0"/>
              </a:rPr>
              <a:t>Neighbors (k-NN) is a simple, yet powerful, non-parametric algorithm used for both classification and regression tasks in machine learning. It operates on the principle that similar data points are located close to each other in feature space. This algorithm is particularly useful for tasks where the decision boundary is irregular and cannot be easily defined by a linear equation.</a:t>
            </a:r>
            <a:endParaRPr lang="en-US" altLang="en-US" sz="2000" dirty="0" smtClean="0">
              <a:latin typeface="Times New Roman" panose="02020603050405020304" pitchFamily="18" charset="0"/>
              <a:cs typeface="Times New Roman" panose="02020603050405020304" pitchFamily="18" charset="0"/>
            </a:endParaRPr>
          </a:p>
        </p:txBody>
      </p:sp>
      <p:sp>
        <p:nvSpPr>
          <p:cNvPr id="6" name="Rectangle 5"/>
          <p:cNvSpPr/>
          <p:nvPr/>
        </p:nvSpPr>
        <p:spPr>
          <a:xfrm>
            <a:off x="3811455" y="0"/>
            <a:ext cx="3863558" cy="584775"/>
          </a:xfrm>
          <a:prstGeom prst="rect">
            <a:avLst/>
          </a:prstGeom>
        </p:spPr>
        <p:txBody>
          <a:bodyPr wrap="none">
            <a:spAutoFit/>
          </a:bodyPr>
          <a:lstStyle/>
          <a:p>
            <a:r>
              <a:rPr lang="en-IN" sz="3200" b="1" dirty="0">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872962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459025" y="529666"/>
            <a:ext cx="11154698" cy="3139321"/>
          </a:xfrm>
          <a:prstGeom prst="rect">
            <a:avLst/>
          </a:prstGeom>
        </p:spPr>
        <p:txBody>
          <a:bodyPr wrap="square">
            <a:spAutoFit/>
          </a:bodyPr>
          <a:lstStyle/>
          <a:p>
            <a:pPr algn="just">
              <a:lnSpc>
                <a:spcPct val="150000"/>
              </a:lnSpc>
            </a:pPr>
            <a:r>
              <a:rPr lang="en-US" altLang="en-US" sz="2400" b="1" dirty="0" smtClean="0">
                <a:latin typeface="Times New Roman" panose="02020603050405020304" pitchFamily="18" charset="0"/>
                <a:cs typeface="Times New Roman" panose="02020603050405020304" pitchFamily="18" charset="0"/>
              </a:rPr>
              <a:t>Decision Tree</a:t>
            </a:r>
            <a:endParaRPr lang="en-US" altLang="en-US" sz="2400" b="1" dirty="0">
              <a:latin typeface="Times New Roman" panose="02020603050405020304" pitchFamily="18" charset="0"/>
              <a:cs typeface="Times New Roman" panose="02020603050405020304" pitchFamily="18" charset="0"/>
            </a:endParaRPr>
          </a:p>
          <a:p>
            <a:pPr algn="just">
              <a:lnSpc>
                <a:spcPct val="150000"/>
              </a:lnSpc>
            </a:pPr>
            <a:r>
              <a:rPr lang="en-US" altLang="en-US" dirty="0">
                <a:latin typeface="Times New Roman" panose="02020603050405020304" pitchFamily="18" charset="0"/>
                <a:cs typeface="Times New Roman" panose="02020603050405020304" pitchFamily="18" charset="0"/>
              </a:rPr>
              <a:t>A decision tree is a non-parametric supervised learning algorithm. It has a hierarchical, tree structure, which consists of a root node, branches, internal nodes and leaf nodes.</a:t>
            </a:r>
          </a:p>
          <a:p>
            <a:pPr algn="just">
              <a:lnSpc>
                <a:spcPct val="150000"/>
              </a:lnSpc>
            </a:pPr>
            <a:r>
              <a:rPr lang="en-US" altLang="en-US" dirty="0">
                <a:latin typeface="Times New Roman" panose="02020603050405020304" pitchFamily="18" charset="0"/>
                <a:cs typeface="Times New Roman" panose="02020603050405020304" pitchFamily="18" charset="0"/>
              </a:rPr>
              <a:t>Decision Trees are the foundation for many classical machine learning algorithms like Random Forests, Bagging, and Boosted Decision Trees. His idea was to represent data as a tree where each internal node denotes a test on an attribute (basically a condition), each branch represents an outcome of the test, and each leaf node (terminal node) holds a class label</a:t>
            </a:r>
            <a:r>
              <a:rPr lang="en-US" altLang="en-US" dirty="0" smtClean="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69255212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237441" y="163461"/>
            <a:ext cx="8911687" cy="518616"/>
          </a:xfrm>
        </p:spPr>
        <p:txBody>
          <a:bodyPr>
            <a:noAutofit/>
          </a:bodyPr>
          <a:lstStyle/>
          <a:p>
            <a:pPr algn="ctr"/>
            <a:r>
              <a:rPr lang="en-US" b="1" dirty="0">
                <a:solidFill>
                  <a:schemeClr val="tx1"/>
                </a:solidFill>
                <a:latin typeface="Times New Roman" panose="02020603050405020304" pitchFamily="18" charset="0"/>
                <a:cs typeface="Times New Roman" panose="02020603050405020304" pitchFamily="18" charset="0"/>
              </a:rPr>
              <a:t>REFERENCES</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B7C4B50E-1F88-E257-3388-5F145097B735}"/>
              </a:ext>
            </a:extLst>
          </p:cNvPr>
          <p:cNvSpPr txBox="1"/>
          <p:nvPr/>
        </p:nvSpPr>
        <p:spPr>
          <a:xfrm>
            <a:off x="388228" y="682077"/>
            <a:ext cx="11085342" cy="6001643"/>
          </a:xfrm>
          <a:prstGeom prst="rect">
            <a:avLst/>
          </a:prstGeom>
          <a:noFill/>
        </p:spPr>
        <p:txBody>
          <a:bodyPr wrap="square">
            <a:spAutoFit/>
          </a:bodyPr>
          <a:lstStyle/>
          <a:p>
            <a:pPr algn="just">
              <a:lnSpc>
                <a:spcPct val="150000"/>
              </a:lnSpc>
            </a:pPr>
            <a:r>
              <a:rPr lang="en-US" sz="2000" dirty="0">
                <a:latin typeface="Times New Roman" panose="02020603050405020304" pitchFamily="18" charset="0"/>
                <a:ea typeface="Times New Roman" panose="02020603050405020304" pitchFamily="18" charset="0"/>
              </a:rPr>
              <a:t>1. ALESKEROV E, FREISLEBEN, B., and, RAO B (1997) CARDWATCH: A neural network-based database mining system for credit card fraud detection. In Conference (pp. 220–226). IEEE, Piscataway, NJ </a:t>
            </a:r>
          </a:p>
          <a:p>
            <a:pPr algn="just">
              <a:lnSpc>
                <a:spcPct val="150000"/>
              </a:lnSpc>
            </a:pPr>
            <a:r>
              <a:rPr lang="en-US" sz="2000" dirty="0">
                <a:latin typeface="Times New Roman" panose="02020603050405020304" pitchFamily="18" charset="0"/>
                <a:ea typeface="Times New Roman" panose="02020603050405020304" pitchFamily="18" charset="0"/>
              </a:rPr>
              <a:t>2. </a:t>
            </a:r>
            <a:r>
              <a:rPr lang="en-US" sz="2000" dirty="0" err="1">
                <a:latin typeface="Times New Roman" panose="02020603050405020304" pitchFamily="18" charset="0"/>
                <a:ea typeface="Times New Roman" panose="02020603050405020304" pitchFamily="18" charset="0"/>
              </a:rPr>
              <a:t>Sahin</a:t>
            </a:r>
            <a:r>
              <a:rPr lang="en-US" sz="2000" dirty="0">
                <a:latin typeface="Times New Roman" panose="02020603050405020304" pitchFamily="18" charset="0"/>
                <a:ea typeface="Times New Roman" panose="02020603050405020304" pitchFamily="18" charset="0"/>
              </a:rPr>
              <a:t> M (2017) Understanding Telephony Fraud as an Essential Step to Better Fight it [Thesis]. </a:t>
            </a:r>
            <a:r>
              <a:rPr lang="en-US" sz="2000" dirty="0" err="1">
                <a:latin typeface="Times New Roman" panose="02020603050405020304" pitchFamily="18" charset="0"/>
                <a:ea typeface="Times New Roman" panose="02020603050405020304" pitchFamily="18" charset="0"/>
              </a:rPr>
              <a:t>École</a:t>
            </a:r>
            <a:r>
              <a:rPr lang="en-US" sz="2000" dirty="0">
                <a:latin typeface="Times New Roman" panose="02020603050405020304" pitchFamily="18" charset="0"/>
                <a:ea typeface="Times New Roman" panose="02020603050405020304" pitchFamily="18" charset="0"/>
              </a:rPr>
              <a:t> </a:t>
            </a:r>
            <a:r>
              <a:rPr lang="en-US" sz="2000" dirty="0" err="1">
                <a:latin typeface="Times New Roman" panose="02020603050405020304" pitchFamily="18" charset="0"/>
                <a:ea typeface="Times New Roman" panose="02020603050405020304" pitchFamily="18" charset="0"/>
              </a:rPr>
              <a:t>Doctorale</a:t>
            </a:r>
            <a:r>
              <a:rPr lang="en-US" sz="2000" dirty="0">
                <a:latin typeface="Times New Roman" panose="02020603050405020304" pitchFamily="18" charset="0"/>
                <a:ea typeface="Times New Roman" panose="02020603050405020304" pitchFamily="18" charset="0"/>
              </a:rPr>
              <a:t> </a:t>
            </a:r>
            <a:r>
              <a:rPr lang="en-US" sz="2000" dirty="0" err="1">
                <a:latin typeface="Times New Roman" panose="02020603050405020304" pitchFamily="18" charset="0"/>
                <a:ea typeface="Times New Roman" panose="02020603050405020304" pitchFamily="18" charset="0"/>
              </a:rPr>
              <a:t>Informatique</a:t>
            </a:r>
            <a:r>
              <a:rPr lang="en-US" sz="2000" dirty="0">
                <a:latin typeface="Times New Roman" panose="02020603050405020304" pitchFamily="18" charset="0"/>
                <a:ea typeface="Times New Roman" panose="02020603050405020304" pitchFamily="18" charset="0"/>
              </a:rPr>
              <a:t>, </a:t>
            </a:r>
            <a:r>
              <a:rPr lang="en-US" sz="2000" dirty="0" err="1">
                <a:latin typeface="Times New Roman" panose="02020603050405020304" pitchFamily="18" charset="0"/>
                <a:ea typeface="Times New Roman" panose="02020603050405020304" pitchFamily="18" charset="0"/>
              </a:rPr>
              <a:t>Télécommunication</a:t>
            </a:r>
            <a:r>
              <a:rPr lang="en-US" sz="2000" dirty="0">
                <a:latin typeface="Times New Roman" panose="02020603050405020304" pitchFamily="18" charset="0"/>
                <a:ea typeface="Times New Roman" panose="02020603050405020304" pitchFamily="18" charset="0"/>
              </a:rPr>
              <a:t> et </a:t>
            </a:r>
            <a:r>
              <a:rPr lang="en-US" sz="2000" dirty="0" err="1">
                <a:latin typeface="Times New Roman" panose="02020603050405020304" pitchFamily="18" charset="0"/>
                <a:ea typeface="Times New Roman" panose="02020603050405020304" pitchFamily="18" charset="0"/>
              </a:rPr>
              <a:t>Électronique</a:t>
            </a:r>
            <a:r>
              <a:rPr lang="en-US" sz="2000" dirty="0">
                <a:latin typeface="Times New Roman" panose="02020603050405020304" pitchFamily="18" charset="0"/>
                <a:ea typeface="Times New Roman" panose="02020603050405020304" pitchFamily="18" charset="0"/>
              </a:rPr>
              <a:t>, Paris </a:t>
            </a:r>
          </a:p>
          <a:p>
            <a:pPr algn="just">
              <a:lnSpc>
                <a:spcPct val="150000"/>
              </a:lnSpc>
            </a:pPr>
            <a:r>
              <a:rPr lang="en-US" sz="2000" dirty="0">
                <a:latin typeface="Times New Roman" panose="02020603050405020304" pitchFamily="18" charset="0"/>
                <a:ea typeface="Times New Roman" panose="02020603050405020304" pitchFamily="18" charset="0"/>
              </a:rPr>
              <a:t>3. Abdallah A, </a:t>
            </a:r>
            <a:r>
              <a:rPr lang="en-US" sz="2000" dirty="0" err="1">
                <a:latin typeface="Times New Roman" panose="02020603050405020304" pitchFamily="18" charset="0"/>
                <a:ea typeface="Times New Roman" panose="02020603050405020304" pitchFamily="18" charset="0"/>
              </a:rPr>
              <a:t>Maarof</a:t>
            </a:r>
            <a:r>
              <a:rPr lang="en-US" sz="2000" dirty="0">
                <a:latin typeface="Times New Roman" panose="02020603050405020304" pitchFamily="18" charset="0"/>
                <a:ea typeface="Times New Roman" panose="02020603050405020304" pitchFamily="18" charset="0"/>
              </a:rPr>
              <a:t> MA, Zainal A (2016) Fraud detection system: A survey. J </a:t>
            </a:r>
            <a:r>
              <a:rPr lang="en-US" sz="2000" dirty="0" err="1">
                <a:latin typeface="Times New Roman" panose="02020603050405020304" pitchFamily="18" charset="0"/>
                <a:ea typeface="Times New Roman" panose="02020603050405020304" pitchFamily="18" charset="0"/>
              </a:rPr>
              <a:t>Netw</a:t>
            </a:r>
            <a:r>
              <a:rPr lang="en-US" sz="2000" dirty="0">
                <a:latin typeface="Times New Roman" panose="02020603050405020304" pitchFamily="18" charset="0"/>
                <a:ea typeface="Times New Roman" panose="02020603050405020304" pitchFamily="18" charset="0"/>
              </a:rPr>
              <a:t> </a:t>
            </a:r>
            <a:r>
              <a:rPr lang="en-US" sz="2000" dirty="0" err="1">
                <a:latin typeface="Times New Roman" panose="02020603050405020304" pitchFamily="18" charset="0"/>
                <a:ea typeface="Times New Roman" panose="02020603050405020304" pitchFamily="18" charset="0"/>
              </a:rPr>
              <a:t>Comput</a:t>
            </a:r>
            <a:r>
              <a:rPr lang="en-US" sz="2000" dirty="0">
                <a:latin typeface="Times New Roman" panose="02020603050405020304" pitchFamily="18" charset="0"/>
                <a:ea typeface="Times New Roman" panose="02020603050405020304" pitchFamily="18" charset="0"/>
              </a:rPr>
              <a:t> </a:t>
            </a:r>
            <a:r>
              <a:rPr lang="en-US" sz="2000" dirty="0" err="1">
                <a:latin typeface="Times New Roman" panose="02020603050405020304" pitchFamily="18" charset="0"/>
                <a:ea typeface="Times New Roman" panose="02020603050405020304" pitchFamily="18" charset="0"/>
              </a:rPr>
              <a:t>Appl</a:t>
            </a:r>
            <a:r>
              <a:rPr lang="en-US" sz="2000" dirty="0">
                <a:latin typeface="Times New Roman" panose="02020603050405020304" pitchFamily="18" charset="0"/>
                <a:ea typeface="Times New Roman" panose="02020603050405020304" pitchFamily="18" charset="0"/>
              </a:rPr>
              <a:t> 68:90–113</a:t>
            </a:r>
          </a:p>
          <a:p>
            <a:pPr algn="just">
              <a:lnSpc>
                <a:spcPct val="150000"/>
              </a:lnSpc>
            </a:pPr>
            <a:r>
              <a:rPr lang="en-US" sz="2000" dirty="0">
                <a:latin typeface="Times New Roman" panose="02020603050405020304" pitchFamily="18" charset="0"/>
                <a:ea typeface="Times New Roman" panose="02020603050405020304" pitchFamily="18" charset="0"/>
              </a:rPr>
              <a:t> 4. ANDREWS PP, PETERSON MB (</a:t>
            </a:r>
            <a:r>
              <a:rPr lang="en-US" sz="2000" dirty="0" err="1">
                <a:latin typeface="Times New Roman" panose="02020603050405020304" pitchFamily="18" charset="0"/>
                <a:ea typeface="Times New Roman" panose="02020603050405020304" pitchFamily="18" charset="0"/>
              </a:rPr>
              <a:t>eds</a:t>
            </a:r>
            <a:r>
              <a:rPr lang="en-US" sz="2000" dirty="0">
                <a:latin typeface="Times New Roman" panose="02020603050405020304" pitchFamily="18" charset="0"/>
                <a:ea typeface="Times New Roman" panose="02020603050405020304" pitchFamily="18" charset="0"/>
              </a:rPr>
              <a:t>) (1990) Criminal Intelligence Analysis. Palmer Enterprises, Loomis, CA </a:t>
            </a:r>
          </a:p>
          <a:p>
            <a:pPr algn="just">
              <a:lnSpc>
                <a:spcPct val="150000"/>
              </a:lnSpc>
            </a:pPr>
            <a:r>
              <a:rPr lang="en-US" sz="2000" dirty="0">
                <a:latin typeface="Times New Roman" panose="02020603050405020304" pitchFamily="18" charset="0"/>
                <a:ea typeface="Times New Roman" panose="02020603050405020304" pitchFamily="18" charset="0"/>
              </a:rPr>
              <a:t>5. ARTÍS M, </a:t>
            </a:r>
            <a:r>
              <a:rPr lang="en-US" sz="2000" dirty="0" err="1">
                <a:latin typeface="Times New Roman" panose="02020603050405020304" pitchFamily="18" charset="0"/>
                <a:ea typeface="Times New Roman" panose="02020603050405020304" pitchFamily="18" charset="0"/>
              </a:rPr>
              <a:t>AyUSO</a:t>
            </a:r>
            <a:r>
              <a:rPr lang="en-US" sz="2000" dirty="0">
                <a:latin typeface="Times New Roman" panose="02020603050405020304" pitchFamily="18" charset="0"/>
                <a:ea typeface="Times New Roman" panose="02020603050405020304" pitchFamily="18" charset="0"/>
              </a:rPr>
              <a:t> M, GUILLÉN M (1999) Modeling different types of automobile insurance fraud behavior in the Spanish market. Insurance Math Econ </a:t>
            </a:r>
            <a:r>
              <a:rPr lang="en-US" sz="2000" dirty="0" smtClean="0">
                <a:latin typeface="Times New Roman" panose="02020603050405020304" pitchFamily="18" charset="0"/>
                <a:ea typeface="Times New Roman" panose="02020603050405020304" pitchFamily="18" charset="0"/>
              </a:rPr>
              <a:t>24:67–81</a:t>
            </a:r>
          </a:p>
          <a:p>
            <a:pPr algn="just">
              <a:lnSpc>
                <a:spcPct val="150000"/>
              </a:lnSpc>
            </a:pPr>
            <a:r>
              <a:rPr lang="en-US" dirty="0"/>
              <a:t>6. </a:t>
            </a:r>
            <a:r>
              <a:rPr lang="en-US" dirty="0">
                <a:latin typeface="Times New Roman" panose="02020603050405020304" pitchFamily="18" charset="0"/>
                <a:cs typeface="Times New Roman" panose="02020603050405020304" pitchFamily="18" charset="0"/>
              </a:rPr>
              <a:t>BARAO MI, TAWN JA (1999) Extremal analysis of short series with outliers: Sea-levels and athletics records. </a:t>
            </a:r>
            <a:r>
              <a:rPr lang="en-US" dirty="0" err="1">
                <a:latin typeface="Times New Roman" panose="02020603050405020304" pitchFamily="18" charset="0"/>
                <a:cs typeface="Times New Roman" panose="02020603050405020304" pitchFamily="18" charset="0"/>
              </a:rPr>
              <a:t>Appl</a:t>
            </a:r>
            <a:r>
              <a:rPr lang="en-US" dirty="0">
                <a:latin typeface="Times New Roman" panose="02020603050405020304" pitchFamily="18" charset="0"/>
                <a:cs typeface="Times New Roman" panose="02020603050405020304" pitchFamily="18" charset="0"/>
              </a:rPr>
              <a:t> Stat 48:469–487 Page 14/16 </a:t>
            </a:r>
            <a:endParaRPr lang="en-US" sz="200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15037960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B9B4582-A213-386C-BE7F-0AFC1B7AA13C}"/>
              </a:ext>
            </a:extLst>
          </p:cNvPr>
          <p:cNvSpPr txBox="1"/>
          <p:nvPr/>
        </p:nvSpPr>
        <p:spPr>
          <a:xfrm>
            <a:off x="401388" y="1257300"/>
            <a:ext cx="11638212" cy="4191981"/>
          </a:xfrm>
          <a:prstGeom prst="rect">
            <a:avLst/>
          </a:prstGeom>
          <a:noFill/>
        </p:spPr>
        <p:txBody>
          <a:bodyPr wrap="square">
            <a:spAutoFit/>
          </a:bodyPr>
          <a:lstStyle/>
          <a:p>
            <a:pPr algn="just">
              <a:lnSpc>
                <a:spcPct val="150000"/>
              </a:lnSpc>
            </a:pPr>
            <a:r>
              <a:rPr lang="en-US" sz="2000" dirty="0">
                <a:latin typeface="Times New Roman" panose="02020603050405020304" pitchFamily="18" charset="0"/>
                <a:ea typeface="Times New Roman" panose="02020603050405020304" pitchFamily="18" charset="0"/>
              </a:rPr>
              <a:t>7. BLUNT G, HAND DJ (2000) The UK credit card market. Technical report, Department of Mathematics, Imperial College, London </a:t>
            </a:r>
          </a:p>
          <a:p>
            <a:pPr algn="just">
              <a:lnSpc>
                <a:spcPct val="150000"/>
              </a:lnSpc>
            </a:pPr>
            <a:r>
              <a:rPr lang="en-US" sz="2000" dirty="0">
                <a:latin typeface="Times New Roman" panose="02020603050405020304" pitchFamily="18" charset="0"/>
                <a:ea typeface="Times New Roman" panose="02020603050405020304" pitchFamily="18" charset="0"/>
              </a:rPr>
              <a:t>8. BOLTON RJ, HAND DJ (2001) Unsupervised profiling methods for fraud detection. In Conference on Credit Scoring and Credit Control 7, Edinburgh, UK, 5–7 Sept</a:t>
            </a:r>
          </a:p>
          <a:p>
            <a:pPr algn="just">
              <a:lnSpc>
                <a:spcPct val="150000"/>
              </a:lnSpc>
            </a:pPr>
            <a:r>
              <a:rPr lang="en-US" sz="2000" dirty="0">
                <a:latin typeface="Times New Roman" panose="02020603050405020304" pitchFamily="18" charset="0"/>
                <a:ea typeface="Times New Roman" panose="02020603050405020304" pitchFamily="18" charset="0"/>
              </a:rPr>
              <a:t> 9. </a:t>
            </a:r>
            <a:r>
              <a:rPr lang="en-US" sz="2000" dirty="0" err="1">
                <a:latin typeface="Times New Roman" panose="02020603050405020304" pitchFamily="18" charset="0"/>
                <a:ea typeface="Times New Roman" panose="02020603050405020304" pitchFamily="18" charset="0"/>
              </a:rPr>
              <a:t>Phua</a:t>
            </a:r>
            <a:r>
              <a:rPr lang="en-US" sz="2000" dirty="0">
                <a:latin typeface="Times New Roman" panose="02020603050405020304" pitchFamily="18" charset="0"/>
                <a:ea typeface="Times New Roman" panose="02020603050405020304" pitchFamily="18" charset="0"/>
              </a:rPr>
              <a:t> C, Lee V, Smith K, </a:t>
            </a:r>
            <a:r>
              <a:rPr lang="en-US" sz="2000" dirty="0" err="1">
                <a:latin typeface="Times New Roman" panose="02020603050405020304" pitchFamily="18" charset="0"/>
                <a:ea typeface="Times New Roman" panose="02020603050405020304" pitchFamily="18" charset="0"/>
              </a:rPr>
              <a:t>Gayler</a:t>
            </a:r>
            <a:r>
              <a:rPr lang="en-US" sz="2000" dirty="0">
                <a:latin typeface="Times New Roman" panose="02020603050405020304" pitchFamily="18" charset="0"/>
                <a:ea typeface="Times New Roman" panose="02020603050405020304" pitchFamily="18" charset="0"/>
              </a:rPr>
              <a:t> R (2010) A comprehensive survey of data mining-based fraud detection research. https://doi.org/10.48550/ARXIV.1009.6119 </a:t>
            </a:r>
          </a:p>
          <a:p>
            <a:pPr algn="just">
              <a:lnSpc>
                <a:spcPct val="150000"/>
              </a:lnSpc>
            </a:pPr>
            <a:r>
              <a:rPr lang="en-US" sz="2000" dirty="0">
                <a:latin typeface="Times New Roman" panose="02020603050405020304" pitchFamily="18" charset="0"/>
                <a:ea typeface="Times New Roman" panose="02020603050405020304" pitchFamily="18" charset="0"/>
              </a:rPr>
              <a:t>10. Summers SL, Sweeney JT (1998) Fraudulently misstated financial statements and insider trading: An empirical analysis. 73(1):131–146https://www.jstor.org/stable/248345 </a:t>
            </a:r>
          </a:p>
          <a:p>
            <a:pPr algn="just">
              <a:lnSpc>
                <a:spcPct val="150000"/>
              </a:lnSpc>
            </a:pPr>
            <a:endParaRPr lang="en-US" sz="200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506988543"/>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TM03457496[[fn=Parallax]]</Template>
  <TotalTime>3389</TotalTime>
  <Words>2887</Words>
  <Application>Microsoft Office PowerPoint</Application>
  <PresentationFormat>Widescreen</PresentationFormat>
  <Paragraphs>175</Paragraphs>
  <Slides>27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27</vt:i4>
      </vt:variant>
    </vt:vector>
  </HeadingPairs>
  <TitlesOfParts>
    <vt:vector size="36" baseType="lpstr">
      <vt:lpstr>Arial</vt:lpstr>
      <vt:lpstr>Calibri</vt:lpstr>
      <vt:lpstr>Corbel</vt:lpstr>
      <vt:lpstr>Poppins</vt:lpstr>
      <vt:lpstr>Poppins Black</vt:lpstr>
      <vt:lpstr>Times New Roman</vt:lpstr>
      <vt:lpstr>Wingdings</vt:lpstr>
      <vt:lpstr>Wingdings 3</vt:lpstr>
      <vt:lpstr>Parallax</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INTRODUCTION</vt:lpstr>
      <vt:lpstr>PowerPoint Presentation</vt:lpstr>
      <vt:lpstr>PowerPoint Presentation</vt:lpstr>
      <vt:lpstr>PowerPoint Presentation</vt:lpstr>
      <vt:lpstr>PowerPoint Presentation</vt:lpstr>
      <vt:lpstr>PowerPoint Presentation</vt:lpstr>
      <vt:lpstr>PowerPoint Presentation</vt:lpstr>
      <vt:lpstr>BLOCK DIAGRAM</vt:lpstr>
      <vt:lpstr>PowerPoint Presentation</vt:lpstr>
      <vt:lpstr>PowerPoint Presentation</vt:lpstr>
      <vt:lpstr>PowerPoint Presentation</vt:lpstr>
      <vt:lpstr>ARCHITECTURE</vt:lpstr>
      <vt:lpstr>PowerPoint Presentation</vt:lpstr>
      <vt:lpstr>PowerPoint Presentation</vt:lpstr>
      <vt:lpstr>PowerPoint Presentation</vt:lpstr>
      <vt:lpstr>PowerPoint Presentation</vt:lpstr>
      <vt:lpstr>PowerPoint Presentation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PREETHI DESAI</dc:creator>
  <cp:lastModifiedBy>Kola Raveendra</cp:lastModifiedBy>
  <cp:revision>325</cp:revision>
  <dcterms:created xsi:type="dcterms:W3CDTF">2022-11-19T11:35:00Z</dcterms:created>
  <dcterms:modified xsi:type="dcterms:W3CDTF">2024-10-14T06:51:56Z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A1EC5F6991B543508BE3500887CC9BF4</vt:lpwstr>
  </property>
  <property fmtid="{D5CDD505-2E9C-101B-9397-08002B2CF9AE}" pid="3" name="KSOProductBuildVer">
    <vt:lpwstr>1033-11.2.0.11417</vt:lpwstr>
  </property>
</Properties>
</file>